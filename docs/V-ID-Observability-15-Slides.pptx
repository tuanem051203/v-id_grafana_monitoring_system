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6BD1FC-851D-4C9E-9F6C-6B409DAE726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A8F7B5-89CF-4A56-8B6E-3DB6E9CAE74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6DDF5987-D750-4D19-97B9-8BCB9C520A8D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10233f"/>
          </a:solidFill>
          <a:ln w="9000">
            <a:solidFill>
              <a:srgbClr val="10233f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00a6a6"/>
          </a:solidFill>
          <a:ln w="9000">
            <a:solidFill>
              <a:srgbClr val="00a6a6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756000" y="846000"/>
            <a:ext cx="10080000" cy="29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400" spc="-1" strike="noStrike">
                <a:solidFill>
                  <a:srgbClr val="00a6a6"/>
                </a:solidFill>
                <a:latin typeface="DejaVu Sans"/>
              </a:rPr>
              <a:t>V-ID OBSERVABILITY PLATFORM</a:t>
            </a:r>
            <a:endParaRPr b="1" lang="en-US" sz="1400" spc="-1" strike="noStrike">
              <a:solidFill>
                <a:srgbClr val="00a6a6"/>
              </a:solidFill>
              <a:latin typeface="DejaVu Sans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756000" y="1278000"/>
            <a:ext cx="10260000" cy="115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3000" spc="-1" strike="noStrike">
                <a:solidFill>
                  <a:srgbClr val="ffffff"/>
                </a:solidFill>
                <a:latin typeface="DejaVu Sans"/>
              </a:rPr>
              <a:t>Từ “hệ thống đang lỗi”</a:t>
            </a:r>
            <a:endParaRPr b="1" lang="en-US" sz="3000" spc="-1" strike="noStrike">
              <a:solidFill>
                <a:srgbClr val="ffffff"/>
              </a:solidFill>
              <a:latin typeface="DejaVu Sans"/>
            </a:endParaRPr>
          </a:p>
          <a:p>
            <a:r>
              <a:rPr b="1" lang="en-US" sz="3000" spc="-1" strike="noStrike">
                <a:solidFill>
                  <a:srgbClr val="ffffff"/>
                </a:solidFill>
                <a:latin typeface="DejaVu Sans"/>
              </a:rPr>
              <a:t>đến “lỗi ở đúng service nào”</a:t>
            </a:r>
            <a:endParaRPr b="1" lang="en-US" sz="30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756000" y="2700000"/>
            <a:ext cx="9720000" cy="43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700" spc="-1" strike="noStrike">
                <a:solidFill>
                  <a:srgbClr val="d5e5f8"/>
                </a:solidFill>
                <a:latin typeface="DejaVu Sans"/>
              </a:rPr>
              <a:t>Authentication · OTP · Token · Authorization · Reliability</a:t>
            </a:r>
            <a:endParaRPr b="0" lang="en-US" sz="1700" spc="-1" strike="noStrike">
              <a:solidFill>
                <a:srgbClr val="d5e5f8"/>
              </a:solidFill>
              <a:latin typeface="DejaVu Sans"/>
            </a:endParaRPr>
          </a:p>
        </p:txBody>
      </p:sp>
      <p:sp>
        <p:nvSpPr>
          <p:cNvPr id="14" name=""/>
          <p:cNvSpPr/>
          <p:nvPr/>
        </p:nvSpPr>
        <p:spPr>
          <a:xfrm>
            <a:off x="756000" y="3528000"/>
            <a:ext cx="1980000" cy="306000"/>
          </a:xfrm>
          <a:prstGeom prst="roundRect">
            <a:avLst/>
          </a:prstGeom>
          <a:solidFill>
            <a:srgbClr val="1976d2"/>
          </a:solidFill>
          <a:ln w="9000">
            <a:solidFill>
              <a:srgbClr val="1976d2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820800" y="3556800"/>
            <a:ext cx="1850400" cy="447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200" spc="-1" strike="noStrike">
                <a:solidFill>
                  <a:srgbClr val="ffffff"/>
                </a:solidFill>
                <a:latin typeface="DejaVu Sans"/>
              </a:rPr>
              <a:t>Prometheus + Grafana</a:t>
            </a:r>
            <a:endParaRPr b="1" lang="en-US" sz="12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16" name=""/>
          <p:cNvSpPr/>
          <p:nvPr/>
        </p:nvSpPr>
        <p:spPr>
          <a:xfrm>
            <a:off x="2880000" y="3528000"/>
            <a:ext cx="2052000" cy="306000"/>
          </a:xfrm>
          <a:prstGeom prst="roundRect">
            <a:avLst/>
          </a:prstGeom>
          <a:solidFill>
            <a:srgbClr val="00a6a6"/>
          </a:solidFill>
          <a:ln w="9000">
            <a:solidFill>
              <a:srgbClr val="00a6a6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2944800" y="3556800"/>
            <a:ext cx="1922400" cy="447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200" spc="-1" strike="noStrike">
                <a:solidFill>
                  <a:srgbClr val="ffffff"/>
                </a:solidFill>
                <a:latin typeface="DejaVu Sans"/>
              </a:rPr>
              <a:t>OpenTelemetry + Tempo</a:t>
            </a:r>
            <a:endParaRPr b="1" lang="en-US" sz="12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18" name=""/>
          <p:cNvSpPr/>
          <p:nvPr/>
        </p:nvSpPr>
        <p:spPr>
          <a:xfrm>
            <a:off x="5058000" y="3528000"/>
            <a:ext cx="1872000" cy="306000"/>
          </a:xfrm>
          <a:prstGeom prst="roundRect">
            <a:avLst/>
          </a:prstGeom>
          <a:solidFill>
            <a:srgbClr val="ef6c00"/>
          </a:solidFill>
          <a:ln w="9000">
            <a:solidFill>
              <a:srgbClr val="ef6c00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5122800" y="3556800"/>
            <a:ext cx="1742400" cy="447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200" spc="-1" strike="noStrike">
                <a:solidFill>
                  <a:srgbClr val="ffffff"/>
                </a:solidFill>
                <a:latin typeface="DejaVu Sans"/>
              </a:rPr>
              <a:t>Alerts + Runbooks</a:t>
            </a:r>
            <a:endParaRPr b="1" lang="en-US" sz="12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756000" y="5436000"/>
            <a:ext cx="10080000" cy="32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500" spc="-1" strike="noStrike">
                <a:solidFill>
                  <a:srgbClr val="afc4de"/>
                </a:solidFill>
                <a:latin typeface="DejaVu Sans"/>
              </a:rPr>
              <a:t>Synthetic lab → UAT observability contract</a:t>
            </a:r>
            <a:endParaRPr b="0" lang="en-US" sz="1500" spc="-1" strike="noStrike">
              <a:solidFill>
                <a:srgbClr val="afc4de"/>
              </a:solidFill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fffff"/>
          </a:solidFill>
          <a:ln w="9000">
            <a:solidFill>
              <a:srgbClr val="ffffff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0" y="0"/>
            <a:ext cx="187200" cy="6858000"/>
          </a:xfrm>
          <a:prstGeom prst="rect">
            <a:avLst/>
          </a:prstGeom>
          <a:solidFill>
            <a:srgbClr val="1976d2"/>
          </a:solidFill>
          <a:ln w="9000">
            <a:solidFill>
              <a:srgbClr val="1976d2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450000" y="252000"/>
            <a:ext cx="104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100" spc="-1" strike="noStrike">
                <a:solidFill>
                  <a:srgbClr val="1976d2"/>
                </a:solidFill>
                <a:latin typeface="DejaVu Sans"/>
              </a:rPr>
              <a:t>V-ID OBSERVABILITY</a:t>
            </a:r>
            <a:endParaRPr b="1" lang="en-US" sz="1100" spc="-1" strike="noStrike">
              <a:solidFill>
                <a:srgbClr val="1976d2"/>
              </a:solidFill>
              <a:latin typeface="DejaVu Sans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450000" y="450000"/>
            <a:ext cx="1098000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2600" spc="-1" strike="noStrike">
                <a:solidFill>
                  <a:srgbClr val="10233f"/>
                </a:solidFill>
                <a:latin typeface="DejaVu Sans"/>
              </a:rPr>
              <a:t>Bài toán cần giải quyết</a:t>
            </a:r>
            <a:endParaRPr b="1" lang="en-US" sz="2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25" name=""/>
          <p:cNvSpPr/>
          <p:nvPr/>
        </p:nvSpPr>
        <p:spPr>
          <a:xfrm>
            <a:off x="450000" y="1026000"/>
            <a:ext cx="10782000" cy="360"/>
          </a:xfrm>
          <a:prstGeom prst="line">
            <a:avLst/>
          </a:prstGeom>
          <a:ln w="10800">
            <a:solidFill>
              <a:srgbClr val="d7de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rIns="95400" tIns="-50040" bIns="-500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10980000" y="6516000"/>
            <a:ext cx="5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0" lang="en-US" sz="1000" spc="-1" strike="noStrike">
                <a:solidFill>
                  <a:srgbClr val="5d687a"/>
                </a:solidFill>
                <a:latin typeface="DejaVu Sans"/>
              </a:rPr>
              <a:t>02</a:t>
            </a:r>
            <a:endParaRPr b="0" lang="en-US" sz="10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27" name=""/>
          <p:cNvSpPr/>
          <p:nvPr/>
        </p:nvSpPr>
        <p:spPr>
          <a:xfrm>
            <a:off x="540000" y="1296000"/>
            <a:ext cx="3348000" cy="1548000"/>
          </a:xfrm>
          <a:prstGeom prst="roundRect">
            <a:avLst/>
          </a:prstGeom>
          <a:solidFill>
            <a:srgbClr val="eaf3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540000" y="1296000"/>
            <a:ext cx="50400" cy="1548000"/>
          </a:xfrm>
          <a:prstGeom prst="rect">
            <a:avLst/>
          </a:prstGeom>
          <a:solidFill>
            <a:srgbClr val="1976d2"/>
          </a:solidFill>
          <a:ln w="9000">
            <a:solidFill>
              <a:srgbClr val="1976d2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702000" y="1404000"/>
            <a:ext cx="3078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600" spc="-1" strike="noStrike">
                <a:solidFill>
                  <a:srgbClr val="10233f"/>
                </a:solidFill>
                <a:latin typeface="DejaVu Sans"/>
              </a:rPr>
              <a:t>Câu hỏi vận hành</a:t>
            </a:r>
            <a:endParaRPr b="1" lang="en-US" sz="1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702000" y="1674000"/>
            <a:ext cx="3078000" cy="983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Người dùng có login, nhận OTP và lấy token thành công không?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  <a:p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Latency và lỗi đang ảnh hưởng nhóm traffic nào?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31" name=""/>
          <p:cNvSpPr/>
          <p:nvPr/>
        </p:nvSpPr>
        <p:spPr>
          <a:xfrm>
            <a:off x="4392000" y="1296000"/>
            <a:ext cx="3348000" cy="1548000"/>
          </a:xfrm>
          <a:prstGeom prst="roundRect">
            <a:avLst/>
          </a:prstGeom>
          <a:solidFill>
            <a:srgbClr val="fff3e7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4392000" y="1296000"/>
            <a:ext cx="50400" cy="1548000"/>
          </a:xfrm>
          <a:prstGeom prst="rect">
            <a:avLst/>
          </a:prstGeom>
          <a:solidFill>
            <a:srgbClr val="ef6c00"/>
          </a:solidFill>
          <a:ln w="9000">
            <a:solidFill>
              <a:srgbClr val="ef6c00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4554000" y="1404000"/>
            <a:ext cx="3078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600" spc="-1" strike="noStrike">
                <a:solidFill>
                  <a:srgbClr val="10233f"/>
                </a:solidFill>
                <a:latin typeface="DejaVu Sans"/>
              </a:rPr>
              <a:t>Khoảng trống</a:t>
            </a:r>
            <a:endParaRPr b="1" lang="en-US" sz="1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4554000" y="1674000"/>
            <a:ext cx="3078000" cy="626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Chưa có dữ liệu production để thiết kế, diễn tập và kiểm thử dashboard/rules một cách an toàn.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35" name=""/>
          <p:cNvSpPr/>
          <p:nvPr/>
        </p:nvSpPr>
        <p:spPr>
          <a:xfrm>
            <a:off x="8244000" y="1296000"/>
            <a:ext cx="3060000" cy="1548000"/>
          </a:xfrm>
          <a:prstGeom prst="roundRect">
            <a:avLst/>
          </a:prstGeom>
          <a:solidFill>
            <a:srgbClr val="eaf7e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8244000" y="1296000"/>
            <a:ext cx="50400" cy="1548000"/>
          </a:xfrm>
          <a:prstGeom prst="rect">
            <a:avLst/>
          </a:prstGeom>
          <a:solidFill>
            <a:srgbClr val="2e7d32"/>
          </a:solidFill>
          <a:ln w="9000">
            <a:solidFill>
              <a:srgbClr val="2e7d32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8406000" y="1404000"/>
            <a:ext cx="279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600" spc="-1" strike="noStrike">
                <a:solidFill>
                  <a:srgbClr val="10233f"/>
                </a:solidFill>
                <a:latin typeface="DejaVu Sans"/>
              </a:rPr>
              <a:t>Cách tiếp cận</a:t>
            </a:r>
            <a:endParaRPr b="1" lang="en-US" sz="1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8406000" y="1674000"/>
            <a:ext cx="2790000" cy="804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Tạo synthetic observability lab gần production, sau đó dùng contract đã kiểm thử làm đầu vào UAT.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1116000" y="3528000"/>
            <a:ext cx="9900000" cy="739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2200" spc="-1" strike="noStrike">
                <a:solidFill>
                  <a:srgbClr val="10233f"/>
                </a:solidFill>
                <a:latin typeface="DejaVu Sans"/>
              </a:rPr>
              <a:t>Mục tiêu cuối: phát hiện nhanh → xác định đúng boundary → chuyển đúng owner</a:t>
            </a:r>
            <a:endParaRPr b="1" lang="en-US" sz="2200" spc="-1" strike="noStrike">
              <a:solidFill>
                <a:srgbClr val="10233f"/>
              </a:solidFill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fffff"/>
          </a:solidFill>
          <a:ln w="9000">
            <a:solidFill>
              <a:srgbClr val="ffffff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0" y="0"/>
            <a:ext cx="187200" cy="6858000"/>
          </a:xfrm>
          <a:prstGeom prst="rect">
            <a:avLst/>
          </a:prstGeom>
          <a:solidFill>
            <a:srgbClr val="1976d2"/>
          </a:solidFill>
          <a:ln w="9000">
            <a:solidFill>
              <a:srgbClr val="1976d2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450000" y="252000"/>
            <a:ext cx="104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100" spc="-1" strike="noStrike">
                <a:solidFill>
                  <a:srgbClr val="1976d2"/>
                </a:solidFill>
                <a:latin typeface="DejaVu Sans"/>
              </a:rPr>
              <a:t>V-ID OBSERVABILITY</a:t>
            </a:r>
            <a:endParaRPr b="1" lang="en-US" sz="1100" spc="-1" strike="noStrike">
              <a:solidFill>
                <a:srgbClr val="1976d2"/>
              </a:solidFill>
              <a:latin typeface="DejaVu Sans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450000" y="450000"/>
            <a:ext cx="1098000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2600" spc="-1" strike="noStrike">
                <a:solidFill>
                  <a:srgbClr val="10233f"/>
                </a:solidFill>
                <a:latin typeface="DejaVu Sans"/>
              </a:rPr>
              <a:t>Phạm vi kiến trúc V-ID</a:t>
            </a:r>
            <a:endParaRPr b="1" lang="en-US" sz="2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44" name=""/>
          <p:cNvSpPr/>
          <p:nvPr/>
        </p:nvSpPr>
        <p:spPr>
          <a:xfrm>
            <a:off x="450000" y="1026000"/>
            <a:ext cx="10782000" cy="360"/>
          </a:xfrm>
          <a:prstGeom prst="line">
            <a:avLst/>
          </a:prstGeom>
          <a:ln w="10800">
            <a:solidFill>
              <a:srgbClr val="d7de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rIns="95400" tIns="-50040" bIns="-500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10980000" y="6516000"/>
            <a:ext cx="5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0" lang="en-US" sz="1000" spc="-1" strike="noStrike">
                <a:solidFill>
                  <a:srgbClr val="5d687a"/>
                </a:solidFill>
                <a:latin typeface="DejaVu Sans"/>
              </a:rPr>
              <a:t>03</a:t>
            </a:r>
            <a:endParaRPr b="0" lang="en-US" sz="10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46" name=""/>
          <p:cNvSpPr/>
          <p:nvPr/>
        </p:nvSpPr>
        <p:spPr>
          <a:xfrm>
            <a:off x="540000" y="1512000"/>
            <a:ext cx="2030400" cy="486000"/>
          </a:xfrm>
          <a:prstGeom prst="roundRect">
            <a:avLst/>
          </a:prstGeom>
          <a:solidFill>
            <a:srgbClr val="eaf3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576000" y="1576800"/>
            <a:ext cx="19584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100" spc="-1" strike="noStrike">
                <a:solidFill>
                  <a:srgbClr val="10233f"/>
                </a:solidFill>
                <a:latin typeface="DejaVu Sans"/>
              </a:rPr>
              <a:t>Client</a:t>
            </a:r>
            <a:endParaRPr b="1" lang="en-US" sz="11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48" name=""/>
          <p:cNvSpPr/>
          <p:nvPr/>
        </p:nvSpPr>
        <p:spPr>
          <a:xfrm>
            <a:off x="2570400" y="1755000"/>
            <a:ext cx="140400" cy="360"/>
          </a:xfrm>
          <a:prstGeom prst="line">
            <a:avLst/>
          </a:prstGeom>
          <a:ln w="19800">
            <a:solidFill>
              <a:srgbClr val="1976d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720" rIns="99720" tIns="-54360" bIns="-543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2732400" y="1512000"/>
            <a:ext cx="2030400" cy="486000"/>
          </a:xfrm>
          <a:prstGeom prst="roundRect">
            <a:avLst/>
          </a:prstGeom>
          <a:solidFill>
            <a:srgbClr val="eaf3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2768400" y="1576800"/>
            <a:ext cx="19584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100" spc="-1" strike="noStrike">
                <a:solidFill>
                  <a:srgbClr val="10233f"/>
                </a:solidFill>
                <a:latin typeface="DejaVu Sans"/>
              </a:rPr>
              <a:t>Kong</a:t>
            </a:r>
            <a:endParaRPr b="1" lang="en-US" sz="11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51" name=""/>
          <p:cNvSpPr/>
          <p:nvPr/>
        </p:nvSpPr>
        <p:spPr>
          <a:xfrm>
            <a:off x="4762800" y="1755000"/>
            <a:ext cx="140400" cy="360"/>
          </a:xfrm>
          <a:prstGeom prst="line">
            <a:avLst/>
          </a:prstGeom>
          <a:ln w="19800">
            <a:solidFill>
              <a:srgbClr val="1976d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720" rIns="99720" tIns="-54360" bIns="-543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4924800" y="1512000"/>
            <a:ext cx="2030400" cy="486000"/>
          </a:xfrm>
          <a:prstGeom prst="roundRect">
            <a:avLst/>
          </a:prstGeom>
          <a:solidFill>
            <a:srgbClr val="eaf3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4960800" y="1576800"/>
            <a:ext cx="19584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100" spc="-1" strike="noStrike">
                <a:solidFill>
                  <a:srgbClr val="10233f"/>
                </a:solidFill>
                <a:latin typeface="DejaVu Sans"/>
              </a:rPr>
              <a:t>identity-provider</a:t>
            </a:r>
            <a:endParaRPr b="1" lang="en-US" sz="11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54" name=""/>
          <p:cNvSpPr/>
          <p:nvPr/>
        </p:nvSpPr>
        <p:spPr>
          <a:xfrm>
            <a:off x="6955200" y="1755000"/>
            <a:ext cx="140400" cy="360"/>
          </a:xfrm>
          <a:prstGeom prst="line">
            <a:avLst/>
          </a:prstGeom>
          <a:ln w="19800">
            <a:solidFill>
              <a:srgbClr val="1976d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720" rIns="99720" tIns="-54360" bIns="-543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7117200" y="1512000"/>
            <a:ext cx="2030400" cy="486000"/>
          </a:xfrm>
          <a:prstGeom prst="roundRect">
            <a:avLst/>
          </a:prstGeom>
          <a:solidFill>
            <a:srgbClr val="eaf3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7153200" y="1576800"/>
            <a:ext cx="19584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100" spc="-1" strike="noStrike">
                <a:solidFill>
                  <a:srgbClr val="10233f"/>
                </a:solidFill>
                <a:latin typeface="DejaVu Sans"/>
              </a:rPr>
              <a:t>Redis / DB</a:t>
            </a:r>
            <a:endParaRPr b="1" lang="en-US" sz="11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57" name=""/>
          <p:cNvSpPr/>
          <p:nvPr/>
        </p:nvSpPr>
        <p:spPr>
          <a:xfrm>
            <a:off x="9147600" y="1755000"/>
            <a:ext cx="140400" cy="360"/>
          </a:xfrm>
          <a:prstGeom prst="line">
            <a:avLst/>
          </a:prstGeom>
          <a:ln w="19800">
            <a:solidFill>
              <a:srgbClr val="1976d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720" rIns="99720" tIns="-54360" bIns="-543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9309600" y="1512000"/>
            <a:ext cx="2030400" cy="486000"/>
          </a:xfrm>
          <a:prstGeom prst="roundRect">
            <a:avLst/>
          </a:prstGeom>
          <a:solidFill>
            <a:srgbClr val="eaf3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9345600" y="1576800"/>
            <a:ext cx="19584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100" spc="-1" strike="noStrike">
                <a:solidFill>
                  <a:srgbClr val="10233f"/>
                </a:solidFill>
                <a:latin typeface="DejaVu Sans"/>
              </a:rPr>
              <a:t>Notification / GSM</a:t>
            </a:r>
            <a:endParaRPr b="1" lang="en-US" sz="11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60" name=""/>
          <p:cNvSpPr/>
          <p:nvPr/>
        </p:nvSpPr>
        <p:spPr>
          <a:xfrm>
            <a:off x="648000" y="2592000"/>
            <a:ext cx="3240000" cy="1440000"/>
          </a:xfrm>
          <a:prstGeom prst="roundRect">
            <a:avLst/>
          </a:prstGeom>
          <a:solidFill>
            <a:srgbClr val="eaf3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648000" y="2592000"/>
            <a:ext cx="50400" cy="1440000"/>
          </a:xfrm>
          <a:prstGeom prst="rect">
            <a:avLst/>
          </a:prstGeom>
          <a:solidFill>
            <a:srgbClr val="1976d2"/>
          </a:solidFill>
          <a:ln w="9000">
            <a:solidFill>
              <a:srgbClr val="1976d2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810000" y="2700000"/>
            <a:ext cx="297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600" spc="-1" strike="noStrike">
                <a:solidFill>
                  <a:srgbClr val="10233f"/>
                </a:solidFill>
                <a:latin typeface="DejaVu Sans"/>
              </a:rPr>
              <a:t>OAuth2/OIDC</a:t>
            </a:r>
            <a:endParaRPr b="1" lang="en-US" sz="1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810000" y="2970000"/>
            <a:ext cx="2970000" cy="447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Hydra là issuer của web flow; target architecture là Hydra-as-issuer.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64" name=""/>
          <p:cNvSpPr/>
          <p:nvPr/>
        </p:nvSpPr>
        <p:spPr>
          <a:xfrm>
            <a:off x="4464000" y="2592000"/>
            <a:ext cx="3240000" cy="1440000"/>
          </a:xfrm>
          <a:prstGeom prst="roundRect">
            <a:avLst/>
          </a:prstGeom>
          <a:solidFill>
            <a:srgbClr val="eaf7e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4464000" y="2592000"/>
            <a:ext cx="50400" cy="1440000"/>
          </a:xfrm>
          <a:prstGeom prst="rect">
            <a:avLst/>
          </a:prstGeom>
          <a:solidFill>
            <a:srgbClr val="2e7d32"/>
          </a:solidFill>
          <a:ln w="9000">
            <a:solidFill>
              <a:srgbClr val="2e7d32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4626000" y="2700000"/>
            <a:ext cx="297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600" spc="-1" strike="noStrike">
                <a:solidFill>
                  <a:srgbClr val="10233f"/>
                </a:solidFill>
                <a:latin typeface="DejaVu Sans"/>
              </a:rPr>
              <a:t>Authorization</a:t>
            </a:r>
            <a:endParaRPr b="1" lang="en-US" sz="1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4626000" y="2970000"/>
            <a:ext cx="2970000" cy="447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authz thực hiện RBAC; organization là source of truth cho organization.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68" name=""/>
          <p:cNvSpPr/>
          <p:nvPr/>
        </p:nvSpPr>
        <p:spPr>
          <a:xfrm>
            <a:off x="8280000" y="2592000"/>
            <a:ext cx="3060000" cy="1440000"/>
          </a:xfrm>
          <a:prstGeom prst="roundRect">
            <a:avLst/>
          </a:prstGeom>
          <a:solidFill>
            <a:srgbClr val="fff3e7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8280000" y="2592000"/>
            <a:ext cx="50400" cy="1440000"/>
          </a:xfrm>
          <a:prstGeom prst="rect">
            <a:avLst/>
          </a:prstGeom>
          <a:solidFill>
            <a:srgbClr val="ef6c00"/>
          </a:solidFill>
          <a:ln w="9000">
            <a:solidFill>
              <a:srgbClr val="ef6c00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8442000" y="2700000"/>
            <a:ext cx="279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600" spc="-1" strike="noStrike">
                <a:solidFill>
                  <a:srgbClr val="10233f"/>
                </a:solidFill>
                <a:latin typeface="DejaVu Sans"/>
              </a:rPr>
              <a:t>OTP delivery</a:t>
            </a:r>
            <a:endParaRPr b="1" lang="en-US" sz="1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8442000" y="2970000"/>
            <a:ext cx="2790000" cy="626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Notification Center/GSM là external boundary; provider accepted ≠ delivered.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fffff"/>
          </a:solidFill>
          <a:ln w="9000">
            <a:solidFill>
              <a:srgbClr val="ffffff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0" y="0"/>
            <a:ext cx="187200" cy="6858000"/>
          </a:xfrm>
          <a:prstGeom prst="rect">
            <a:avLst/>
          </a:prstGeom>
          <a:solidFill>
            <a:srgbClr val="1976d2"/>
          </a:solidFill>
          <a:ln w="9000">
            <a:solidFill>
              <a:srgbClr val="1976d2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450000" y="252000"/>
            <a:ext cx="104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100" spc="-1" strike="noStrike">
                <a:solidFill>
                  <a:srgbClr val="1976d2"/>
                </a:solidFill>
                <a:latin typeface="DejaVu Sans"/>
              </a:rPr>
              <a:t>V-ID OBSERVABILITY</a:t>
            </a:r>
            <a:endParaRPr b="1" lang="en-US" sz="1100" spc="-1" strike="noStrike">
              <a:solidFill>
                <a:srgbClr val="1976d2"/>
              </a:solidFill>
              <a:latin typeface="DejaVu Sans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450000" y="450000"/>
            <a:ext cx="1098000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2600" spc="-1" strike="noStrike">
                <a:solidFill>
                  <a:srgbClr val="10233f"/>
                </a:solidFill>
                <a:latin typeface="DejaVu Sans"/>
              </a:rPr>
              <a:t>Kiến trúc observability đã xây dựng</a:t>
            </a:r>
            <a:endParaRPr b="1" lang="en-US" sz="2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76" name=""/>
          <p:cNvSpPr/>
          <p:nvPr/>
        </p:nvSpPr>
        <p:spPr>
          <a:xfrm>
            <a:off x="450000" y="1026000"/>
            <a:ext cx="10782000" cy="360"/>
          </a:xfrm>
          <a:prstGeom prst="line">
            <a:avLst/>
          </a:prstGeom>
          <a:ln w="10800">
            <a:solidFill>
              <a:srgbClr val="d7de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rIns="95400" tIns="-50040" bIns="-500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10980000" y="6516000"/>
            <a:ext cx="5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0" lang="en-US" sz="1000" spc="-1" strike="noStrike">
                <a:solidFill>
                  <a:srgbClr val="5d687a"/>
                </a:solidFill>
                <a:latin typeface="DejaVu Sans"/>
              </a:rPr>
              <a:t>04</a:t>
            </a:r>
            <a:endParaRPr b="0" lang="en-US" sz="10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78" name=""/>
          <p:cNvSpPr/>
          <p:nvPr/>
        </p:nvSpPr>
        <p:spPr>
          <a:xfrm>
            <a:off x="504000" y="1800000"/>
            <a:ext cx="2196000" cy="1044000"/>
          </a:xfrm>
          <a:prstGeom prst="roundRect">
            <a:avLst/>
          </a:prstGeom>
          <a:solidFill>
            <a:srgbClr val="eaf3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504000" y="1800000"/>
            <a:ext cx="50400" cy="1044000"/>
          </a:xfrm>
          <a:prstGeom prst="rect">
            <a:avLst/>
          </a:prstGeom>
          <a:solidFill>
            <a:srgbClr val="1976d2"/>
          </a:solidFill>
          <a:ln w="9000">
            <a:solidFill>
              <a:srgbClr val="1976d2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666000" y="1908000"/>
            <a:ext cx="1926000" cy="559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600" spc="-1" strike="noStrike">
                <a:solidFill>
                  <a:srgbClr val="10233f"/>
                </a:solidFill>
                <a:latin typeface="DejaVu Sans"/>
              </a:rPr>
              <a:t>Metrics Simulator</a:t>
            </a:r>
            <a:endParaRPr b="1" lang="en-US" sz="1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666000" y="2178000"/>
            <a:ext cx="1926000" cy="447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Synthetic traffic + incidents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82" name=""/>
          <p:cNvSpPr/>
          <p:nvPr/>
        </p:nvSpPr>
        <p:spPr>
          <a:xfrm>
            <a:off x="2700000" y="2322000"/>
            <a:ext cx="828000" cy="360"/>
          </a:xfrm>
          <a:prstGeom prst="line">
            <a:avLst/>
          </a:prstGeom>
          <a:ln w="19800">
            <a:solidFill>
              <a:srgbClr val="1976d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720" rIns="99720" tIns="-54360" bIns="-543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3528000" y="1368000"/>
            <a:ext cx="2340000" cy="864000"/>
          </a:xfrm>
          <a:prstGeom prst="roundRect">
            <a:avLst/>
          </a:prstGeom>
          <a:solidFill>
            <a:srgbClr val="eaf7e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3528000" y="1368000"/>
            <a:ext cx="50400" cy="864000"/>
          </a:xfrm>
          <a:prstGeom prst="rect">
            <a:avLst/>
          </a:prstGeom>
          <a:solidFill>
            <a:srgbClr val="2e7d32"/>
          </a:solidFill>
          <a:ln w="9000">
            <a:solidFill>
              <a:srgbClr val="2e7d32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3690000" y="1476000"/>
            <a:ext cx="207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600" spc="-1" strike="noStrike">
                <a:solidFill>
                  <a:srgbClr val="10233f"/>
                </a:solidFill>
                <a:latin typeface="DejaVu Sans"/>
              </a:rPr>
              <a:t>Prometheus</a:t>
            </a:r>
            <a:endParaRPr b="1" lang="en-US" sz="1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3690000" y="1746000"/>
            <a:ext cx="207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Metrics + rules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87" name=""/>
          <p:cNvSpPr/>
          <p:nvPr/>
        </p:nvSpPr>
        <p:spPr>
          <a:xfrm>
            <a:off x="3528000" y="2736000"/>
            <a:ext cx="2340000" cy="864000"/>
          </a:xfrm>
          <a:prstGeom prst="roundRect">
            <a:avLst/>
          </a:prstGeom>
          <a:solidFill>
            <a:srgbClr val="eaf3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3528000" y="2736000"/>
            <a:ext cx="50400" cy="864000"/>
          </a:xfrm>
          <a:prstGeom prst="rect">
            <a:avLst/>
          </a:prstGeom>
          <a:solidFill>
            <a:srgbClr val="00a6a6"/>
          </a:solidFill>
          <a:ln w="9000">
            <a:solidFill>
              <a:srgbClr val="00a6a6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3690000" y="2844000"/>
            <a:ext cx="207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600" spc="-1" strike="noStrike">
                <a:solidFill>
                  <a:srgbClr val="10233f"/>
                </a:solidFill>
                <a:latin typeface="DejaVu Sans"/>
              </a:rPr>
              <a:t>OTel Collector</a:t>
            </a:r>
            <a:endParaRPr b="1" lang="en-US" sz="1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3690000" y="3114000"/>
            <a:ext cx="207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Sampled OTLP traces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91" name=""/>
          <p:cNvSpPr/>
          <p:nvPr/>
        </p:nvSpPr>
        <p:spPr>
          <a:xfrm>
            <a:off x="5868000" y="1800000"/>
            <a:ext cx="972000" cy="360"/>
          </a:xfrm>
          <a:prstGeom prst="line">
            <a:avLst/>
          </a:prstGeom>
          <a:ln w="19800">
            <a:solidFill>
              <a:srgbClr val="1976d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720" rIns="99720" tIns="-54360" bIns="-543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5868000" y="3168000"/>
            <a:ext cx="972000" cy="360"/>
          </a:xfrm>
          <a:prstGeom prst="line">
            <a:avLst/>
          </a:prstGeom>
          <a:ln w="19800">
            <a:solidFill>
              <a:srgbClr val="1976d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720" rIns="99720" tIns="-54360" bIns="-543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6840000" y="1368000"/>
            <a:ext cx="2016000" cy="864000"/>
          </a:xfrm>
          <a:prstGeom prst="roundRect">
            <a:avLst/>
          </a:prstGeom>
          <a:solidFill>
            <a:srgbClr val="fff3e7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6840000" y="1368000"/>
            <a:ext cx="50400" cy="864000"/>
          </a:xfrm>
          <a:prstGeom prst="rect">
            <a:avLst/>
          </a:prstGeom>
          <a:solidFill>
            <a:srgbClr val="ef6c00"/>
          </a:solidFill>
          <a:ln w="9000">
            <a:solidFill>
              <a:srgbClr val="ef6c00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7002000" y="1476000"/>
            <a:ext cx="1746000" cy="559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600" spc="-1" strike="noStrike">
                <a:solidFill>
                  <a:srgbClr val="10233f"/>
                </a:solidFill>
                <a:latin typeface="DejaVu Sans"/>
              </a:rPr>
              <a:t>Alertmanager</a:t>
            </a:r>
            <a:endParaRPr b="1" lang="en-US" sz="1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7002000" y="1746000"/>
            <a:ext cx="1746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Route + inhibit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97" name=""/>
          <p:cNvSpPr/>
          <p:nvPr/>
        </p:nvSpPr>
        <p:spPr>
          <a:xfrm>
            <a:off x="6840000" y="2736000"/>
            <a:ext cx="2016000" cy="864000"/>
          </a:xfrm>
          <a:prstGeom prst="roundRect">
            <a:avLst/>
          </a:prstGeom>
          <a:solidFill>
            <a:srgbClr val="eaf3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6840000" y="2736000"/>
            <a:ext cx="50400" cy="864000"/>
          </a:xfrm>
          <a:prstGeom prst="rect">
            <a:avLst/>
          </a:prstGeom>
          <a:solidFill>
            <a:srgbClr val="00a6a6"/>
          </a:solidFill>
          <a:ln w="9000">
            <a:solidFill>
              <a:srgbClr val="00a6a6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7002000" y="2844000"/>
            <a:ext cx="1746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600" spc="-1" strike="noStrike">
                <a:solidFill>
                  <a:srgbClr val="10233f"/>
                </a:solidFill>
                <a:latin typeface="DejaVu Sans"/>
              </a:rPr>
              <a:t>Tempo</a:t>
            </a:r>
            <a:endParaRPr b="1" lang="en-US" sz="1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7002000" y="3114000"/>
            <a:ext cx="1746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Trace waterfall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101" name=""/>
          <p:cNvSpPr/>
          <p:nvPr/>
        </p:nvSpPr>
        <p:spPr>
          <a:xfrm>
            <a:off x="8856000" y="1800000"/>
            <a:ext cx="864000" cy="540000"/>
          </a:xfrm>
          <a:prstGeom prst="line">
            <a:avLst/>
          </a:prstGeom>
          <a:ln w="19800">
            <a:solidFill>
              <a:srgbClr val="1976d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720" rIns="99720" tIns="54720" bIns="547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8856000" y="3168000"/>
            <a:ext cx="864000" cy="360"/>
          </a:xfrm>
          <a:prstGeom prst="line">
            <a:avLst/>
          </a:prstGeom>
          <a:ln w="19800">
            <a:solidFill>
              <a:srgbClr val="1976d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720" rIns="99720" tIns="-54360" bIns="-543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9720000" y="1800000"/>
            <a:ext cx="1620000" cy="1080000"/>
          </a:xfrm>
          <a:prstGeom prst="roundRect">
            <a:avLst/>
          </a:prstGeom>
          <a:solidFill>
            <a:srgbClr val="eaf7e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9720000" y="1800000"/>
            <a:ext cx="50400" cy="1080000"/>
          </a:xfrm>
          <a:prstGeom prst="rect">
            <a:avLst/>
          </a:prstGeom>
          <a:solidFill>
            <a:srgbClr val="2e7d32"/>
          </a:solidFill>
          <a:ln w="9000">
            <a:solidFill>
              <a:srgbClr val="2e7d32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9882000" y="1908000"/>
            <a:ext cx="135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600" spc="-1" strike="noStrike">
                <a:solidFill>
                  <a:srgbClr val="10233f"/>
                </a:solidFill>
                <a:latin typeface="DejaVu Sans"/>
              </a:rPr>
              <a:t>Grafana</a:t>
            </a:r>
            <a:endParaRPr b="1" lang="en-US" sz="1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9882000" y="2178000"/>
            <a:ext cx="1350000" cy="626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Dashboard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Metrics → Trace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fffff"/>
          </a:solidFill>
          <a:ln w="9000">
            <a:solidFill>
              <a:srgbClr val="ffffff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0" y="0"/>
            <a:ext cx="187200" cy="6858000"/>
          </a:xfrm>
          <a:prstGeom prst="rect">
            <a:avLst/>
          </a:prstGeom>
          <a:solidFill>
            <a:srgbClr val="1976d2"/>
          </a:solidFill>
          <a:ln w="9000">
            <a:solidFill>
              <a:srgbClr val="1976d2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450000" y="252000"/>
            <a:ext cx="104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100" spc="-1" strike="noStrike">
                <a:solidFill>
                  <a:srgbClr val="1976d2"/>
                </a:solidFill>
                <a:latin typeface="DejaVu Sans"/>
              </a:rPr>
              <a:t>V-ID OBSERVABILITY</a:t>
            </a:r>
            <a:endParaRPr b="1" lang="en-US" sz="1100" spc="-1" strike="noStrike">
              <a:solidFill>
                <a:srgbClr val="1976d2"/>
              </a:solidFill>
              <a:latin typeface="DejaVu Sans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450000" y="450000"/>
            <a:ext cx="1098000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2600" spc="-1" strike="noStrike">
                <a:solidFill>
                  <a:srgbClr val="10233f"/>
                </a:solidFill>
                <a:latin typeface="DejaVu Sans"/>
              </a:rPr>
              <a:t>Metrics Simulator</a:t>
            </a:r>
            <a:endParaRPr b="1" lang="en-US" sz="2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111" name=""/>
          <p:cNvSpPr/>
          <p:nvPr/>
        </p:nvSpPr>
        <p:spPr>
          <a:xfrm>
            <a:off x="450000" y="1026000"/>
            <a:ext cx="10782000" cy="360"/>
          </a:xfrm>
          <a:prstGeom prst="line">
            <a:avLst/>
          </a:prstGeom>
          <a:ln w="10800">
            <a:solidFill>
              <a:srgbClr val="d7de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rIns="95400" tIns="-50040" bIns="-500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10980000" y="6516000"/>
            <a:ext cx="5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0" lang="en-US" sz="1000" spc="-1" strike="noStrike">
                <a:solidFill>
                  <a:srgbClr val="5d687a"/>
                </a:solidFill>
                <a:latin typeface="DejaVu Sans"/>
              </a:rPr>
              <a:t>05</a:t>
            </a:r>
            <a:endParaRPr b="0" lang="en-US" sz="10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113" name=""/>
          <p:cNvSpPr/>
          <p:nvPr/>
        </p:nvSpPr>
        <p:spPr>
          <a:xfrm>
            <a:off x="504000" y="1296000"/>
            <a:ext cx="3420000" cy="1440000"/>
          </a:xfrm>
          <a:prstGeom prst="roundRect">
            <a:avLst/>
          </a:prstGeom>
          <a:solidFill>
            <a:srgbClr val="eaf3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504000" y="1296000"/>
            <a:ext cx="50400" cy="1440000"/>
          </a:xfrm>
          <a:prstGeom prst="rect">
            <a:avLst/>
          </a:prstGeom>
          <a:solidFill>
            <a:srgbClr val="1976d2"/>
          </a:solidFill>
          <a:ln w="9000">
            <a:solidFill>
              <a:srgbClr val="1976d2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666000" y="1404000"/>
            <a:ext cx="315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600" spc="-1" strike="noStrike">
                <a:solidFill>
                  <a:srgbClr val="10233f"/>
                </a:solidFill>
                <a:latin typeface="DejaVu Sans"/>
              </a:rPr>
              <a:t>User journeys</a:t>
            </a:r>
            <a:endParaRPr b="1" lang="en-US" sz="1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666000" y="1674000"/>
            <a:ext cx="3150000" cy="804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Authentication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OTP send/delivery/verify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Token issuance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Authorization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117" name=""/>
          <p:cNvSpPr/>
          <p:nvPr/>
        </p:nvSpPr>
        <p:spPr>
          <a:xfrm>
            <a:off x="4374000" y="1296000"/>
            <a:ext cx="3420000" cy="1440000"/>
          </a:xfrm>
          <a:prstGeom prst="roundRect">
            <a:avLst/>
          </a:prstGeom>
          <a:solidFill>
            <a:srgbClr val="eaf7e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>
            <a:off x="4374000" y="1296000"/>
            <a:ext cx="50400" cy="1440000"/>
          </a:xfrm>
          <a:prstGeom prst="rect">
            <a:avLst/>
          </a:prstGeom>
          <a:solidFill>
            <a:srgbClr val="2e7d32"/>
          </a:solidFill>
          <a:ln w="9000">
            <a:solidFill>
              <a:srgbClr val="2e7d32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4536000" y="1404000"/>
            <a:ext cx="315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600" spc="-1" strike="noStrike">
                <a:solidFill>
                  <a:srgbClr val="10233f"/>
                </a:solidFill>
                <a:latin typeface="DejaVu Sans"/>
              </a:rPr>
              <a:t>Operational signals</a:t>
            </a:r>
            <a:endParaRPr b="1" lang="en-US" sz="1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4536000" y="1674000"/>
            <a:ext cx="3150000" cy="626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HTTP and service health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Database and infrastructure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Provider status and queue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121" name=""/>
          <p:cNvSpPr/>
          <p:nvPr/>
        </p:nvSpPr>
        <p:spPr>
          <a:xfrm>
            <a:off x="8244000" y="1296000"/>
            <a:ext cx="3060000" cy="1440000"/>
          </a:xfrm>
          <a:prstGeom prst="roundRect">
            <a:avLst/>
          </a:prstGeom>
          <a:solidFill>
            <a:srgbClr val="fff3e7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>
            <a:off x="8244000" y="1296000"/>
            <a:ext cx="50400" cy="1440000"/>
          </a:xfrm>
          <a:prstGeom prst="rect">
            <a:avLst/>
          </a:prstGeom>
          <a:solidFill>
            <a:srgbClr val="ef6c00"/>
          </a:solidFill>
          <a:ln w="9000">
            <a:solidFill>
              <a:srgbClr val="ef6c00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8406000" y="1404000"/>
            <a:ext cx="279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600" spc="-1" strike="noStrike">
                <a:solidFill>
                  <a:srgbClr val="10233f"/>
                </a:solidFill>
                <a:latin typeface="DejaVu Sans"/>
              </a:rPr>
              <a:t>Simulation model</a:t>
            </a:r>
            <a:endParaRPr b="1" lang="en-US" sz="1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8406000" y="1674000"/>
            <a:ext cx="2790000" cy="626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Time-based traffic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Log-normal latency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Repeatable incidents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756000" y="3276000"/>
            <a:ext cx="10440000" cy="68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2000" spc="-1" strike="noStrike">
                <a:solidFill>
                  <a:srgbClr val="10233f"/>
                </a:solidFill>
                <a:latin typeface="DejaVu Sans"/>
              </a:rPr>
              <a:t>Giá trị: kiểm thử normal, degradation, no-data và recovery trước khi có telemetry UAT</a:t>
            </a:r>
            <a:endParaRPr b="1" lang="en-US" sz="2000" spc="-1" strike="noStrike">
              <a:solidFill>
                <a:srgbClr val="10233f"/>
              </a:solidFill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fffff"/>
          </a:solidFill>
          <a:ln w="9000">
            <a:solidFill>
              <a:srgbClr val="ffffff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0" y="0"/>
            <a:ext cx="187200" cy="6858000"/>
          </a:xfrm>
          <a:prstGeom prst="rect">
            <a:avLst/>
          </a:prstGeom>
          <a:solidFill>
            <a:srgbClr val="1976d2"/>
          </a:solidFill>
          <a:ln w="9000">
            <a:solidFill>
              <a:srgbClr val="1976d2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450000" y="252000"/>
            <a:ext cx="104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100" spc="-1" strike="noStrike">
                <a:solidFill>
                  <a:srgbClr val="1976d2"/>
                </a:solidFill>
                <a:latin typeface="DejaVu Sans"/>
              </a:rPr>
              <a:t>V-ID OBSERVABILITY</a:t>
            </a:r>
            <a:endParaRPr b="1" lang="en-US" sz="1100" spc="-1" strike="noStrike">
              <a:solidFill>
                <a:srgbClr val="1976d2"/>
              </a:solidFill>
              <a:latin typeface="DejaVu Sans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450000" y="450000"/>
            <a:ext cx="1098000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2600" spc="-1" strike="noStrike">
                <a:solidFill>
                  <a:srgbClr val="10233f"/>
                </a:solidFill>
                <a:latin typeface="DejaVu Sans"/>
              </a:rPr>
              <a:t>KPI, SLI và SLO contract</a:t>
            </a:r>
            <a:endParaRPr b="1" lang="en-US" sz="2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130" name=""/>
          <p:cNvSpPr/>
          <p:nvPr/>
        </p:nvSpPr>
        <p:spPr>
          <a:xfrm>
            <a:off x="450000" y="1026000"/>
            <a:ext cx="10782000" cy="360"/>
          </a:xfrm>
          <a:prstGeom prst="line">
            <a:avLst/>
          </a:prstGeom>
          <a:ln w="10800">
            <a:solidFill>
              <a:srgbClr val="d7de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rIns="95400" tIns="-50040" bIns="-500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10980000" y="6516000"/>
            <a:ext cx="5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0" lang="en-US" sz="1000" spc="-1" strike="noStrike">
                <a:solidFill>
                  <a:srgbClr val="5d687a"/>
                </a:solidFill>
                <a:latin typeface="DejaVu Sans"/>
              </a:rPr>
              <a:t>06</a:t>
            </a:r>
            <a:endParaRPr b="0" lang="en-US" sz="10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132" name=""/>
          <p:cNvSpPr/>
          <p:nvPr/>
        </p:nvSpPr>
        <p:spPr>
          <a:xfrm>
            <a:off x="792000" y="1260000"/>
            <a:ext cx="2808000" cy="540000"/>
          </a:xfrm>
          <a:prstGeom prst="roundRect">
            <a:avLst/>
          </a:prstGeom>
          <a:solidFill>
            <a:srgbClr val="10233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900000" y="1339200"/>
            <a:ext cx="2592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500" spc="-1" strike="noStrike">
                <a:solidFill>
                  <a:srgbClr val="ffffff"/>
                </a:solidFill>
                <a:latin typeface="DejaVu Sans"/>
              </a:rPr>
              <a:t>Authentication</a:t>
            </a:r>
            <a:endParaRPr b="1" lang="en-US" sz="15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134" name=""/>
          <p:cNvSpPr/>
          <p:nvPr/>
        </p:nvSpPr>
        <p:spPr>
          <a:xfrm>
            <a:off x="3708000" y="1260000"/>
            <a:ext cx="7236000" cy="540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3888000" y="1339200"/>
            <a:ext cx="68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400" spc="-1" strike="noStrike">
                <a:solidFill>
                  <a:srgbClr val="172033"/>
                </a:solidFill>
                <a:latin typeface="DejaVu Sans"/>
              </a:rPr>
              <a:t>Success + latency &lt; 500 ms</a:t>
            </a:r>
            <a:endParaRPr b="0" lang="en-US" sz="1400" spc="-1" strike="noStrike">
              <a:solidFill>
                <a:srgbClr val="172033"/>
              </a:solidFill>
              <a:latin typeface="DejaVu Sans"/>
            </a:endParaRPr>
          </a:p>
        </p:txBody>
      </p:sp>
      <p:sp>
        <p:nvSpPr>
          <p:cNvPr id="136" name=""/>
          <p:cNvSpPr/>
          <p:nvPr/>
        </p:nvSpPr>
        <p:spPr>
          <a:xfrm>
            <a:off x="792000" y="2016000"/>
            <a:ext cx="2808000" cy="540000"/>
          </a:xfrm>
          <a:prstGeom prst="roundRect">
            <a:avLst/>
          </a:prstGeom>
          <a:solidFill>
            <a:srgbClr val="f4f7fb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900000" y="2095200"/>
            <a:ext cx="2592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500" spc="-1" strike="noStrike">
                <a:solidFill>
                  <a:srgbClr val="10233f"/>
                </a:solidFill>
                <a:latin typeface="DejaVu Sans"/>
              </a:rPr>
              <a:t>OTP</a:t>
            </a:r>
            <a:endParaRPr b="1" lang="en-US" sz="15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138" name=""/>
          <p:cNvSpPr/>
          <p:nvPr/>
        </p:nvSpPr>
        <p:spPr>
          <a:xfrm>
            <a:off x="3708000" y="2016000"/>
            <a:ext cx="7236000" cy="540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3888000" y="2095200"/>
            <a:ext cx="68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400" spc="-1" strike="noStrike">
                <a:solidFill>
                  <a:srgbClr val="172033"/>
                </a:solidFill>
                <a:latin typeface="DejaVu Sans"/>
              </a:rPr>
              <a:t>Submission + delivery + verification</a:t>
            </a:r>
            <a:endParaRPr b="0" lang="en-US" sz="1400" spc="-1" strike="noStrike">
              <a:solidFill>
                <a:srgbClr val="172033"/>
              </a:solidFill>
              <a:latin typeface="DejaVu Sans"/>
            </a:endParaRPr>
          </a:p>
        </p:txBody>
      </p:sp>
      <p:sp>
        <p:nvSpPr>
          <p:cNvPr id="140" name=""/>
          <p:cNvSpPr/>
          <p:nvPr/>
        </p:nvSpPr>
        <p:spPr>
          <a:xfrm>
            <a:off x="792000" y="2772000"/>
            <a:ext cx="2808000" cy="540000"/>
          </a:xfrm>
          <a:prstGeom prst="roundRect">
            <a:avLst/>
          </a:prstGeom>
          <a:solidFill>
            <a:srgbClr val="f4f7fb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900000" y="2851200"/>
            <a:ext cx="2592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500" spc="-1" strike="noStrike">
                <a:solidFill>
                  <a:srgbClr val="10233f"/>
                </a:solidFill>
                <a:latin typeface="DejaVu Sans"/>
              </a:rPr>
              <a:t>Token</a:t>
            </a:r>
            <a:endParaRPr b="1" lang="en-US" sz="15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142" name=""/>
          <p:cNvSpPr/>
          <p:nvPr/>
        </p:nvSpPr>
        <p:spPr>
          <a:xfrm>
            <a:off x="3708000" y="2772000"/>
            <a:ext cx="7236000" cy="540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3888000" y="2851200"/>
            <a:ext cx="68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400" spc="-1" strike="noStrike">
                <a:solidFill>
                  <a:srgbClr val="172033"/>
                </a:solidFill>
                <a:latin typeface="DejaVu Sans"/>
              </a:rPr>
              <a:t>Issuance theo issuer/grant</a:t>
            </a:r>
            <a:endParaRPr b="0" lang="en-US" sz="1400" spc="-1" strike="noStrike">
              <a:solidFill>
                <a:srgbClr val="172033"/>
              </a:solidFill>
              <a:latin typeface="DejaVu Sans"/>
            </a:endParaRPr>
          </a:p>
        </p:txBody>
      </p:sp>
      <p:sp>
        <p:nvSpPr>
          <p:cNvPr id="144" name=""/>
          <p:cNvSpPr/>
          <p:nvPr/>
        </p:nvSpPr>
        <p:spPr>
          <a:xfrm>
            <a:off x="792000" y="3528000"/>
            <a:ext cx="2808000" cy="540000"/>
          </a:xfrm>
          <a:prstGeom prst="roundRect">
            <a:avLst/>
          </a:prstGeom>
          <a:solidFill>
            <a:srgbClr val="f4f7fb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900000" y="3607200"/>
            <a:ext cx="2592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500" spc="-1" strike="noStrike">
                <a:solidFill>
                  <a:srgbClr val="10233f"/>
                </a:solidFill>
                <a:latin typeface="DejaVu Sans"/>
              </a:rPr>
              <a:t>Platform</a:t>
            </a:r>
            <a:endParaRPr b="1" lang="en-US" sz="15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146" name=""/>
          <p:cNvSpPr/>
          <p:nvPr/>
        </p:nvSpPr>
        <p:spPr>
          <a:xfrm>
            <a:off x="3708000" y="3528000"/>
            <a:ext cx="7236000" cy="540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3888000" y="3607200"/>
            <a:ext cx="68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400" spc="-1" strike="noStrike">
                <a:solidFill>
                  <a:srgbClr val="172033"/>
                </a:solidFill>
                <a:latin typeface="DejaVu Sans"/>
              </a:rPr>
              <a:t>Critical operation availability</a:t>
            </a:r>
            <a:endParaRPr b="0" lang="en-US" sz="1400" spc="-1" strike="noStrike">
              <a:solidFill>
                <a:srgbClr val="172033"/>
              </a:solidFill>
              <a:latin typeface="DejaVu Sans"/>
            </a:endParaRPr>
          </a:p>
        </p:txBody>
      </p:sp>
      <p:sp>
        <p:nvSpPr>
          <p:cNvPr id="148" name=""/>
          <p:cNvSpPr/>
          <p:nvPr/>
        </p:nvSpPr>
        <p:spPr>
          <a:xfrm>
            <a:off x="792000" y="4284000"/>
            <a:ext cx="2808000" cy="540000"/>
          </a:xfrm>
          <a:prstGeom prst="roundRect">
            <a:avLst/>
          </a:prstGeom>
          <a:solidFill>
            <a:srgbClr val="f4f7fb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900000" y="4363200"/>
            <a:ext cx="2592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500" spc="-1" strike="noStrike">
                <a:solidFill>
                  <a:srgbClr val="10233f"/>
                </a:solidFill>
                <a:latin typeface="DejaVu Sans"/>
              </a:rPr>
              <a:t>Reliability</a:t>
            </a:r>
            <a:endParaRPr b="1" lang="en-US" sz="15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150" name=""/>
          <p:cNvSpPr/>
          <p:nvPr/>
        </p:nvSpPr>
        <p:spPr>
          <a:xfrm>
            <a:off x="3708000" y="4284000"/>
            <a:ext cx="7236000" cy="540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3888000" y="4363200"/>
            <a:ext cx="68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400" spc="-1" strike="noStrike">
                <a:solidFill>
                  <a:srgbClr val="172033"/>
                </a:solidFill>
                <a:latin typeface="DejaVu Sans"/>
              </a:rPr>
              <a:t>Error budget + burn rate</a:t>
            </a:r>
            <a:endParaRPr b="0" lang="en-US" sz="1400" spc="-1" strike="noStrike">
              <a:solidFill>
                <a:srgbClr val="172033"/>
              </a:solidFill>
              <a:latin typeface="DejaVu Sans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792000" y="5220000"/>
            <a:ext cx="10152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400" spc="-1" strike="noStrike">
                <a:solidFill>
                  <a:srgbClr val="c62828"/>
                </a:solidFill>
                <a:latin typeface="DejaVu Sans"/>
              </a:rPr>
              <a:t>Business rejection ≠ system failure · No-data ≠ healthy · SLO lab cần owner phê duyệt</a:t>
            </a:r>
            <a:endParaRPr b="1" lang="en-US" sz="1400" spc="-1" strike="noStrike">
              <a:solidFill>
                <a:srgbClr val="c62828"/>
              </a:solidFill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fffff"/>
          </a:solidFill>
          <a:ln w="9000">
            <a:solidFill>
              <a:srgbClr val="ffffff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"/>
          <p:cNvSpPr/>
          <p:nvPr/>
        </p:nvSpPr>
        <p:spPr>
          <a:xfrm>
            <a:off x="0" y="0"/>
            <a:ext cx="187200" cy="6858000"/>
          </a:xfrm>
          <a:prstGeom prst="rect">
            <a:avLst/>
          </a:prstGeom>
          <a:solidFill>
            <a:srgbClr val="1976d2"/>
          </a:solidFill>
          <a:ln w="9000">
            <a:solidFill>
              <a:srgbClr val="1976d2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"/>
          <p:cNvSpPr txBox="1"/>
          <p:nvPr/>
        </p:nvSpPr>
        <p:spPr>
          <a:xfrm>
            <a:off x="450000" y="252000"/>
            <a:ext cx="104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100" spc="-1" strike="noStrike">
                <a:solidFill>
                  <a:srgbClr val="1976d2"/>
                </a:solidFill>
                <a:latin typeface="DejaVu Sans"/>
              </a:rPr>
              <a:t>V-ID OBSERVABILITY</a:t>
            </a:r>
            <a:endParaRPr b="1" lang="en-US" sz="1100" spc="-1" strike="noStrike">
              <a:solidFill>
                <a:srgbClr val="1976d2"/>
              </a:solidFill>
              <a:latin typeface="DejaVu Sans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450000" y="450000"/>
            <a:ext cx="1098000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2600" spc="-1" strike="noStrike">
                <a:solidFill>
                  <a:srgbClr val="10233f"/>
                </a:solidFill>
                <a:latin typeface="DejaVu Sans"/>
              </a:rPr>
              <a:t>Kết quả Prometheus và alerting</a:t>
            </a:r>
            <a:endParaRPr b="1" lang="en-US" sz="2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157" name=""/>
          <p:cNvSpPr/>
          <p:nvPr/>
        </p:nvSpPr>
        <p:spPr>
          <a:xfrm>
            <a:off x="450000" y="1026000"/>
            <a:ext cx="10782000" cy="360"/>
          </a:xfrm>
          <a:prstGeom prst="line">
            <a:avLst/>
          </a:prstGeom>
          <a:ln w="10800">
            <a:solidFill>
              <a:srgbClr val="d7de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rIns="95400" tIns="-50040" bIns="-500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10980000" y="6516000"/>
            <a:ext cx="5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0" lang="en-US" sz="1000" spc="-1" strike="noStrike">
                <a:solidFill>
                  <a:srgbClr val="5d687a"/>
                </a:solidFill>
                <a:latin typeface="DejaVu Sans"/>
              </a:rPr>
              <a:t>07</a:t>
            </a:r>
            <a:endParaRPr b="0" lang="en-US" sz="10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159" name=""/>
          <p:cNvSpPr/>
          <p:nvPr/>
        </p:nvSpPr>
        <p:spPr>
          <a:xfrm>
            <a:off x="648000" y="1404000"/>
            <a:ext cx="3060000" cy="900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720000" y="1512000"/>
            <a:ext cx="2916000" cy="503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2800" spc="-1" strike="noStrike">
                <a:solidFill>
                  <a:srgbClr val="1976d2"/>
                </a:solidFill>
                <a:latin typeface="DejaVu Sans"/>
              </a:rPr>
              <a:t>62</a:t>
            </a:r>
            <a:endParaRPr b="1" lang="en-US" sz="2800" spc="-1" strike="noStrike">
              <a:solidFill>
                <a:srgbClr val="1976d2"/>
              </a:solidFill>
              <a:latin typeface="DejaVu Sans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756000" y="1926000"/>
            <a:ext cx="2844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recording rules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162" name=""/>
          <p:cNvSpPr/>
          <p:nvPr/>
        </p:nvSpPr>
        <p:spPr>
          <a:xfrm>
            <a:off x="4536000" y="1404000"/>
            <a:ext cx="3060000" cy="900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4608000" y="1512000"/>
            <a:ext cx="2916000" cy="503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2800" spc="-1" strike="noStrike">
                <a:solidFill>
                  <a:srgbClr val="ef6c00"/>
                </a:solidFill>
                <a:latin typeface="DejaVu Sans"/>
              </a:rPr>
              <a:t>17</a:t>
            </a:r>
            <a:endParaRPr b="1" lang="en-US" sz="2800" spc="-1" strike="noStrike">
              <a:solidFill>
                <a:srgbClr val="ef6c00"/>
              </a:solidFill>
              <a:latin typeface="DejaVu Sans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4644000" y="1926000"/>
            <a:ext cx="2844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alert rules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165" name=""/>
          <p:cNvSpPr/>
          <p:nvPr/>
        </p:nvSpPr>
        <p:spPr>
          <a:xfrm>
            <a:off x="8424000" y="1404000"/>
            <a:ext cx="3060000" cy="900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8496000" y="1512000"/>
            <a:ext cx="2916000" cy="503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2800" spc="-1" strike="noStrike">
                <a:solidFill>
                  <a:srgbClr val="2e7d32"/>
                </a:solidFill>
                <a:latin typeface="DejaVu Sans"/>
              </a:rPr>
              <a:t>5</a:t>
            </a:r>
            <a:endParaRPr b="1" lang="en-US" sz="2800" spc="-1" strike="noStrike">
              <a:solidFill>
                <a:srgbClr val="2e7d32"/>
              </a:solidFill>
              <a:latin typeface="DejaVu Sans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8532000" y="1926000"/>
            <a:ext cx="2844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SLO windows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168" name=""/>
          <p:cNvSpPr/>
          <p:nvPr/>
        </p:nvSpPr>
        <p:spPr>
          <a:xfrm>
            <a:off x="648000" y="3060000"/>
            <a:ext cx="2030400" cy="486000"/>
          </a:xfrm>
          <a:prstGeom prst="roundRect">
            <a:avLst/>
          </a:prstGeom>
          <a:solidFill>
            <a:srgbClr val="eaf3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684000" y="3124800"/>
            <a:ext cx="19584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100" spc="-1" strike="noStrike">
                <a:solidFill>
                  <a:srgbClr val="10233f"/>
                </a:solidFill>
                <a:latin typeface="DejaVu Sans"/>
              </a:rPr>
              <a:t>Raw metrics</a:t>
            </a:r>
            <a:endParaRPr b="1" lang="en-US" sz="11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170" name=""/>
          <p:cNvSpPr/>
          <p:nvPr/>
        </p:nvSpPr>
        <p:spPr>
          <a:xfrm>
            <a:off x="2678400" y="3303000"/>
            <a:ext cx="140400" cy="360"/>
          </a:xfrm>
          <a:prstGeom prst="line">
            <a:avLst/>
          </a:prstGeom>
          <a:ln w="19800">
            <a:solidFill>
              <a:srgbClr val="1976d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720" rIns="99720" tIns="-54360" bIns="-543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"/>
          <p:cNvSpPr/>
          <p:nvPr/>
        </p:nvSpPr>
        <p:spPr>
          <a:xfrm>
            <a:off x="2840400" y="3060000"/>
            <a:ext cx="2030400" cy="486000"/>
          </a:xfrm>
          <a:prstGeom prst="roundRect">
            <a:avLst/>
          </a:prstGeom>
          <a:solidFill>
            <a:srgbClr val="eaf3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2876400" y="3124800"/>
            <a:ext cx="19584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100" spc="-1" strike="noStrike">
                <a:solidFill>
                  <a:srgbClr val="10233f"/>
                </a:solidFill>
                <a:latin typeface="DejaVu Sans"/>
              </a:rPr>
              <a:t>Rate / Ratio / p95</a:t>
            </a:r>
            <a:endParaRPr b="1" lang="en-US" sz="11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173" name=""/>
          <p:cNvSpPr/>
          <p:nvPr/>
        </p:nvSpPr>
        <p:spPr>
          <a:xfrm>
            <a:off x="4870800" y="3303000"/>
            <a:ext cx="140400" cy="360"/>
          </a:xfrm>
          <a:prstGeom prst="line">
            <a:avLst/>
          </a:prstGeom>
          <a:ln w="19800">
            <a:solidFill>
              <a:srgbClr val="1976d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720" rIns="99720" tIns="-54360" bIns="-543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"/>
          <p:cNvSpPr/>
          <p:nvPr/>
        </p:nvSpPr>
        <p:spPr>
          <a:xfrm>
            <a:off x="5032800" y="3060000"/>
            <a:ext cx="2030400" cy="486000"/>
          </a:xfrm>
          <a:prstGeom prst="roundRect">
            <a:avLst/>
          </a:prstGeom>
          <a:solidFill>
            <a:srgbClr val="eaf3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5068800" y="3124800"/>
            <a:ext cx="19584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100" spc="-1" strike="noStrike">
                <a:solidFill>
                  <a:srgbClr val="10233f"/>
                </a:solidFill>
                <a:latin typeface="DejaVu Sans"/>
              </a:rPr>
              <a:t>Recorded KPI</a:t>
            </a:r>
            <a:endParaRPr b="1" lang="en-US" sz="11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176" name=""/>
          <p:cNvSpPr/>
          <p:nvPr/>
        </p:nvSpPr>
        <p:spPr>
          <a:xfrm>
            <a:off x="7063200" y="3303000"/>
            <a:ext cx="140400" cy="360"/>
          </a:xfrm>
          <a:prstGeom prst="line">
            <a:avLst/>
          </a:prstGeom>
          <a:ln w="19800">
            <a:solidFill>
              <a:srgbClr val="1976d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720" rIns="99720" tIns="-54360" bIns="-543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"/>
          <p:cNvSpPr/>
          <p:nvPr/>
        </p:nvSpPr>
        <p:spPr>
          <a:xfrm>
            <a:off x="7225200" y="3060000"/>
            <a:ext cx="2030400" cy="486000"/>
          </a:xfrm>
          <a:prstGeom prst="roundRect">
            <a:avLst/>
          </a:prstGeom>
          <a:solidFill>
            <a:srgbClr val="eaf3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7261200" y="3124800"/>
            <a:ext cx="19584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100" spc="-1" strike="noStrike">
                <a:solidFill>
                  <a:srgbClr val="10233f"/>
                </a:solidFill>
                <a:latin typeface="DejaVu Sans"/>
              </a:rPr>
              <a:t>Alerts</a:t>
            </a:r>
            <a:endParaRPr b="1" lang="en-US" sz="11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179" name=""/>
          <p:cNvSpPr/>
          <p:nvPr/>
        </p:nvSpPr>
        <p:spPr>
          <a:xfrm>
            <a:off x="9255600" y="3303000"/>
            <a:ext cx="140400" cy="360"/>
          </a:xfrm>
          <a:prstGeom prst="line">
            <a:avLst/>
          </a:prstGeom>
          <a:ln w="19800">
            <a:solidFill>
              <a:srgbClr val="1976d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720" rIns="99720" tIns="-54360" bIns="-543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"/>
          <p:cNvSpPr/>
          <p:nvPr/>
        </p:nvSpPr>
        <p:spPr>
          <a:xfrm>
            <a:off x="9417600" y="3060000"/>
            <a:ext cx="2030400" cy="486000"/>
          </a:xfrm>
          <a:prstGeom prst="roundRect">
            <a:avLst/>
          </a:prstGeom>
          <a:solidFill>
            <a:srgbClr val="eaf3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9453600" y="3124800"/>
            <a:ext cx="19584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100" spc="-1" strike="noStrike">
                <a:solidFill>
                  <a:srgbClr val="10233f"/>
                </a:solidFill>
                <a:latin typeface="DejaVu Sans"/>
              </a:rPr>
              <a:t>Runbook</a:t>
            </a:r>
            <a:endParaRPr b="1" lang="en-US" sz="11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828000" y="4392000"/>
            <a:ext cx="104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800" spc="-1" strike="noStrike">
                <a:solidFill>
                  <a:srgbClr val="10233f"/>
                </a:solidFill>
                <a:latin typeface="DejaVu Sans"/>
              </a:rPr>
              <a:t>Ưu tiên user-impact symptoms; resource metrics là context điều tra</a:t>
            </a:r>
            <a:endParaRPr b="1" lang="en-US" sz="1800" spc="-1" strike="noStrike">
              <a:solidFill>
                <a:srgbClr val="10233f"/>
              </a:solidFill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fffff"/>
          </a:solidFill>
          <a:ln w="9000">
            <a:solidFill>
              <a:srgbClr val="ffffff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"/>
          <p:cNvSpPr/>
          <p:nvPr/>
        </p:nvSpPr>
        <p:spPr>
          <a:xfrm>
            <a:off x="0" y="0"/>
            <a:ext cx="187200" cy="6858000"/>
          </a:xfrm>
          <a:prstGeom prst="rect">
            <a:avLst/>
          </a:prstGeom>
          <a:solidFill>
            <a:srgbClr val="1976d2"/>
          </a:solidFill>
          <a:ln w="9000">
            <a:solidFill>
              <a:srgbClr val="1976d2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"/>
          <p:cNvSpPr txBox="1"/>
          <p:nvPr/>
        </p:nvSpPr>
        <p:spPr>
          <a:xfrm>
            <a:off x="450000" y="252000"/>
            <a:ext cx="104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100" spc="-1" strike="noStrike">
                <a:solidFill>
                  <a:srgbClr val="1976d2"/>
                </a:solidFill>
                <a:latin typeface="DejaVu Sans"/>
              </a:rPr>
              <a:t>V-ID OBSERVABILITY</a:t>
            </a:r>
            <a:endParaRPr b="1" lang="en-US" sz="1100" spc="-1" strike="noStrike">
              <a:solidFill>
                <a:srgbClr val="1976d2"/>
              </a:solidFill>
              <a:latin typeface="DejaVu Sans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450000" y="450000"/>
            <a:ext cx="1098000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2600" spc="-1" strike="noStrike">
                <a:solidFill>
                  <a:srgbClr val="10233f"/>
                </a:solidFill>
                <a:latin typeface="DejaVu Sans"/>
              </a:rPr>
              <a:t>Kết quả Grafana</a:t>
            </a:r>
            <a:endParaRPr b="1" lang="en-US" sz="2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187" name=""/>
          <p:cNvSpPr/>
          <p:nvPr/>
        </p:nvSpPr>
        <p:spPr>
          <a:xfrm>
            <a:off x="450000" y="1026000"/>
            <a:ext cx="10782000" cy="360"/>
          </a:xfrm>
          <a:prstGeom prst="line">
            <a:avLst/>
          </a:prstGeom>
          <a:ln w="10800">
            <a:solidFill>
              <a:srgbClr val="d7de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rIns="95400" tIns="-50040" bIns="-500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10980000" y="6516000"/>
            <a:ext cx="5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0" lang="en-US" sz="1000" spc="-1" strike="noStrike">
                <a:solidFill>
                  <a:srgbClr val="5d687a"/>
                </a:solidFill>
                <a:latin typeface="DejaVu Sans"/>
              </a:rPr>
              <a:t>08</a:t>
            </a:r>
            <a:endParaRPr b="0" lang="en-US" sz="10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189" name=""/>
          <p:cNvSpPr/>
          <p:nvPr/>
        </p:nvSpPr>
        <p:spPr>
          <a:xfrm>
            <a:off x="720000" y="1368000"/>
            <a:ext cx="3240000" cy="900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792000" y="1476000"/>
            <a:ext cx="3096000" cy="503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2800" spc="-1" strike="noStrike">
                <a:solidFill>
                  <a:srgbClr val="1976d2"/>
                </a:solidFill>
                <a:latin typeface="DejaVu Sans"/>
              </a:rPr>
              <a:t>9</a:t>
            </a:r>
            <a:endParaRPr b="1" lang="en-US" sz="2800" spc="-1" strike="noStrike">
              <a:solidFill>
                <a:srgbClr val="1976d2"/>
              </a:solidFill>
              <a:latin typeface="DejaVu Sans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828000" y="1890000"/>
            <a:ext cx="3024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dashboards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192" name=""/>
          <p:cNvSpPr/>
          <p:nvPr/>
        </p:nvSpPr>
        <p:spPr>
          <a:xfrm>
            <a:off x="4464000" y="1368000"/>
            <a:ext cx="3240000" cy="900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4536000" y="1476000"/>
            <a:ext cx="3096000" cy="503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2800" spc="-1" strike="noStrike">
                <a:solidFill>
                  <a:srgbClr val="00a6a6"/>
                </a:solidFill>
                <a:latin typeface="DejaVu Sans"/>
              </a:rPr>
              <a:t>83</a:t>
            </a:r>
            <a:endParaRPr b="1" lang="en-US" sz="2800" spc="-1" strike="noStrike">
              <a:solidFill>
                <a:srgbClr val="00a6a6"/>
              </a:solidFill>
              <a:latin typeface="DejaVu Sans"/>
            </a:endParaRPr>
          </a:p>
        </p:txBody>
      </p:sp>
      <p:sp>
        <p:nvSpPr>
          <p:cNvPr id="194" name=""/>
          <p:cNvSpPr txBox="1"/>
          <p:nvPr/>
        </p:nvSpPr>
        <p:spPr>
          <a:xfrm>
            <a:off x="4572000" y="1890000"/>
            <a:ext cx="3024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panels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195" name=""/>
          <p:cNvSpPr/>
          <p:nvPr/>
        </p:nvSpPr>
        <p:spPr>
          <a:xfrm>
            <a:off x="8208000" y="1368000"/>
            <a:ext cx="3240000" cy="900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8280000" y="1476000"/>
            <a:ext cx="3096000" cy="503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2800" spc="-1" strike="noStrike">
                <a:solidFill>
                  <a:srgbClr val="2e7d32"/>
                </a:solidFill>
                <a:latin typeface="DejaVu Sans"/>
              </a:rPr>
              <a:t>1-click</a:t>
            </a:r>
            <a:endParaRPr b="1" lang="en-US" sz="2800" spc="-1" strike="noStrike">
              <a:solidFill>
                <a:srgbClr val="2e7d32"/>
              </a:solidFill>
              <a:latin typeface="DejaVu Sans"/>
            </a:endParaRPr>
          </a:p>
        </p:txBody>
      </p:sp>
      <p:sp>
        <p:nvSpPr>
          <p:cNvPr id="197" name=""/>
          <p:cNvSpPr txBox="1"/>
          <p:nvPr/>
        </p:nvSpPr>
        <p:spPr>
          <a:xfrm>
            <a:off x="8316000" y="1890000"/>
            <a:ext cx="3024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metrics → trace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198" name=""/>
          <p:cNvSpPr/>
          <p:nvPr/>
        </p:nvSpPr>
        <p:spPr>
          <a:xfrm>
            <a:off x="648000" y="2844000"/>
            <a:ext cx="5112000" cy="1692000"/>
          </a:xfrm>
          <a:prstGeom prst="roundRect">
            <a:avLst/>
          </a:prstGeom>
          <a:solidFill>
            <a:srgbClr val="eaf3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"/>
          <p:cNvSpPr/>
          <p:nvPr/>
        </p:nvSpPr>
        <p:spPr>
          <a:xfrm>
            <a:off x="648000" y="2844000"/>
            <a:ext cx="50400" cy="1692000"/>
          </a:xfrm>
          <a:prstGeom prst="rect">
            <a:avLst/>
          </a:prstGeom>
          <a:solidFill>
            <a:srgbClr val="1976d2"/>
          </a:solidFill>
          <a:ln w="9000">
            <a:solidFill>
              <a:srgbClr val="1976d2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810000" y="2952000"/>
            <a:ext cx="4842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600" spc="-1" strike="noStrike">
                <a:solidFill>
                  <a:srgbClr val="10233f"/>
                </a:solidFill>
                <a:latin typeface="DejaVu Sans"/>
              </a:rPr>
              <a:t>Dashboard coverage</a:t>
            </a:r>
            <a:endParaRPr b="1" lang="en-US" sz="1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810000" y="3222000"/>
            <a:ext cx="4842000" cy="447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Overview · Authentication · MFA &amp; OTP · OTP Journey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Token · Authorization · Platform · Reliability · Cross-region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202" name=""/>
          <p:cNvSpPr/>
          <p:nvPr/>
        </p:nvSpPr>
        <p:spPr>
          <a:xfrm>
            <a:off x="6408000" y="2844000"/>
            <a:ext cx="5040000" cy="1692000"/>
          </a:xfrm>
          <a:prstGeom prst="roundRect">
            <a:avLst/>
          </a:prstGeom>
          <a:solidFill>
            <a:srgbClr val="eaf7e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"/>
          <p:cNvSpPr/>
          <p:nvPr/>
        </p:nvSpPr>
        <p:spPr>
          <a:xfrm>
            <a:off x="6408000" y="2844000"/>
            <a:ext cx="50400" cy="1692000"/>
          </a:xfrm>
          <a:prstGeom prst="rect">
            <a:avLst/>
          </a:prstGeom>
          <a:solidFill>
            <a:srgbClr val="2e7d32"/>
          </a:solidFill>
          <a:ln w="9000">
            <a:solidFill>
              <a:srgbClr val="2e7d32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6570000" y="2952000"/>
            <a:ext cx="477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600" spc="-1" strike="noStrike">
                <a:solidFill>
                  <a:srgbClr val="10233f"/>
                </a:solidFill>
                <a:latin typeface="DejaVu Sans"/>
              </a:rPr>
              <a:t>Operational usability</a:t>
            </a:r>
            <a:endParaRPr b="1" lang="en-US" sz="1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6570000" y="3222000"/>
            <a:ext cx="4770000" cy="804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Environment/cluster filters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Stable UID + auto provisioning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No-data handling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Exemplar drill-down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fffff"/>
          </a:solidFill>
          <a:ln w="9000">
            <a:solidFill>
              <a:srgbClr val="ffffff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"/>
          <p:cNvSpPr/>
          <p:nvPr/>
        </p:nvSpPr>
        <p:spPr>
          <a:xfrm>
            <a:off x="0" y="0"/>
            <a:ext cx="187200" cy="6858000"/>
          </a:xfrm>
          <a:prstGeom prst="rect">
            <a:avLst/>
          </a:prstGeom>
          <a:solidFill>
            <a:srgbClr val="1976d2"/>
          </a:solidFill>
          <a:ln w="9000">
            <a:solidFill>
              <a:srgbClr val="1976d2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450000" y="252000"/>
            <a:ext cx="104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100" spc="-1" strike="noStrike">
                <a:solidFill>
                  <a:srgbClr val="1976d2"/>
                </a:solidFill>
                <a:latin typeface="DejaVu Sans"/>
              </a:rPr>
              <a:t>V-ID OBSERVABILITY</a:t>
            </a:r>
            <a:endParaRPr b="1" lang="en-US" sz="1100" spc="-1" strike="noStrike">
              <a:solidFill>
                <a:srgbClr val="1976d2"/>
              </a:solidFill>
              <a:latin typeface="DejaVu Sans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450000" y="450000"/>
            <a:ext cx="1098000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2600" spc="-1" strike="noStrike">
                <a:solidFill>
                  <a:srgbClr val="10233f"/>
                </a:solidFill>
                <a:latin typeface="DejaVu Sans"/>
              </a:rPr>
              <a:t>International OTP — bài toán trọng tâm</a:t>
            </a:r>
            <a:endParaRPr b="1" lang="en-US" sz="2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210" name=""/>
          <p:cNvSpPr/>
          <p:nvPr/>
        </p:nvSpPr>
        <p:spPr>
          <a:xfrm>
            <a:off x="450000" y="1026000"/>
            <a:ext cx="10782000" cy="360"/>
          </a:xfrm>
          <a:prstGeom prst="line">
            <a:avLst/>
          </a:prstGeom>
          <a:ln w="10800">
            <a:solidFill>
              <a:srgbClr val="d7de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rIns="95400" tIns="-50040" bIns="-500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10980000" y="6516000"/>
            <a:ext cx="5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0" lang="en-US" sz="1000" spc="-1" strike="noStrike">
                <a:solidFill>
                  <a:srgbClr val="5d687a"/>
                </a:solidFill>
                <a:latin typeface="DejaVu Sans"/>
              </a:rPr>
              <a:t>09</a:t>
            </a:r>
            <a:endParaRPr b="0" lang="en-US" sz="10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212" name=""/>
          <p:cNvSpPr/>
          <p:nvPr/>
        </p:nvSpPr>
        <p:spPr>
          <a:xfrm>
            <a:off x="432000" y="1584000"/>
            <a:ext cx="1266480" cy="486000"/>
          </a:xfrm>
          <a:prstGeom prst="roundRect">
            <a:avLst/>
          </a:prstGeom>
          <a:solidFill>
            <a:srgbClr val="eaf3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468000" y="1648800"/>
            <a:ext cx="119448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100" spc="-1" strike="noStrike">
                <a:solidFill>
                  <a:srgbClr val="10233f"/>
                </a:solidFill>
                <a:latin typeface="DejaVu Sans"/>
              </a:rPr>
              <a:t>Edge</a:t>
            </a:r>
            <a:endParaRPr b="1" lang="en-US" sz="11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214" name=""/>
          <p:cNvSpPr/>
          <p:nvPr/>
        </p:nvSpPr>
        <p:spPr>
          <a:xfrm>
            <a:off x="1698480" y="1827000"/>
            <a:ext cx="140400" cy="360"/>
          </a:xfrm>
          <a:prstGeom prst="line">
            <a:avLst/>
          </a:prstGeom>
          <a:ln w="19800">
            <a:solidFill>
              <a:srgbClr val="1976d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720" rIns="99720" tIns="-54360" bIns="-543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"/>
          <p:cNvSpPr/>
          <p:nvPr/>
        </p:nvSpPr>
        <p:spPr>
          <a:xfrm>
            <a:off x="1860480" y="1584000"/>
            <a:ext cx="1266480" cy="486000"/>
          </a:xfrm>
          <a:prstGeom prst="roundRect">
            <a:avLst/>
          </a:prstGeom>
          <a:solidFill>
            <a:srgbClr val="eaf3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"/>
          <p:cNvSpPr txBox="1"/>
          <p:nvPr/>
        </p:nvSpPr>
        <p:spPr>
          <a:xfrm>
            <a:off x="1896480" y="1648800"/>
            <a:ext cx="119448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100" spc="-1" strike="noStrike">
                <a:solidFill>
                  <a:srgbClr val="10233f"/>
                </a:solidFill>
                <a:latin typeface="DejaVu Sans"/>
              </a:rPr>
              <a:t>Kong</a:t>
            </a:r>
            <a:endParaRPr b="1" lang="en-US" sz="11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217" name=""/>
          <p:cNvSpPr/>
          <p:nvPr/>
        </p:nvSpPr>
        <p:spPr>
          <a:xfrm>
            <a:off x="3126960" y="1827000"/>
            <a:ext cx="140400" cy="360"/>
          </a:xfrm>
          <a:prstGeom prst="line">
            <a:avLst/>
          </a:prstGeom>
          <a:ln w="19800">
            <a:solidFill>
              <a:srgbClr val="1976d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720" rIns="99720" tIns="-54360" bIns="-543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"/>
          <p:cNvSpPr/>
          <p:nvPr/>
        </p:nvSpPr>
        <p:spPr>
          <a:xfrm>
            <a:off x="3288960" y="1584000"/>
            <a:ext cx="1266480" cy="486000"/>
          </a:xfrm>
          <a:prstGeom prst="roundRect">
            <a:avLst/>
          </a:prstGeom>
          <a:solidFill>
            <a:srgbClr val="eaf3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"/>
          <p:cNvSpPr txBox="1"/>
          <p:nvPr/>
        </p:nvSpPr>
        <p:spPr>
          <a:xfrm>
            <a:off x="3324960" y="1648800"/>
            <a:ext cx="119448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100" spc="-1" strike="noStrike">
                <a:solidFill>
                  <a:srgbClr val="10233f"/>
                </a:solidFill>
                <a:latin typeface="DejaVu Sans"/>
              </a:rPr>
              <a:t>IdP</a:t>
            </a:r>
            <a:endParaRPr b="1" lang="en-US" sz="11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220" name=""/>
          <p:cNvSpPr/>
          <p:nvPr/>
        </p:nvSpPr>
        <p:spPr>
          <a:xfrm>
            <a:off x="4555440" y="1827000"/>
            <a:ext cx="140400" cy="360"/>
          </a:xfrm>
          <a:prstGeom prst="line">
            <a:avLst/>
          </a:prstGeom>
          <a:ln w="19800">
            <a:solidFill>
              <a:srgbClr val="1976d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720" rIns="99720" tIns="-54360" bIns="-543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"/>
          <p:cNvSpPr/>
          <p:nvPr/>
        </p:nvSpPr>
        <p:spPr>
          <a:xfrm>
            <a:off x="4717440" y="1584000"/>
            <a:ext cx="1266480" cy="486000"/>
          </a:xfrm>
          <a:prstGeom prst="roundRect">
            <a:avLst/>
          </a:prstGeom>
          <a:solidFill>
            <a:srgbClr val="eaf3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"/>
          <p:cNvSpPr txBox="1"/>
          <p:nvPr/>
        </p:nvSpPr>
        <p:spPr>
          <a:xfrm>
            <a:off x="4753440" y="1648800"/>
            <a:ext cx="119448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100" spc="-1" strike="noStrike">
                <a:solidFill>
                  <a:srgbClr val="10233f"/>
                </a:solidFill>
                <a:latin typeface="DejaVu Sans"/>
              </a:rPr>
              <a:t>Redis</a:t>
            </a:r>
            <a:endParaRPr b="1" lang="en-US" sz="11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223" name=""/>
          <p:cNvSpPr/>
          <p:nvPr/>
        </p:nvSpPr>
        <p:spPr>
          <a:xfrm>
            <a:off x="5983920" y="1827000"/>
            <a:ext cx="140400" cy="360"/>
          </a:xfrm>
          <a:prstGeom prst="line">
            <a:avLst/>
          </a:prstGeom>
          <a:ln w="19800">
            <a:solidFill>
              <a:srgbClr val="1976d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720" rIns="99720" tIns="-54360" bIns="-543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"/>
          <p:cNvSpPr/>
          <p:nvPr/>
        </p:nvSpPr>
        <p:spPr>
          <a:xfrm>
            <a:off x="6145920" y="1584000"/>
            <a:ext cx="1266480" cy="486000"/>
          </a:xfrm>
          <a:prstGeom prst="roundRect">
            <a:avLst/>
          </a:prstGeom>
          <a:solidFill>
            <a:srgbClr val="eaf3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"/>
          <p:cNvSpPr txBox="1"/>
          <p:nvPr/>
        </p:nvSpPr>
        <p:spPr>
          <a:xfrm>
            <a:off x="6181920" y="1648800"/>
            <a:ext cx="119448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100" spc="-1" strike="noStrike">
                <a:solidFill>
                  <a:srgbClr val="10233f"/>
                </a:solidFill>
                <a:latin typeface="DejaVu Sans"/>
              </a:rPr>
              <a:t>Route</a:t>
            </a:r>
            <a:endParaRPr b="1" lang="en-US" sz="11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226" name=""/>
          <p:cNvSpPr/>
          <p:nvPr/>
        </p:nvSpPr>
        <p:spPr>
          <a:xfrm>
            <a:off x="7412400" y="1827000"/>
            <a:ext cx="140400" cy="360"/>
          </a:xfrm>
          <a:prstGeom prst="line">
            <a:avLst/>
          </a:prstGeom>
          <a:ln w="19800">
            <a:solidFill>
              <a:srgbClr val="1976d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720" rIns="99720" tIns="-54360" bIns="-543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"/>
          <p:cNvSpPr/>
          <p:nvPr/>
        </p:nvSpPr>
        <p:spPr>
          <a:xfrm>
            <a:off x="7574400" y="1584000"/>
            <a:ext cx="1266480" cy="486000"/>
          </a:xfrm>
          <a:prstGeom prst="roundRect">
            <a:avLst/>
          </a:prstGeom>
          <a:solidFill>
            <a:srgbClr val="eaf3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"/>
          <p:cNvSpPr txBox="1"/>
          <p:nvPr/>
        </p:nvSpPr>
        <p:spPr>
          <a:xfrm>
            <a:off x="7610400" y="1648800"/>
            <a:ext cx="119448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100" spc="-1" strike="noStrike">
                <a:solidFill>
                  <a:srgbClr val="10233f"/>
                </a:solidFill>
                <a:latin typeface="DejaVu Sans"/>
              </a:rPr>
              <a:t>Queue</a:t>
            </a:r>
            <a:endParaRPr b="1" lang="en-US" sz="11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229" name=""/>
          <p:cNvSpPr/>
          <p:nvPr/>
        </p:nvSpPr>
        <p:spPr>
          <a:xfrm>
            <a:off x="8840880" y="1827000"/>
            <a:ext cx="140400" cy="360"/>
          </a:xfrm>
          <a:prstGeom prst="line">
            <a:avLst/>
          </a:prstGeom>
          <a:ln w="19800">
            <a:solidFill>
              <a:srgbClr val="1976d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720" rIns="99720" tIns="-54360" bIns="-543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"/>
          <p:cNvSpPr/>
          <p:nvPr/>
        </p:nvSpPr>
        <p:spPr>
          <a:xfrm>
            <a:off x="9002880" y="1584000"/>
            <a:ext cx="1266480" cy="486000"/>
          </a:xfrm>
          <a:prstGeom prst="roundRect">
            <a:avLst/>
          </a:prstGeom>
          <a:solidFill>
            <a:srgbClr val="eaf3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"/>
          <p:cNvSpPr txBox="1"/>
          <p:nvPr/>
        </p:nvSpPr>
        <p:spPr>
          <a:xfrm>
            <a:off x="9038880" y="1648800"/>
            <a:ext cx="119448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100" spc="-1" strike="noStrike">
                <a:solidFill>
                  <a:srgbClr val="10233f"/>
                </a:solidFill>
                <a:latin typeface="DejaVu Sans"/>
              </a:rPr>
              <a:t>GSM</a:t>
            </a:r>
            <a:endParaRPr b="1" lang="en-US" sz="11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232" name=""/>
          <p:cNvSpPr/>
          <p:nvPr/>
        </p:nvSpPr>
        <p:spPr>
          <a:xfrm>
            <a:off x="10269360" y="1827000"/>
            <a:ext cx="140400" cy="360"/>
          </a:xfrm>
          <a:prstGeom prst="line">
            <a:avLst/>
          </a:prstGeom>
          <a:ln w="19800">
            <a:solidFill>
              <a:srgbClr val="1976d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720" rIns="99720" tIns="-54360" bIns="-543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"/>
          <p:cNvSpPr/>
          <p:nvPr/>
        </p:nvSpPr>
        <p:spPr>
          <a:xfrm>
            <a:off x="10431360" y="1584000"/>
            <a:ext cx="1266480" cy="486000"/>
          </a:xfrm>
          <a:prstGeom prst="roundRect">
            <a:avLst/>
          </a:prstGeom>
          <a:solidFill>
            <a:srgbClr val="eaf3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10467360" y="1648800"/>
            <a:ext cx="119448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100" spc="-1" strike="noStrike">
                <a:solidFill>
                  <a:srgbClr val="10233f"/>
                </a:solidFill>
                <a:latin typeface="DejaVu Sans"/>
              </a:rPr>
              <a:t>Carrier</a:t>
            </a:r>
            <a:endParaRPr b="1" lang="en-US" sz="11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235" name=""/>
          <p:cNvSpPr/>
          <p:nvPr/>
        </p:nvSpPr>
        <p:spPr>
          <a:xfrm>
            <a:off x="900000" y="2772000"/>
            <a:ext cx="4608000" cy="1296000"/>
          </a:xfrm>
          <a:prstGeom prst="roundRect">
            <a:avLst/>
          </a:prstGeom>
          <a:solidFill>
            <a:srgbClr val="eaf3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"/>
          <p:cNvSpPr/>
          <p:nvPr/>
        </p:nvSpPr>
        <p:spPr>
          <a:xfrm>
            <a:off x="900000" y="2772000"/>
            <a:ext cx="50400" cy="1296000"/>
          </a:xfrm>
          <a:prstGeom prst="rect">
            <a:avLst/>
          </a:prstGeom>
          <a:solidFill>
            <a:srgbClr val="1976d2"/>
          </a:solidFill>
          <a:ln w="9000">
            <a:solidFill>
              <a:srgbClr val="1976d2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1062000" y="2880000"/>
            <a:ext cx="4338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600" spc="-1" strike="noStrike">
                <a:solidFill>
                  <a:srgbClr val="10233f"/>
                </a:solidFill>
                <a:latin typeface="DejaVu Sans"/>
              </a:rPr>
              <a:t>Synchronous path</a:t>
            </a:r>
            <a:endParaRPr b="1" lang="en-US" sz="1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1062000" y="3150000"/>
            <a:ext cx="4338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Request gửi OTP → provider chấp nhận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239" name=""/>
          <p:cNvSpPr/>
          <p:nvPr/>
        </p:nvSpPr>
        <p:spPr>
          <a:xfrm>
            <a:off x="6660000" y="2772000"/>
            <a:ext cx="4608000" cy="1296000"/>
          </a:xfrm>
          <a:prstGeom prst="roundRect">
            <a:avLst/>
          </a:prstGeom>
          <a:solidFill>
            <a:srgbClr val="fff3e7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"/>
          <p:cNvSpPr/>
          <p:nvPr/>
        </p:nvSpPr>
        <p:spPr>
          <a:xfrm>
            <a:off x="6660000" y="2772000"/>
            <a:ext cx="50400" cy="1296000"/>
          </a:xfrm>
          <a:prstGeom prst="rect">
            <a:avLst/>
          </a:prstGeom>
          <a:solidFill>
            <a:srgbClr val="ef6c00"/>
          </a:solidFill>
          <a:ln w="9000">
            <a:solidFill>
              <a:srgbClr val="ef6c00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6822000" y="2880000"/>
            <a:ext cx="4338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600" spc="-1" strike="noStrike">
                <a:solidFill>
                  <a:srgbClr val="10233f"/>
                </a:solidFill>
                <a:latin typeface="DejaVu Sans"/>
              </a:rPr>
              <a:t>Asynchronous delivery</a:t>
            </a:r>
            <a:endParaRPr b="1" lang="en-US" sz="1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242" name=""/>
          <p:cNvSpPr txBox="1"/>
          <p:nvPr/>
        </p:nvSpPr>
        <p:spPr>
          <a:xfrm>
            <a:off x="6822000" y="3150000"/>
            <a:ext cx="4338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Provider accepted → delivery receipt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243" name=""/>
          <p:cNvSpPr txBox="1"/>
          <p:nvPr/>
        </p:nvSpPr>
        <p:spPr>
          <a:xfrm>
            <a:off x="756000" y="4752000"/>
            <a:ext cx="1062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700" spc="-1" strike="noStrike">
                <a:solidFill>
                  <a:srgbClr val="c62828"/>
                </a:solidFill>
                <a:latin typeface="DejaVu Sans"/>
              </a:rPr>
              <a:t>International phone country không đồng nghĩa destination datacenter</a:t>
            </a:r>
            <a:endParaRPr b="1" lang="en-US" sz="1700" spc="-1" strike="noStrike">
              <a:solidFill>
                <a:srgbClr val="c62828"/>
              </a:solidFill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fffff"/>
          </a:solidFill>
          <a:ln w="9000">
            <a:solidFill>
              <a:srgbClr val="ffffff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"/>
          <p:cNvSpPr/>
          <p:nvPr/>
        </p:nvSpPr>
        <p:spPr>
          <a:xfrm>
            <a:off x="0" y="0"/>
            <a:ext cx="187200" cy="6858000"/>
          </a:xfrm>
          <a:prstGeom prst="rect">
            <a:avLst/>
          </a:prstGeom>
          <a:solidFill>
            <a:srgbClr val="1976d2"/>
          </a:solidFill>
          <a:ln w="9000">
            <a:solidFill>
              <a:srgbClr val="1976d2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" name=""/>
          <p:cNvSpPr txBox="1"/>
          <p:nvPr/>
        </p:nvSpPr>
        <p:spPr>
          <a:xfrm>
            <a:off x="450000" y="252000"/>
            <a:ext cx="104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100" spc="-1" strike="noStrike">
                <a:solidFill>
                  <a:srgbClr val="1976d2"/>
                </a:solidFill>
                <a:latin typeface="DejaVu Sans"/>
              </a:rPr>
              <a:t>V-ID OBSERVABILITY</a:t>
            </a:r>
            <a:endParaRPr b="1" lang="en-US" sz="1100" spc="-1" strike="noStrike">
              <a:solidFill>
                <a:srgbClr val="1976d2"/>
              </a:solidFill>
              <a:latin typeface="DejaVu Sans"/>
            </a:endParaRPr>
          </a:p>
        </p:txBody>
      </p:sp>
      <p:sp>
        <p:nvSpPr>
          <p:cNvPr id="247" name=""/>
          <p:cNvSpPr txBox="1"/>
          <p:nvPr/>
        </p:nvSpPr>
        <p:spPr>
          <a:xfrm>
            <a:off x="450000" y="450000"/>
            <a:ext cx="1098000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2600" spc="-1" strike="noStrike">
                <a:solidFill>
                  <a:srgbClr val="10233f"/>
                </a:solidFill>
                <a:latin typeface="DejaVu Sans"/>
              </a:rPr>
              <a:t>Chia OTP journey thành 7 stage</a:t>
            </a:r>
            <a:endParaRPr b="1" lang="en-US" sz="2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248" name=""/>
          <p:cNvSpPr/>
          <p:nvPr/>
        </p:nvSpPr>
        <p:spPr>
          <a:xfrm>
            <a:off x="450000" y="1026000"/>
            <a:ext cx="10782000" cy="360"/>
          </a:xfrm>
          <a:prstGeom prst="line">
            <a:avLst/>
          </a:prstGeom>
          <a:ln w="10800">
            <a:solidFill>
              <a:srgbClr val="d7de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rIns="95400" tIns="-50040" bIns="-500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"/>
          <p:cNvSpPr txBox="1"/>
          <p:nvPr/>
        </p:nvSpPr>
        <p:spPr>
          <a:xfrm>
            <a:off x="10980000" y="6516000"/>
            <a:ext cx="5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0" lang="en-US" sz="1000" spc="-1" strike="noStrike">
                <a:solidFill>
                  <a:srgbClr val="5d687a"/>
                </a:solidFill>
                <a:latin typeface="DejaVu Sans"/>
              </a:rPr>
              <a:t>10</a:t>
            </a:r>
            <a:endParaRPr b="0" lang="en-US" sz="10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250" name=""/>
          <p:cNvSpPr/>
          <p:nvPr/>
        </p:nvSpPr>
        <p:spPr>
          <a:xfrm>
            <a:off x="540000" y="1332000"/>
            <a:ext cx="2484000" cy="1080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666000" y="1422000"/>
            <a:ext cx="360000" cy="621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800" spc="-1" strike="noStrike">
                <a:solidFill>
                  <a:srgbClr val="1976d2"/>
                </a:solidFill>
                <a:latin typeface="DejaVu Sans"/>
              </a:rPr>
              <a:t>01</a:t>
            </a:r>
            <a:endParaRPr b="1" lang="en-US" sz="1800" spc="-1" strike="noStrike">
              <a:solidFill>
                <a:srgbClr val="1976d2"/>
              </a:solidFill>
              <a:latin typeface="DejaVu Sans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666000" y="1728000"/>
            <a:ext cx="2232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400" spc="-1" strike="noStrike">
                <a:solidFill>
                  <a:srgbClr val="10233f"/>
                </a:solidFill>
                <a:latin typeface="DejaVu Sans"/>
              </a:rPr>
              <a:t>edge_to_kong</a:t>
            </a:r>
            <a:endParaRPr b="1" lang="en-US" sz="14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253" name=""/>
          <p:cNvSpPr/>
          <p:nvPr/>
        </p:nvSpPr>
        <p:spPr>
          <a:xfrm>
            <a:off x="3384000" y="1332000"/>
            <a:ext cx="2484000" cy="1080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3510000" y="1422000"/>
            <a:ext cx="360000" cy="621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800" spc="-1" strike="noStrike">
                <a:solidFill>
                  <a:srgbClr val="1976d2"/>
                </a:solidFill>
                <a:latin typeface="DejaVu Sans"/>
              </a:rPr>
              <a:t>02</a:t>
            </a:r>
            <a:endParaRPr b="1" lang="en-US" sz="1800" spc="-1" strike="noStrike">
              <a:solidFill>
                <a:srgbClr val="1976d2"/>
              </a:solidFill>
              <a:latin typeface="DejaVu Sans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3510000" y="1728000"/>
            <a:ext cx="2232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400" spc="-1" strike="noStrike">
                <a:solidFill>
                  <a:srgbClr val="10233f"/>
                </a:solidFill>
                <a:latin typeface="DejaVu Sans"/>
              </a:rPr>
              <a:t>kong_to_idp</a:t>
            </a:r>
            <a:endParaRPr b="1" lang="en-US" sz="14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256" name=""/>
          <p:cNvSpPr/>
          <p:nvPr/>
        </p:nvSpPr>
        <p:spPr>
          <a:xfrm>
            <a:off x="6228000" y="1332000"/>
            <a:ext cx="2484000" cy="1080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6354000" y="1422000"/>
            <a:ext cx="360000" cy="621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800" spc="-1" strike="noStrike">
                <a:solidFill>
                  <a:srgbClr val="1976d2"/>
                </a:solidFill>
                <a:latin typeface="DejaVu Sans"/>
              </a:rPr>
              <a:t>03</a:t>
            </a:r>
            <a:endParaRPr b="1" lang="en-US" sz="1800" spc="-1" strike="noStrike">
              <a:solidFill>
                <a:srgbClr val="1976d2"/>
              </a:solidFill>
              <a:latin typeface="DejaVu Sans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6354000" y="1728000"/>
            <a:ext cx="2232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400" spc="-1" strike="noStrike">
                <a:solidFill>
                  <a:srgbClr val="10233f"/>
                </a:solidFill>
                <a:latin typeface="DejaVu Sans"/>
              </a:rPr>
              <a:t>redis_challenge</a:t>
            </a:r>
            <a:endParaRPr b="1" lang="en-US" sz="14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259" name=""/>
          <p:cNvSpPr/>
          <p:nvPr/>
        </p:nvSpPr>
        <p:spPr>
          <a:xfrm>
            <a:off x="9072000" y="1332000"/>
            <a:ext cx="2484000" cy="1080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"/>
          <p:cNvSpPr txBox="1"/>
          <p:nvPr/>
        </p:nvSpPr>
        <p:spPr>
          <a:xfrm>
            <a:off x="9198000" y="1422000"/>
            <a:ext cx="360000" cy="621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800" spc="-1" strike="noStrike">
                <a:solidFill>
                  <a:srgbClr val="1976d2"/>
                </a:solidFill>
                <a:latin typeface="DejaVu Sans"/>
              </a:rPr>
              <a:t>04</a:t>
            </a:r>
            <a:endParaRPr b="1" lang="en-US" sz="1800" spc="-1" strike="noStrike">
              <a:solidFill>
                <a:srgbClr val="1976d2"/>
              </a:solidFill>
              <a:latin typeface="DejaVu Sans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9198000" y="1728000"/>
            <a:ext cx="2232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400" spc="-1" strike="noStrike">
                <a:solidFill>
                  <a:srgbClr val="10233f"/>
                </a:solidFill>
                <a:latin typeface="DejaVu Sans"/>
              </a:rPr>
              <a:t>route_selection</a:t>
            </a:r>
            <a:endParaRPr b="1" lang="en-US" sz="14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262" name=""/>
          <p:cNvSpPr/>
          <p:nvPr/>
        </p:nvSpPr>
        <p:spPr>
          <a:xfrm>
            <a:off x="540000" y="2772000"/>
            <a:ext cx="2484000" cy="1080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"/>
          <p:cNvSpPr txBox="1"/>
          <p:nvPr/>
        </p:nvSpPr>
        <p:spPr>
          <a:xfrm>
            <a:off x="666000" y="2862000"/>
            <a:ext cx="360000" cy="621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800" spc="-1" strike="noStrike">
                <a:solidFill>
                  <a:srgbClr val="1976d2"/>
                </a:solidFill>
                <a:latin typeface="DejaVu Sans"/>
              </a:rPr>
              <a:t>05</a:t>
            </a:r>
            <a:endParaRPr b="1" lang="en-US" sz="1800" spc="-1" strike="noStrike">
              <a:solidFill>
                <a:srgbClr val="1976d2"/>
              </a:solidFill>
              <a:latin typeface="DejaVu Sans"/>
            </a:endParaRPr>
          </a:p>
        </p:txBody>
      </p:sp>
      <p:sp>
        <p:nvSpPr>
          <p:cNvPr id="264" name=""/>
          <p:cNvSpPr txBox="1"/>
          <p:nvPr/>
        </p:nvSpPr>
        <p:spPr>
          <a:xfrm>
            <a:off x="666000" y="3168000"/>
            <a:ext cx="2232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400" spc="-1" strike="noStrike">
                <a:solidFill>
                  <a:srgbClr val="10233f"/>
                </a:solidFill>
                <a:latin typeface="DejaVu Sans"/>
              </a:rPr>
              <a:t>queue_wait</a:t>
            </a:r>
            <a:endParaRPr b="1" lang="en-US" sz="14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265" name=""/>
          <p:cNvSpPr/>
          <p:nvPr/>
        </p:nvSpPr>
        <p:spPr>
          <a:xfrm>
            <a:off x="3384000" y="2772000"/>
            <a:ext cx="2484000" cy="1080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3510000" y="2862000"/>
            <a:ext cx="360000" cy="621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800" spc="-1" strike="noStrike">
                <a:solidFill>
                  <a:srgbClr val="1976d2"/>
                </a:solidFill>
                <a:latin typeface="DejaVu Sans"/>
              </a:rPr>
              <a:t>06</a:t>
            </a:r>
            <a:endParaRPr b="1" lang="en-US" sz="1800" spc="-1" strike="noStrike">
              <a:solidFill>
                <a:srgbClr val="1976d2"/>
              </a:solidFill>
              <a:latin typeface="DejaVu Sans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3510000" y="3168000"/>
            <a:ext cx="2232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400" spc="-1" strike="noStrike">
                <a:solidFill>
                  <a:srgbClr val="10233f"/>
                </a:solidFill>
                <a:latin typeface="DejaVu Sans"/>
              </a:rPr>
              <a:t>gsm_submit</a:t>
            </a:r>
            <a:endParaRPr b="1" lang="en-US" sz="14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268" name=""/>
          <p:cNvSpPr/>
          <p:nvPr/>
        </p:nvSpPr>
        <p:spPr>
          <a:xfrm>
            <a:off x="6228000" y="2772000"/>
            <a:ext cx="2484000" cy="1080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"/>
          <p:cNvSpPr txBox="1"/>
          <p:nvPr/>
        </p:nvSpPr>
        <p:spPr>
          <a:xfrm>
            <a:off x="6354000" y="2862000"/>
            <a:ext cx="360000" cy="621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800" spc="-1" strike="noStrike">
                <a:solidFill>
                  <a:srgbClr val="1976d2"/>
                </a:solidFill>
                <a:latin typeface="DejaVu Sans"/>
              </a:rPr>
              <a:t>07</a:t>
            </a:r>
            <a:endParaRPr b="1" lang="en-US" sz="1800" spc="-1" strike="noStrike">
              <a:solidFill>
                <a:srgbClr val="1976d2"/>
              </a:solidFill>
              <a:latin typeface="DejaVu Sans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6354000" y="3168000"/>
            <a:ext cx="2232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400" spc="-1" strike="noStrike">
                <a:solidFill>
                  <a:srgbClr val="10233f"/>
                </a:solidFill>
                <a:latin typeface="DejaVu Sans"/>
              </a:rPr>
              <a:t>carrier_delivery</a:t>
            </a:r>
            <a:endParaRPr b="1" lang="en-US" sz="14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271" name=""/>
          <p:cNvSpPr/>
          <p:nvPr/>
        </p:nvSpPr>
        <p:spPr>
          <a:xfrm>
            <a:off x="900000" y="4428000"/>
            <a:ext cx="10260000" cy="828000"/>
          </a:xfrm>
          <a:prstGeom prst="roundRect">
            <a:avLst/>
          </a:prstGeom>
          <a:solidFill>
            <a:srgbClr val="fff3e7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"/>
          <p:cNvSpPr/>
          <p:nvPr/>
        </p:nvSpPr>
        <p:spPr>
          <a:xfrm>
            <a:off x="900000" y="4428000"/>
            <a:ext cx="50400" cy="828000"/>
          </a:xfrm>
          <a:prstGeom prst="rect">
            <a:avLst/>
          </a:prstGeom>
          <a:solidFill>
            <a:srgbClr val="ef6c00"/>
          </a:solidFill>
          <a:ln w="9000">
            <a:solidFill>
              <a:srgbClr val="ef6c00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"/>
          <p:cNvSpPr txBox="1"/>
          <p:nvPr/>
        </p:nvSpPr>
        <p:spPr>
          <a:xfrm>
            <a:off x="1062000" y="4536000"/>
            <a:ext cx="999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600" spc="-1" strike="noStrike">
                <a:solidFill>
                  <a:srgbClr val="10233f"/>
                </a:solidFill>
                <a:latin typeface="DejaVu Sans"/>
              </a:rPr>
              <a:t>Terminal failure rule</a:t>
            </a:r>
            <a:endParaRPr b="1" lang="en-US" sz="1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274" name=""/>
          <p:cNvSpPr txBox="1"/>
          <p:nvPr/>
        </p:nvSpPr>
        <p:spPr>
          <a:xfrm>
            <a:off x="1062000" y="4806000"/>
            <a:ext cx="999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Stage lỗi được ghi nhận; journey dừng và không sinh stage phía sau.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fffff"/>
          </a:solidFill>
          <a:ln w="9000">
            <a:solidFill>
              <a:srgbClr val="ffffff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"/>
          <p:cNvSpPr/>
          <p:nvPr/>
        </p:nvSpPr>
        <p:spPr>
          <a:xfrm>
            <a:off x="0" y="0"/>
            <a:ext cx="187200" cy="6858000"/>
          </a:xfrm>
          <a:prstGeom prst="rect">
            <a:avLst/>
          </a:prstGeom>
          <a:solidFill>
            <a:srgbClr val="1976d2"/>
          </a:solidFill>
          <a:ln w="9000">
            <a:solidFill>
              <a:srgbClr val="1976d2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" name=""/>
          <p:cNvSpPr txBox="1"/>
          <p:nvPr/>
        </p:nvSpPr>
        <p:spPr>
          <a:xfrm>
            <a:off x="450000" y="252000"/>
            <a:ext cx="104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100" spc="-1" strike="noStrike">
                <a:solidFill>
                  <a:srgbClr val="1976d2"/>
                </a:solidFill>
                <a:latin typeface="DejaVu Sans"/>
              </a:rPr>
              <a:t>V-ID OBSERVABILITY</a:t>
            </a:r>
            <a:endParaRPr b="1" lang="en-US" sz="1100" spc="-1" strike="noStrike">
              <a:solidFill>
                <a:srgbClr val="1976d2"/>
              </a:solidFill>
              <a:latin typeface="DejaVu Sans"/>
            </a:endParaRPr>
          </a:p>
        </p:txBody>
      </p:sp>
      <p:sp>
        <p:nvSpPr>
          <p:cNvPr id="278" name=""/>
          <p:cNvSpPr txBox="1"/>
          <p:nvPr/>
        </p:nvSpPr>
        <p:spPr>
          <a:xfrm>
            <a:off x="450000" y="450000"/>
            <a:ext cx="1098000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2600" spc="-1" strike="noStrike">
                <a:solidFill>
                  <a:srgbClr val="10233f"/>
                </a:solidFill>
                <a:latin typeface="DejaVu Sans"/>
              </a:rPr>
              <a:t>Quy trình phát hiện bottleneck</a:t>
            </a:r>
            <a:endParaRPr b="1" lang="en-US" sz="2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279" name=""/>
          <p:cNvSpPr/>
          <p:nvPr/>
        </p:nvSpPr>
        <p:spPr>
          <a:xfrm>
            <a:off x="450000" y="1026000"/>
            <a:ext cx="10782000" cy="360"/>
          </a:xfrm>
          <a:prstGeom prst="line">
            <a:avLst/>
          </a:prstGeom>
          <a:ln w="10800">
            <a:solidFill>
              <a:srgbClr val="d7de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rIns="95400" tIns="-50040" bIns="-500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"/>
          <p:cNvSpPr txBox="1"/>
          <p:nvPr/>
        </p:nvSpPr>
        <p:spPr>
          <a:xfrm>
            <a:off x="10980000" y="6516000"/>
            <a:ext cx="5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0" lang="en-US" sz="1000" spc="-1" strike="noStrike">
                <a:solidFill>
                  <a:srgbClr val="5d687a"/>
                </a:solidFill>
                <a:latin typeface="DejaVu Sans"/>
              </a:rPr>
              <a:t>11</a:t>
            </a:r>
            <a:endParaRPr b="0" lang="en-US" sz="10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281" name=""/>
          <p:cNvSpPr/>
          <p:nvPr/>
        </p:nvSpPr>
        <p:spPr>
          <a:xfrm>
            <a:off x="432000" y="1656000"/>
            <a:ext cx="1748880" cy="486000"/>
          </a:xfrm>
          <a:prstGeom prst="roundRect">
            <a:avLst/>
          </a:prstGeom>
          <a:solidFill>
            <a:srgbClr val="eaf3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"/>
          <p:cNvSpPr txBox="1"/>
          <p:nvPr/>
        </p:nvSpPr>
        <p:spPr>
          <a:xfrm>
            <a:off x="468000" y="1720800"/>
            <a:ext cx="167688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100" spc="-1" strike="noStrike">
                <a:solidFill>
                  <a:srgbClr val="10233f"/>
                </a:solidFill>
                <a:latin typeface="DejaVu Sans"/>
              </a:rPr>
              <a:t>Symptom</a:t>
            </a:r>
            <a:endParaRPr b="1" lang="en-US" sz="11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283" name=""/>
          <p:cNvSpPr/>
          <p:nvPr/>
        </p:nvSpPr>
        <p:spPr>
          <a:xfrm>
            <a:off x="2180880" y="1899000"/>
            <a:ext cx="140400" cy="360"/>
          </a:xfrm>
          <a:prstGeom prst="line">
            <a:avLst/>
          </a:prstGeom>
          <a:ln w="19800">
            <a:solidFill>
              <a:srgbClr val="1976d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720" rIns="99720" tIns="-54360" bIns="-543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"/>
          <p:cNvSpPr/>
          <p:nvPr/>
        </p:nvSpPr>
        <p:spPr>
          <a:xfrm>
            <a:off x="2342880" y="1656000"/>
            <a:ext cx="1748880" cy="486000"/>
          </a:xfrm>
          <a:prstGeom prst="roundRect">
            <a:avLst/>
          </a:prstGeom>
          <a:solidFill>
            <a:srgbClr val="eaf3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"/>
          <p:cNvSpPr txBox="1"/>
          <p:nvPr/>
        </p:nvSpPr>
        <p:spPr>
          <a:xfrm>
            <a:off x="2378880" y="1720800"/>
            <a:ext cx="167688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100" spc="-1" strike="noStrike">
                <a:solidFill>
                  <a:srgbClr val="10233f"/>
                </a:solidFill>
                <a:latin typeface="DejaVu Sans"/>
              </a:rPr>
              <a:t>Filter scope</a:t>
            </a:r>
            <a:endParaRPr b="1" lang="en-US" sz="11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286" name=""/>
          <p:cNvSpPr/>
          <p:nvPr/>
        </p:nvSpPr>
        <p:spPr>
          <a:xfrm>
            <a:off x="4091760" y="1899000"/>
            <a:ext cx="140400" cy="360"/>
          </a:xfrm>
          <a:prstGeom prst="line">
            <a:avLst/>
          </a:prstGeom>
          <a:ln w="19800">
            <a:solidFill>
              <a:srgbClr val="1976d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720" rIns="99720" tIns="-54360" bIns="-543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"/>
          <p:cNvSpPr/>
          <p:nvPr/>
        </p:nvSpPr>
        <p:spPr>
          <a:xfrm>
            <a:off x="4253760" y="1656000"/>
            <a:ext cx="1748880" cy="486000"/>
          </a:xfrm>
          <a:prstGeom prst="roundRect">
            <a:avLst/>
          </a:prstGeom>
          <a:solidFill>
            <a:srgbClr val="eaf3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"/>
          <p:cNvSpPr txBox="1"/>
          <p:nvPr/>
        </p:nvSpPr>
        <p:spPr>
          <a:xfrm>
            <a:off x="4289760" y="1720800"/>
            <a:ext cx="167688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100" spc="-1" strike="noStrike">
                <a:solidFill>
                  <a:srgbClr val="10233f"/>
                </a:solidFill>
                <a:latin typeface="DejaVu Sans"/>
              </a:rPr>
              <a:t>Compare stages</a:t>
            </a:r>
            <a:endParaRPr b="1" lang="en-US" sz="11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289" name=""/>
          <p:cNvSpPr/>
          <p:nvPr/>
        </p:nvSpPr>
        <p:spPr>
          <a:xfrm>
            <a:off x="6002640" y="1899000"/>
            <a:ext cx="140400" cy="360"/>
          </a:xfrm>
          <a:prstGeom prst="line">
            <a:avLst/>
          </a:prstGeom>
          <a:ln w="19800">
            <a:solidFill>
              <a:srgbClr val="1976d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720" rIns="99720" tIns="-54360" bIns="-543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"/>
          <p:cNvSpPr/>
          <p:nvPr/>
        </p:nvSpPr>
        <p:spPr>
          <a:xfrm>
            <a:off x="6164640" y="1656000"/>
            <a:ext cx="1748880" cy="486000"/>
          </a:xfrm>
          <a:prstGeom prst="roundRect">
            <a:avLst/>
          </a:prstGeom>
          <a:solidFill>
            <a:srgbClr val="eaf3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"/>
          <p:cNvSpPr txBox="1"/>
          <p:nvPr/>
        </p:nvSpPr>
        <p:spPr>
          <a:xfrm>
            <a:off x="6200640" y="1720800"/>
            <a:ext cx="167688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100" spc="-1" strike="noStrike">
                <a:solidFill>
                  <a:srgbClr val="10233f"/>
                </a:solidFill>
                <a:latin typeface="DejaVu Sans"/>
              </a:rPr>
              <a:t>Check evidence</a:t>
            </a:r>
            <a:endParaRPr b="1" lang="en-US" sz="11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292" name=""/>
          <p:cNvSpPr/>
          <p:nvPr/>
        </p:nvSpPr>
        <p:spPr>
          <a:xfrm>
            <a:off x="7913520" y="1899000"/>
            <a:ext cx="140400" cy="360"/>
          </a:xfrm>
          <a:prstGeom prst="line">
            <a:avLst/>
          </a:prstGeom>
          <a:ln w="19800">
            <a:solidFill>
              <a:srgbClr val="1976d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720" rIns="99720" tIns="-54360" bIns="-543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"/>
          <p:cNvSpPr/>
          <p:nvPr/>
        </p:nvSpPr>
        <p:spPr>
          <a:xfrm>
            <a:off x="8075520" y="1656000"/>
            <a:ext cx="1748880" cy="486000"/>
          </a:xfrm>
          <a:prstGeom prst="roundRect">
            <a:avLst/>
          </a:prstGeom>
          <a:solidFill>
            <a:srgbClr val="eaf3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"/>
          <p:cNvSpPr txBox="1"/>
          <p:nvPr/>
        </p:nvSpPr>
        <p:spPr>
          <a:xfrm>
            <a:off x="8111520" y="1720800"/>
            <a:ext cx="167688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100" spc="-1" strike="noStrike">
                <a:solidFill>
                  <a:srgbClr val="10233f"/>
                </a:solidFill>
                <a:latin typeface="DejaVu Sans"/>
              </a:rPr>
              <a:t>Open trace</a:t>
            </a:r>
            <a:endParaRPr b="1" lang="en-US" sz="11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295" name=""/>
          <p:cNvSpPr/>
          <p:nvPr/>
        </p:nvSpPr>
        <p:spPr>
          <a:xfrm>
            <a:off x="9824400" y="1899000"/>
            <a:ext cx="140400" cy="360"/>
          </a:xfrm>
          <a:prstGeom prst="line">
            <a:avLst/>
          </a:prstGeom>
          <a:ln w="19800">
            <a:solidFill>
              <a:srgbClr val="1976d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720" rIns="99720" tIns="-54360" bIns="-543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"/>
          <p:cNvSpPr/>
          <p:nvPr/>
        </p:nvSpPr>
        <p:spPr>
          <a:xfrm>
            <a:off x="9986400" y="1656000"/>
            <a:ext cx="1748880" cy="486000"/>
          </a:xfrm>
          <a:prstGeom prst="roundRect">
            <a:avLst/>
          </a:prstGeom>
          <a:solidFill>
            <a:srgbClr val="eaf3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"/>
          <p:cNvSpPr txBox="1"/>
          <p:nvPr/>
        </p:nvSpPr>
        <p:spPr>
          <a:xfrm>
            <a:off x="10022400" y="1720800"/>
            <a:ext cx="167688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100" spc="-1" strike="noStrike">
                <a:solidFill>
                  <a:srgbClr val="10233f"/>
                </a:solidFill>
                <a:latin typeface="DejaVu Sans"/>
              </a:rPr>
              <a:t>Assign owner</a:t>
            </a:r>
            <a:endParaRPr b="1" lang="en-US" sz="11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298" name=""/>
          <p:cNvSpPr/>
          <p:nvPr/>
        </p:nvSpPr>
        <p:spPr>
          <a:xfrm>
            <a:off x="900000" y="2880000"/>
            <a:ext cx="4680000" cy="1368000"/>
          </a:xfrm>
          <a:prstGeom prst="roundRect">
            <a:avLst/>
          </a:prstGeom>
          <a:solidFill>
            <a:srgbClr val="eaf3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"/>
          <p:cNvSpPr/>
          <p:nvPr/>
        </p:nvSpPr>
        <p:spPr>
          <a:xfrm>
            <a:off x="900000" y="2880000"/>
            <a:ext cx="50400" cy="1368000"/>
          </a:xfrm>
          <a:prstGeom prst="rect">
            <a:avLst/>
          </a:prstGeom>
          <a:solidFill>
            <a:srgbClr val="1976d2"/>
          </a:solidFill>
          <a:ln w="9000">
            <a:solidFill>
              <a:srgbClr val="1976d2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" name=""/>
          <p:cNvSpPr txBox="1"/>
          <p:nvPr/>
        </p:nvSpPr>
        <p:spPr>
          <a:xfrm>
            <a:off x="1062000" y="2988000"/>
            <a:ext cx="441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600" spc="-1" strike="noStrike">
                <a:solidFill>
                  <a:srgbClr val="10233f"/>
                </a:solidFill>
                <a:latin typeface="DejaVu Sans"/>
              </a:rPr>
              <a:t>Metrics evidence</a:t>
            </a:r>
            <a:endParaRPr b="1" lang="en-US" sz="1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301" name=""/>
          <p:cNvSpPr txBox="1"/>
          <p:nvPr/>
        </p:nvSpPr>
        <p:spPr>
          <a:xfrm>
            <a:off x="1062000" y="3258000"/>
            <a:ext cx="4410000" cy="626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Stage p95 + error ratio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Throughput + queue depth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Failure reason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302" name=""/>
          <p:cNvSpPr/>
          <p:nvPr/>
        </p:nvSpPr>
        <p:spPr>
          <a:xfrm>
            <a:off x="6588000" y="2880000"/>
            <a:ext cx="4680000" cy="1368000"/>
          </a:xfrm>
          <a:prstGeom prst="roundRect">
            <a:avLst/>
          </a:prstGeom>
          <a:solidFill>
            <a:srgbClr val="eaf7e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"/>
          <p:cNvSpPr/>
          <p:nvPr/>
        </p:nvSpPr>
        <p:spPr>
          <a:xfrm>
            <a:off x="6588000" y="2880000"/>
            <a:ext cx="50400" cy="1368000"/>
          </a:xfrm>
          <a:prstGeom prst="rect">
            <a:avLst/>
          </a:prstGeom>
          <a:solidFill>
            <a:srgbClr val="2e7d32"/>
          </a:solidFill>
          <a:ln w="9000">
            <a:solidFill>
              <a:srgbClr val="2e7d32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"/>
          <p:cNvSpPr txBox="1"/>
          <p:nvPr/>
        </p:nvSpPr>
        <p:spPr>
          <a:xfrm>
            <a:off x="6750000" y="2988000"/>
            <a:ext cx="441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600" spc="-1" strike="noStrike">
                <a:solidFill>
                  <a:srgbClr val="10233f"/>
                </a:solidFill>
                <a:latin typeface="DejaVu Sans"/>
              </a:rPr>
              <a:t>Trace evidence</a:t>
            </a:r>
            <a:endParaRPr b="1" lang="en-US" sz="1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305" name=""/>
          <p:cNvSpPr txBox="1"/>
          <p:nvPr/>
        </p:nvSpPr>
        <p:spPr>
          <a:xfrm>
            <a:off x="6750000" y="3258000"/>
            <a:ext cx="4410000" cy="626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Waterfall duration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First failed span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Repeated pattern across samples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306" name=""/>
          <p:cNvSpPr txBox="1"/>
          <p:nvPr/>
        </p:nvSpPr>
        <p:spPr>
          <a:xfrm>
            <a:off x="900000" y="4752000"/>
            <a:ext cx="10368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700" spc="-1" strike="noStrike">
                <a:solidFill>
                  <a:srgbClr val="c62828"/>
                </a:solidFill>
                <a:latin typeface="DejaVu Sans"/>
              </a:rPr>
              <a:t>Kết luận khi có ít nhất 2 tín hiệu đồng thuận</a:t>
            </a:r>
            <a:endParaRPr b="1" lang="en-US" sz="1700" spc="-1" strike="noStrike">
              <a:solidFill>
                <a:srgbClr val="c62828"/>
              </a:solidFill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fffff"/>
          </a:solidFill>
          <a:ln w="9000">
            <a:solidFill>
              <a:srgbClr val="ffffff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"/>
          <p:cNvSpPr/>
          <p:nvPr/>
        </p:nvSpPr>
        <p:spPr>
          <a:xfrm>
            <a:off x="0" y="0"/>
            <a:ext cx="187200" cy="6858000"/>
          </a:xfrm>
          <a:prstGeom prst="rect">
            <a:avLst/>
          </a:prstGeom>
          <a:solidFill>
            <a:srgbClr val="1976d2"/>
          </a:solidFill>
          <a:ln w="9000">
            <a:solidFill>
              <a:srgbClr val="1976d2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" name=""/>
          <p:cNvSpPr txBox="1"/>
          <p:nvPr/>
        </p:nvSpPr>
        <p:spPr>
          <a:xfrm>
            <a:off x="450000" y="252000"/>
            <a:ext cx="104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100" spc="-1" strike="noStrike">
                <a:solidFill>
                  <a:srgbClr val="1976d2"/>
                </a:solidFill>
                <a:latin typeface="DejaVu Sans"/>
              </a:rPr>
              <a:t>V-ID OBSERVABILITY</a:t>
            </a:r>
            <a:endParaRPr b="1" lang="en-US" sz="1100" spc="-1" strike="noStrike">
              <a:solidFill>
                <a:srgbClr val="1976d2"/>
              </a:solidFill>
              <a:latin typeface="DejaVu Sans"/>
            </a:endParaRPr>
          </a:p>
        </p:txBody>
      </p:sp>
      <p:sp>
        <p:nvSpPr>
          <p:cNvPr id="310" name=""/>
          <p:cNvSpPr txBox="1"/>
          <p:nvPr/>
        </p:nvSpPr>
        <p:spPr>
          <a:xfrm>
            <a:off x="450000" y="450000"/>
            <a:ext cx="1098000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2600" spc="-1" strike="noStrike">
                <a:solidFill>
                  <a:srgbClr val="10233f"/>
                </a:solidFill>
                <a:latin typeface="DejaVu Sans"/>
              </a:rPr>
              <a:t>Ví dụ trace waterfall — carrier bottleneck</a:t>
            </a:r>
            <a:endParaRPr b="1" lang="en-US" sz="2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311" name=""/>
          <p:cNvSpPr/>
          <p:nvPr/>
        </p:nvSpPr>
        <p:spPr>
          <a:xfrm>
            <a:off x="450000" y="1026000"/>
            <a:ext cx="10782000" cy="360"/>
          </a:xfrm>
          <a:prstGeom prst="line">
            <a:avLst/>
          </a:prstGeom>
          <a:ln w="10800">
            <a:solidFill>
              <a:srgbClr val="d7de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rIns="95400" tIns="-50040" bIns="-500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"/>
          <p:cNvSpPr txBox="1"/>
          <p:nvPr/>
        </p:nvSpPr>
        <p:spPr>
          <a:xfrm>
            <a:off x="10980000" y="6516000"/>
            <a:ext cx="5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0" lang="en-US" sz="1000" spc="-1" strike="noStrike">
                <a:solidFill>
                  <a:srgbClr val="5d687a"/>
                </a:solidFill>
                <a:latin typeface="DejaVu Sans"/>
              </a:rPr>
              <a:t>12</a:t>
            </a:r>
            <a:endParaRPr b="0" lang="en-US" sz="10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313" name=""/>
          <p:cNvSpPr txBox="1"/>
          <p:nvPr/>
        </p:nvSpPr>
        <p:spPr>
          <a:xfrm>
            <a:off x="540000" y="1224000"/>
            <a:ext cx="23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200" spc="-1" strike="noStrike">
                <a:solidFill>
                  <a:srgbClr val="172033"/>
                </a:solidFill>
                <a:latin typeface="DejaVu Sans"/>
              </a:rPr>
              <a:t>edge_to_kong</a:t>
            </a:r>
            <a:endParaRPr b="0" lang="en-US" sz="1200" spc="-1" strike="noStrike">
              <a:solidFill>
                <a:srgbClr val="172033"/>
              </a:solidFill>
              <a:latin typeface="DejaVu Sans"/>
            </a:endParaRPr>
          </a:p>
        </p:txBody>
      </p:sp>
      <p:sp>
        <p:nvSpPr>
          <p:cNvPr id="314" name=""/>
          <p:cNvSpPr/>
          <p:nvPr/>
        </p:nvSpPr>
        <p:spPr>
          <a:xfrm>
            <a:off x="2952000" y="1224000"/>
            <a:ext cx="43200" cy="252000"/>
          </a:xfrm>
          <a:prstGeom prst="rect">
            <a:avLst/>
          </a:prstGeom>
          <a:solidFill>
            <a:srgbClr val="1976d2"/>
          </a:solidFill>
          <a:ln w="9000">
            <a:solidFill>
              <a:srgbClr val="1976d2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" name=""/>
          <p:cNvSpPr txBox="1"/>
          <p:nvPr/>
        </p:nvSpPr>
        <p:spPr>
          <a:xfrm>
            <a:off x="10656000" y="1224000"/>
            <a:ext cx="828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200" spc="-1" strike="noStrike">
                <a:solidFill>
                  <a:srgbClr val="5d687a"/>
                </a:solidFill>
                <a:latin typeface="DejaVu Sans"/>
              </a:rPr>
              <a:t>0.02 s</a:t>
            </a:r>
            <a:endParaRPr b="1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316" name=""/>
          <p:cNvSpPr txBox="1"/>
          <p:nvPr/>
        </p:nvSpPr>
        <p:spPr>
          <a:xfrm>
            <a:off x="540000" y="1764000"/>
            <a:ext cx="23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200" spc="-1" strike="noStrike">
                <a:solidFill>
                  <a:srgbClr val="172033"/>
                </a:solidFill>
                <a:latin typeface="DejaVu Sans"/>
              </a:rPr>
              <a:t>kong_to_idp</a:t>
            </a:r>
            <a:endParaRPr b="0" lang="en-US" sz="1200" spc="-1" strike="noStrike">
              <a:solidFill>
                <a:srgbClr val="172033"/>
              </a:solidFill>
              <a:latin typeface="DejaVu Sans"/>
            </a:endParaRPr>
          </a:p>
        </p:txBody>
      </p:sp>
      <p:sp>
        <p:nvSpPr>
          <p:cNvPr id="317" name=""/>
          <p:cNvSpPr/>
          <p:nvPr/>
        </p:nvSpPr>
        <p:spPr>
          <a:xfrm>
            <a:off x="2952000" y="1764000"/>
            <a:ext cx="43200" cy="252000"/>
          </a:xfrm>
          <a:prstGeom prst="rect">
            <a:avLst/>
          </a:prstGeom>
          <a:solidFill>
            <a:srgbClr val="1976d2"/>
          </a:solidFill>
          <a:ln w="9000">
            <a:solidFill>
              <a:srgbClr val="1976d2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8" name=""/>
          <p:cNvSpPr txBox="1"/>
          <p:nvPr/>
        </p:nvSpPr>
        <p:spPr>
          <a:xfrm>
            <a:off x="10656000" y="1764000"/>
            <a:ext cx="828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200" spc="-1" strike="noStrike">
                <a:solidFill>
                  <a:srgbClr val="5d687a"/>
                </a:solidFill>
                <a:latin typeface="DejaVu Sans"/>
              </a:rPr>
              <a:t>0.05 s</a:t>
            </a:r>
            <a:endParaRPr b="1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319" name=""/>
          <p:cNvSpPr txBox="1"/>
          <p:nvPr/>
        </p:nvSpPr>
        <p:spPr>
          <a:xfrm>
            <a:off x="540000" y="2304000"/>
            <a:ext cx="23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200" spc="-1" strike="noStrike">
                <a:solidFill>
                  <a:srgbClr val="172033"/>
                </a:solidFill>
                <a:latin typeface="DejaVu Sans"/>
              </a:rPr>
              <a:t>redis_challenge</a:t>
            </a:r>
            <a:endParaRPr b="0" lang="en-US" sz="1200" spc="-1" strike="noStrike">
              <a:solidFill>
                <a:srgbClr val="172033"/>
              </a:solidFill>
              <a:latin typeface="DejaVu Sans"/>
            </a:endParaRPr>
          </a:p>
        </p:txBody>
      </p:sp>
      <p:sp>
        <p:nvSpPr>
          <p:cNvPr id="320" name=""/>
          <p:cNvSpPr/>
          <p:nvPr/>
        </p:nvSpPr>
        <p:spPr>
          <a:xfrm>
            <a:off x="2952000" y="2304000"/>
            <a:ext cx="43200" cy="252000"/>
          </a:xfrm>
          <a:prstGeom prst="rect">
            <a:avLst/>
          </a:prstGeom>
          <a:solidFill>
            <a:srgbClr val="1976d2"/>
          </a:solidFill>
          <a:ln w="9000">
            <a:solidFill>
              <a:srgbClr val="1976d2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" name=""/>
          <p:cNvSpPr txBox="1"/>
          <p:nvPr/>
        </p:nvSpPr>
        <p:spPr>
          <a:xfrm>
            <a:off x="10656000" y="2304000"/>
            <a:ext cx="828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200" spc="-1" strike="noStrike">
                <a:solidFill>
                  <a:srgbClr val="5d687a"/>
                </a:solidFill>
                <a:latin typeface="DejaVu Sans"/>
              </a:rPr>
              <a:t>0.01 s</a:t>
            </a:r>
            <a:endParaRPr b="1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322" name=""/>
          <p:cNvSpPr txBox="1"/>
          <p:nvPr/>
        </p:nvSpPr>
        <p:spPr>
          <a:xfrm>
            <a:off x="540000" y="2844000"/>
            <a:ext cx="23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200" spc="-1" strike="noStrike">
                <a:solidFill>
                  <a:srgbClr val="172033"/>
                </a:solidFill>
                <a:latin typeface="DejaVu Sans"/>
              </a:rPr>
              <a:t>route_selection</a:t>
            </a:r>
            <a:endParaRPr b="0" lang="en-US" sz="1200" spc="-1" strike="noStrike">
              <a:solidFill>
                <a:srgbClr val="172033"/>
              </a:solidFill>
              <a:latin typeface="DejaVu Sans"/>
            </a:endParaRPr>
          </a:p>
        </p:txBody>
      </p:sp>
      <p:sp>
        <p:nvSpPr>
          <p:cNvPr id="323" name=""/>
          <p:cNvSpPr/>
          <p:nvPr/>
        </p:nvSpPr>
        <p:spPr>
          <a:xfrm>
            <a:off x="2952000" y="2844000"/>
            <a:ext cx="43200" cy="252000"/>
          </a:xfrm>
          <a:prstGeom prst="rect">
            <a:avLst/>
          </a:prstGeom>
          <a:solidFill>
            <a:srgbClr val="1976d2"/>
          </a:solidFill>
          <a:ln w="9000">
            <a:solidFill>
              <a:srgbClr val="1976d2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4" name=""/>
          <p:cNvSpPr txBox="1"/>
          <p:nvPr/>
        </p:nvSpPr>
        <p:spPr>
          <a:xfrm>
            <a:off x="10656000" y="2844000"/>
            <a:ext cx="828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200" spc="-1" strike="noStrike">
                <a:solidFill>
                  <a:srgbClr val="5d687a"/>
                </a:solidFill>
                <a:latin typeface="DejaVu Sans"/>
              </a:rPr>
              <a:t>0.004 s</a:t>
            </a:r>
            <a:endParaRPr b="1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325" name=""/>
          <p:cNvSpPr txBox="1"/>
          <p:nvPr/>
        </p:nvSpPr>
        <p:spPr>
          <a:xfrm>
            <a:off x="540000" y="3384000"/>
            <a:ext cx="23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200" spc="-1" strike="noStrike">
                <a:solidFill>
                  <a:srgbClr val="172033"/>
                </a:solidFill>
                <a:latin typeface="DejaVu Sans"/>
              </a:rPr>
              <a:t>queue_wait</a:t>
            </a:r>
            <a:endParaRPr b="0" lang="en-US" sz="1200" spc="-1" strike="noStrike">
              <a:solidFill>
                <a:srgbClr val="172033"/>
              </a:solidFill>
              <a:latin typeface="DejaVu Sans"/>
            </a:endParaRPr>
          </a:p>
        </p:txBody>
      </p:sp>
      <p:sp>
        <p:nvSpPr>
          <p:cNvPr id="326" name=""/>
          <p:cNvSpPr/>
          <p:nvPr/>
        </p:nvSpPr>
        <p:spPr>
          <a:xfrm>
            <a:off x="2952000" y="3384000"/>
            <a:ext cx="44280" cy="252000"/>
          </a:xfrm>
          <a:prstGeom prst="rect">
            <a:avLst/>
          </a:prstGeom>
          <a:solidFill>
            <a:srgbClr val="1976d2"/>
          </a:solidFill>
          <a:ln w="9000">
            <a:solidFill>
              <a:srgbClr val="1976d2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7" name=""/>
          <p:cNvSpPr txBox="1"/>
          <p:nvPr/>
        </p:nvSpPr>
        <p:spPr>
          <a:xfrm>
            <a:off x="10656000" y="3384000"/>
            <a:ext cx="828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200" spc="-1" strike="noStrike">
                <a:solidFill>
                  <a:srgbClr val="5d687a"/>
                </a:solidFill>
                <a:latin typeface="DejaVu Sans"/>
              </a:rPr>
              <a:t>0.07 s</a:t>
            </a:r>
            <a:endParaRPr b="1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328" name=""/>
          <p:cNvSpPr txBox="1"/>
          <p:nvPr/>
        </p:nvSpPr>
        <p:spPr>
          <a:xfrm>
            <a:off x="540000" y="3924000"/>
            <a:ext cx="23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200" spc="-1" strike="noStrike">
                <a:solidFill>
                  <a:srgbClr val="172033"/>
                </a:solidFill>
                <a:latin typeface="DejaVu Sans"/>
              </a:rPr>
              <a:t>gsm_submit</a:t>
            </a:r>
            <a:endParaRPr b="0" lang="en-US" sz="1200" spc="-1" strike="noStrike">
              <a:solidFill>
                <a:srgbClr val="172033"/>
              </a:solidFill>
              <a:latin typeface="DejaVu Sans"/>
            </a:endParaRPr>
          </a:p>
        </p:txBody>
      </p:sp>
      <p:sp>
        <p:nvSpPr>
          <p:cNvPr id="329" name=""/>
          <p:cNvSpPr/>
          <p:nvPr/>
        </p:nvSpPr>
        <p:spPr>
          <a:xfrm>
            <a:off x="2952000" y="3924000"/>
            <a:ext cx="215640" cy="252000"/>
          </a:xfrm>
          <a:prstGeom prst="rect">
            <a:avLst/>
          </a:prstGeom>
          <a:solidFill>
            <a:srgbClr val="1976d2"/>
          </a:solidFill>
          <a:ln w="9000">
            <a:solidFill>
              <a:srgbClr val="1976d2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" name=""/>
          <p:cNvSpPr txBox="1"/>
          <p:nvPr/>
        </p:nvSpPr>
        <p:spPr>
          <a:xfrm>
            <a:off x="10656000" y="3924000"/>
            <a:ext cx="828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200" spc="-1" strike="noStrike">
                <a:solidFill>
                  <a:srgbClr val="5d687a"/>
                </a:solidFill>
                <a:latin typeface="DejaVu Sans"/>
              </a:rPr>
              <a:t>0.34 s</a:t>
            </a:r>
            <a:endParaRPr b="1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331" name=""/>
          <p:cNvSpPr txBox="1"/>
          <p:nvPr/>
        </p:nvSpPr>
        <p:spPr>
          <a:xfrm>
            <a:off x="540000" y="4464000"/>
            <a:ext cx="23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200" spc="-1" strike="noStrike">
                <a:solidFill>
                  <a:srgbClr val="172033"/>
                </a:solidFill>
                <a:latin typeface="DejaVu Sans"/>
              </a:rPr>
              <a:t>carrier_delivery</a:t>
            </a:r>
            <a:endParaRPr b="1" lang="en-US" sz="1200" spc="-1" strike="noStrike">
              <a:solidFill>
                <a:srgbClr val="172033"/>
              </a:solidFill>
              <a:latin typeface="DejaVu Sans"/>
            </a:endParaRPr>
          </a:p>
        </p:txBody>
      </p:sp>
      <p:sp>
        <p:nvSpPr>
          <p:cNvPr id="332" name=""/>
          <p:cNvSpPr/>
          <p:nvPr/>
        </p:nvSpPr>
        <p:spPr>
          <a:xfrm>
            <a:off x="2952000" y="4464000"/>
            <a:ext cx="7560000" cy="252000"/>
          </a:xfrm>
          <a:prstGeom prst="rect">
            <a:avLst/>
          </a:prstGeom>
          <a:solidFill>
            <a:srgbClr val="ef6c00"/>
          </a:solidFill>
          <a:ln w="9000">
            <a:solidFill>
              <a:srgbClr val="ef6c00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3" name=""/>
          <p:cNvSpPr txBox="1"/>
          <p:nvPr/>
        </p:nvSpPr>
        <p:spPr>
          <a:xfrm>
            <a:off x="10656000" y="4464000"/>
            <a:ext cx="828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200" spc="-1" strike="noStrike">
                <a:solidFill>
                  <a:srgbClr val="ef6c00"/>
                </a:solidFill>
                <a:latin typeface="DejaVu Sans"/>
              </a:rPr>
              <a:t>11.91 s</a:t>
            </a:r>
            <a:endParaRPr b="1" lang="en-US" sz="1200" spc="-1" strike="noStrike">
              <a:solidFill>
                <a:srgbClr val="ef6c00"/>
              </a:solidFill>
              <a:latin typeface="DejaVu Sans"/>
            </a:endParaRPr>
          </a:p>
        </p:txBody>
      </p:sp>
      <p:sp>
        <p:nvSpPr>
          <p:cNvPr id="334" name=""/>
          <p:cNvSpPr/>
          <p:nvPr/>
        </p:nvSpPr>
        <p:spPr>
          <a:xfrm>
            <a:off x="6840000" y="5256000"/>
            <a:ext cx="4500000" cy="684000"/>
          </a:xfrm>
          <a:prstGeom prst="roundRect">
            <a:avLst/>
          </a:prstGeom>
          <a:solidFill>
            <a:srgbClr val="fff3e7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"/>
          <p:cNvSpPr/>
          <p:nvPr/>
        </p:nvSpPr>
        <p:spPr>
          <a:xfrm>
            <a:off x="6840000" y="5256000"/>
            <a:ext cx="50400" cy="684000"/>
          </a:xfrm>
          <a:prstGeom prst="rect">
            <a:avLst/>
          </a:prstGeom>
          <a:solidFill>
            <a:srgbClr val="ef6c00"/>
          </a:solidFill>
          <a:ln w="9000">
            <a:solidFill>
              <a:srgbClr val="ef6c00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6" name=""/>
          <p:cNvSpPr txBox="1"/>
          <p:nvPr/>
        </p:nvSpPr>
        <p:spPr>
          <a:xfrm>
            <a:off x="7002000" y="5364000"/>
            <a:ext cx="423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600" spc="-1" strike="noStrike">
                <a:solidFill>
                  <a:srgbClr val="10233f"/>
                </a:solidFill>
                <a:latin typeface="DejaVu Sans"/>
              </a:rPr>
              <a:t>Kết luận</a:t>
            </a:r>
            <a:endParaRPr b="1" lang="en-US" sz="1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337" name=""/>
          <p:cNvSpPr txBox="1"/>
          <p:nvPr/>
        </p:nvSpPr>
        <p:spPr>
          <a:xfrm>
            <a:off x="7002000" y="5634000"/>
            <a:ext cx="4230000" cy="447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Carrier chiếm ~96% tổng latency → chuyển đúng provider owner.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fffff"/>
          </a:solidFill>
          <a:ln w="9000">
            <a:solidFill>
              <a:srgbClr val="ffffff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"/>
          <p:cNvSpPr/>
          <p:nvPr/>
        </p:nvSpPr>
        <p:spPr>
          <a:xfrm>
            <a:off x="0" y="0"/>
            <a:ext cx="187200" cy="6858000"/>
          </a:xfrm>
          <a:prstGeom prst="rect">
            <a:avLst/>
          </a:prstGeom>
          <a:solidFill>
            <a:srgbClr val="1976d2"/>
          </a:solidFill>
          <a:ln w="9000">
            <a:solidFill>
              <a:srgbClr val="1976d2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0" name=""/>
          <p:cNvSpPr txBox="1"/>
          <p:nvPr/>
        </p:nvSpPr>
        <p:spPr>
          <a:xfrm>
            <a:off x="450000" y="252000"/>
            <a:ext cx="104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100" spc="-1" strike="noStrike">
                <a:solidFill>
                  <a:srgbClr val="1976d2"/>
                </a:solidFill>
                <a:latin typeface="DejaVu Sans"/>
              </a:rPr>
              <a:t>V-ID OBSERVABILITY</a:t>
            </a:r>
            <a:endParaRPr b="1" lang="en-US" sz="1100" spc="-1" strike="noStrike">
              <a:solidFill>
                <a:srgbClr val="1976d2"/>
              </a:solidFill>
              <a:latin typeface="DejaVu Sans"/>
            </a:endParaRPr>
          </a:p>
        </p:txBody>
      </p:sp>
      <p:sp>
        <p:nvSpPr>
          <p:cNvPr id="341" name=""/>
          <p:cNvSpPr txBox="1"/>
          <p:nvPr/>
        </p:nvSpPr>
        <p:spPr>
          <a:xfrm>
            <a:off x="450000" y="450000"/>
            <a:ext cx="1098000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2600" spc="-1" strike="noStrike">
                <a:solidFill>
                  <a:srgbClr val="10233f"/>
                </a:solidFill>
                <a:latin typeface="DejaVu Sans"/>
              </a:rPr>
              <a:t>Kịch bản demo trực tiếp</a:t>
            </a:r>
            <a:endParaRPr b="1" lang="en-US" sz="2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342" name=""/>
          <p:cNvSpPr/>
          <p:nvPr/>
        </p:nvSpPr>
        <p:spPr>
          <a:xfrm>
            <a:off x="450000" y="1026000"/>
            <a:ext cx="10782000" cy="360"/>
          </a:xfrm>
          <a:prstGeom prst="line">
            <a:avLst/>
          </a:prstGeom>
          <a:ln w="10800">
            <a:solidFill>
              <a:srgbClr val="d7de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rIns="95400" tIns="-50040" bIns="-500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"/>
          <p:cNvSpPr txBox="1"/>
          <p:nvPr/>
        </p:nvSpPr>
        <p:spPr>
          <a:xfrm>
            <a:off x="10980000" y="6516000"/>
            <a:ext cx="5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0" lang="en-US" sz="1000" spc="-1" strike="noStrike">
                <a:solidFill>
                  <a:srgbClr val="5d687a"/>
                </a:solidFill>
                <a:latin typeface="DejaVu Sans"/>
              </a:rPr>
              <a:t>13</a:t>
            </a:r>
            <a:endParaRPr b="0" lang="en-US" sz="10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344" name=""/>
          <p:cNvSpPr/>
          <p:nvPr/>
        </p:nvSpPr>
        <p:spPr>
          <a:xfrm>
            <a:off x="432000" y="1656000"/>
            <a:ext cx="1748880" cy="486000"/>
          </a:xfrm>
          <a:prstGeom prst="roundRect">
            <a:avLst/>
          </a:prstGeom>
          <a:solidFill>
            <a:srgbClr val="eaf7e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"/>
          <p:cNvSpPr txBox="1"/>
          <p:nvPr/>
        </p:nvSpPr>
        <p:spPr>
          <a:xfrm>
            <a:off x="468000" y="1720800"/>
            <a:ext cx="167688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100" spc="-1" strike="noStrike">
                <a:solidFill>
                  <a:srgbClr val="10233f"/>
                </a:solidFill>
                <a:latin typeface="DejaVu Sans"/>
              </a:rPr>
              <a:t>Baseline</a:t>
            </a:r>
            <a:endParaRPr b="1" lang="en-US" sz="11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346" name=""/>
          <p:cNvSpPr/>
          <p:nvPr/>
        </p:nvSpPr>
        <p:spPr>
          <a:xfrm>
            <a:off x="2180880" y="1899000"/>
            <a:ext cx="140400" cy="360"/>
          </a:xfrm>
          <a:prstGeom prst="line">
            <a:avLst/>
          </a:prstGeom>
          <a:ln w="19800">
            <a:solidFill>
              <a:srgbClr val="1976d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720" rIns="99720" tIns="-54360" bIns="-543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"/>
          <p:cNvSpPr/>
          <p:nvPr/>
        </p:nvSpPr>
        <p:spPr>
          <a:xfrm>
            <a:off x="2342880" y="1656000"/>
            <a:ext cx="1748880" cy="486000"/>
          </a:xfrm>
          <a:prstGeom prst="roundRect">
            <a:avLst/>
          </a:prstGeom>
          <a:solidFill>
            <a:srgbClr val="eaf7e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"/>
          <p:cNvSpPr txBox="1"/>
          <p:nvPr/>
        </p:nvSpPr>
        <p:spPr>
          <a:xfrm>
            <a:off x="2378880" y="1720800"/>
            <a:ext cx="167688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100" spc="-1" strike="noStrike">
                <a:solidFill>
                  <a:srgbClr val="10233f"/>
                </a:solidFill>
                <a:latin typeface="DejaVu Sans"/>
              </a:rPr>
              <a:t>Trigger ID carrier</a:t>
            </a:r>
            <a:endParaRPr b="1" lang="en-US" sz="11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349" name=""/>
          <p:cNvSpPr/>
          <p:nvPr/>
        </p:nvSpPr>
        <p:spPr>
          <a:xfrm>
            <a:off x="4091760" y="1899000"/>
            <a:ext cx="140400" cy="360"/>
          </a:xfrm>
          <a:prstGeom prst="line">
            <a:avLst/>
          </a:prstGeom>
          <a:ln w="19800">
            <a:solidFill>
              <a:srgbClr val="1976d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720" rIns="99720" tIns="-54360" bIns="-543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"/>
          <p:cNvSpPr/>
          <p:nvPr/>
        </p:nvSpPr>
        <p:spPr>
          <a:xfrm>
            <a:off x="4253760" y="1656000"/>
            <a:ext cx="1748880" cy="486000"/>
          </a:xfrm>
          <a:prstGeom prst="roundRect">
            <a:avLst/>
          </a:prstGeom>
          <a:solidFill>
            <a:srgbClr val="eaf7e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"/>
          <p:cNvSpPr txBox="1"/>
          <p:nvPr/>
        </p:nvSpPr>
        <p:spPr>
          <a:xfrm>
            <a:off x="4289760" y="1720800"/>
            <a:ext cx="167688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100" spc="-1" strike="noStrike">
                <a:solidFill>
                  <a:srgbClr val="10233f"/>
                </a:solidFill>
                <a:latin typeface="DejaVu Sans"/>
              </a:rPr>
              <a:t>p95 tăng</a:t>
            </a:r>
            <a:endParaRPr b="1" lang="en-US" sz="11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352" name=""/>
          <p:cNvSpPr/>
          <p:nvPr/>
        </p:nvSpPr>
        <p:spPr>
          <a:xfrm>
            <a:off x="6002640" y="1899000"/>
            <a:ext cx="140400" cy="360"/>
          </a:xfrm>
          <a:prstGeom prst="line">
            <a:avLst/>
          </a:prstGeom>
          <a:ln w="19800">
            <a:solidFill>
              <a:srgbClr val="1976d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720" rIns="99720" tIns="-54360" bIns="-543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"/>
          <p:cNvSpPr/>
          <p:nvPr/>
        </p:nvSpPr>
        <p:spPr>
          <a:xfrm>
            <a:off x="6164640" y="1656000"/>
            <a:ext cx="1748880" cy="486000"/>
          </a:xfrm>
          <a:prstGeom prst="roundRect">
            <a:avLst/>
          </a:prstGeom>
          <a:solidFill>
            <a:srgbClr val="eaf7e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"/>
          <p:cNvSpPr txBox="1"/>
          <p:nvPr/>
        </p:nvSpPr>
        <p:spPr>
          <a:xfrm>
            <a:off x="6200640" y="1720800"/>
            <a:ext cx="167688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100" spc="-1" strike="noStrike">
                <a:solidFill>
                  <a:srgbClr val="10233f"/>
                </a:solidFill>
                <a:latin typeface="DejaVu Sans"/>
              </a:rPr>
              <a:t>Find stage</a:t>
            </a:r>
            <a:endParaRPr b="1" lang="en-US" sz="11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355" name=""/>
          <p:cNvSpPr/>
          <p:nvPr/>
        </p:nvSpPr>
        <p:spPr>
          <a:xfrm>
            <a:off x="7913520" y="1899000"/>
            <a:ext cx="140400" cy="360"/>
          </a:xfrm>
          <a:prstGeom prst="line">
            <a:avLst/>
          </a:prstGeom>
          <a:ln w="19800">
            <a:solidFill>
              <a:srgbClr val="1976d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720" rIns="99720" tIns="-54360" bIns="-543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"/>
          <p:cNvSpPr/>
          <p:nvPr/>
        </p:nvSpPr>
        <p:spPr>
          <a:xfrm>
            <a:off x="8075520" y="1656000"/>
            <a:ext cx="1748880" cy="486000"/>
          </a:xfrm>
          <a:prstGeom prst="roundRect">
            <a:avLst/>
          </a:prstGeom>
          <a:solidFill>
            <a:srgbClr val="eaf7e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"/>
          <p:cNvSpPr txBox="1"/>
          <p:nvPr/>
        </p:nvSpPr>
        <p:spPr>
          <a:xfrm>
            <a:off x="8111520" y="1720800"/>
            <a:ext cx="167688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100" spc="-1" strike="noStrike">
                <a:solidFill>
                  <a:srgbClr val="10233f"/>
                </a:solidFill>
                <a:latin typeface="DejaVu Sans"/>
              </a:rPr>
              <a:t>Open Tempo</a:t>
            </a:r>
            <a:endParaRPr b="1" lang="en-US" sz="11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358" name=""/>
          <p:cNvSpPr/>
          <p:nvPr/>
        </p:nvSpPr>
        <p:spPr>
          <a:xfrm>
            <a:off x="9824400" y="1899000"/>
            <a:ext cx="140400" cy="360"/>
          </a:xfrm>
          <a:prstGeom prst="line">
            <a:avLst/>
          </a:prstGeom>
          <a:ln w="19800">
            <a:solidFill>
              <a:srgbClr val="1976d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720" rIns="99720" tIns="-54360" bIns="-543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"/>
          <p:cNvSpPr/>
          <p:nvPr/>
        </p:nvSpPr>
        <p:spPr>
          <a:xfrm>
            <a:off x="9986400" y="1656000"/>
            <a:ext cx="1748880" cy="486000"/>
          </a:xfrm>
          <a:prstGeom prst="roundRect">
            <a:avLst/>
          </a:prstGeom>
          <a:solidFill>
            <a:srgbClr val="eaf7e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"/>
          <p:cNvSpPr txBox="1"/>
          <p:nvPr/>
        </p:nvSpPr>
        <p:spPr>
          <a:xfrm>
            <a:off x="10022400" y="1720800"/>
            <a:ext cx="167688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100" spc="-1" strike="noStrike">
                <a:solidFill>
                  <a:srgbClr val="10233f"/>
                </a:solidFill>
                <a:latin typeface="DejaVu Sans"/>
              </a:rPr>
              <a:t>Clear &amp; recover</a:t>
            </a:r>
            <a:endParaRPr b="1" lang="en-US" sz="11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361" name=""/>
          <p:cNvSpPr/>
          <p:nvPr/>
        </p:nvSpPr>
        <p:spPr>
          <a:xfrm>
            <a:off x="720000" y="2880000"/>
            <a:ext cx="3240000" cy="1440000"/>
          </a:xfrm>
          <a:prstGeom prst="roundRect">
            <a:avLst/>
          </a:prstGeom>
          <a:solidFill>
            <a:srgbClr val="eaf3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"/>
          <p:cNvSpPr/>
          <p:nvPr/>
        </p:nvSpPr>
        <p:spPr>
          <a:xfrm>
            <a:off x="720000" y="2880000"/>
            <a:ext cx="50400" cy="1440000"/>
          </a:xfrm>
          <a:prstGeom prst="rect">
            <a:avLst/>
          </a:prstGeom>
          <a:solidFill>
            <a:srgbClr val="1976d2"/>
          </a:solidFill>
          <a:ln w="9000">
            <a:solidFill>
              <a:srgbClr val="1976d2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3" name=""/>
          <p:cNvSpPr txBox="1"/>
          <p:nvPr/>
        </p:nvSpPr>
        <p:spPr>
          <a:xfrm>
            <a:off x="882000" y="2988000"/>
            <a:ext cx="297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600" spc="-1" strike="noStrike">
                <a:solidFill>
                  <a:srgbClr val="10233f"/>
                </a:solidFill>
                <a:latin typeface="DejaVu Sans"/>
              </a:rPr>
              <a:t>1. Observe</a:t>
            </a:r>
            <a:endParaRPr b="1" lang="en-US" sz="1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364" name=""/>
          <p:cNvSpPr txBox="1"/>
          <p:nvPr/>
        </p:nvSpPr>
        <p:spPr>
          <a:xfrm>
            <a:off x="882000" y="3258000"/>
            <a:ext cx="2970000" cy="447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Journey success, p95, stage latency và queue ở trạng thái bình thường.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365" name=""/>
          <p:cNvSpPr/>
          <p:nvPr/>
        </p:nvSpPr>
        <p:spPr>
          <a:xfrm>
            <a:off x="4464000" y="2880000"/>
            <a:ext cx="3240000" cy="1440000"/>
          </a:xfrm>
          <a:prstGeom prst="roundRect">
            <a:avLst/>
          </a:prstGeom>
          <a:solidFill>
            <a:srgbClr val="fff3e7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"/>
          <p:cNvSpPr/>
          <p:nvPr/>
        </p:nvSpPr>
        <p:spPr>
          <a:xfrm>
            <a:off x="4464000" y="2880000"/>
            <a:ext cx="50400" cy="1440000"/>
          </a:xfrm>
          <a:prstGeom prst="rect">
            <a:avLst/>
          </a:prstGeom>
          <a:solidFill>
            <a:srgbClr val="ef6c00"/>
          </a:solidFill>
          <a:ln w="9000">
            <a:solidFill>
              <a:srgbClr val="ef6c00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7" name=""/>
          <p:cNvSpPr txBox="1"/>
          <p:nvPr/>
        </p:nvSpPr>
        <p:spPr>
          <a:xfrm>
            <a:off x="4626000" y="2988000"/>
            <a:ext cx="297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600" spc="-1" strike="noStrike">
                <a:solidFill>
                  <a:srgbClr val="10233f"/>
                </a:solidFill>
                <a:latin typeface="DejaVu Sans"/>
              </a:rPr>
              <a:t>2. Degrade</a:t>
            </a:r>
            <a:endParaRPr b="1" lang="en-US" sz="1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368" name=""/>
          <p:cNvSpPr txBox="1"/>
          <p:nvPr/>
        </p:nvSpPr>
        <p:spPr>
          <a:xfrm>
            <a:off x="4626000" y="3258000"/>
            <a:ext cx="2970000" cy="447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Tăng 5× latency và 15% failure tại Indonesia carrier delivery.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369" name=""/>
          <p:cNvSpPr/>
          <p:nvPr/>
        </p:nvSpPr>
        <p:spPr>
          <a:xfrm>
            <a:off x="8208000" y="2880000"/>
            <a:ext cx="3240000" cy="1440000"/>
          </a:xfrm>
          <a:prstGeom prst="roundRect">
            <a:avLst/>
          </a:prstGeom>
          <a:solidFill>
            <a:srgbClr val="eaf7e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"/>
          <p:cNvSpPr/>
          <p:nvPr/>
        </p:nvSpPr>
        <p:spPr>
          <a:xfrm>
            <a:off x="8208000" y="2880000"/>
            <a:ext cx="50400" cy="1440000"/>
          </a:xfrm>
          <a:prstGeom prst="rect">
            <a:avLst/>
          </a:prstGeom>
          <a:solidFill>
            <a:srgbClr val="2e7d32"/>
          </a:solidFill>
          <a:ln w="9000">
            <a:solidFill>
              <a:srgbClr val="2e7d32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1" name=""/>
          <p:cNvSpPr txBox="1"/>
          <p:nvPr/>
        </p:nvSpPr>
        <p:spPr>
          <a:xfrm>
            <a:off x="8370000" y="2988000"/>
            <a:ext cx="297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600" spc="-1" strike="noStrike">
                <a:solidFill>
                  <a:srgbClr val="10233f"/>
                </a:solidFill>
                <a:latin typeface="DejaVu Sans"/>
              </a:rPr>
              <a:t>3. Prove</a:t>
            </a:r>
            <a:endParaRPr b="1" lang="en-US" sz="1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372" name=""/>
          <p:cNvSpPr txBox="1"/>
          <p:nvPr/>
        </p:nvSpPr>
        <p:spPr>
          <a:xfrm>
            <a:off x="8370000" y="3258000"/>
            <a:ext cx="2970000" cy="447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Grafana localize stage; Tempo waterfall xác minh; clear scenario.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fffff"/>
          </a:solidFill>
          <a:ln w="9000">
            <a:solidFill>
              <a:srgbClr val="ffffff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"/>
          <p:cNvSpPr/>
          <p:nvPr/>
        </p:nvSpPr>
        <p:spPr>
          <a:xfrm>
            <a:off x="0" y="0"/>
            <a:ext cx="187200" cy="6858000"/>
          </a:xfrm>
          <a:prstGeom prst="rect">
            <a:avLst/>
          </a:prstGeom>
          <a:solidFill>
            <a:srgbClr val="1976d2"/>
          </a:solidFill>
          <a:ln w="9000">
            <a:solidFill>
              <a:srgbClr val="1976d2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5" name=""/>
          <p:cNvSpPr txBox="1"/>
          <p:nvPr/>
        </p:nvSpPr>
        <p:spPr>
          <a:xfrm>
            <a:off x="450000" y="252000"/>
            <a:ext cx="104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100" spc="-1" strike="noStrike">
                <a:solidFill>
                  <a:srgbClr val="1976d2"/>
                </a:solidFill>
                <a:latin typeface="DejaVu Sans"/>
              </a:rPr>
              <a:t>V-ID OBSERVABILITY</a:t>
            </a:r>
            <a:endParaRPr b="1" lang="en-US" sz="1100" spc="-1" strike="noStrike">
              <a:solidFill>
                <a:srgbClr val="1976d2"/>
              </a:solidFill>
              <a:latin typeface="DejaVu Sans"/>
            </a:endParaRPr>
          </a:p>
        </p:txBody>
      </p:sp>
      <p:sp>
        <p:nvSpPr>
          <p:cNvPr id="376" name=""/>
          <p:cNvSpPr txBox="1"/>
          <p:nvPr/>
        </p:nvSpPr>
        <p:spPr>
          <a:xfrm>
            <a:off x="450000" y="450000"/>
            <a:ext cx="1098000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2600" spc="-1" strike="noStrike">
                <a:solidFill>
                  <a:srgbClr val="10233f"/>
                </a:solidFill>
                <a:latin typeface="DejaVu Sans"/>
              </a:rPr>
              <a:t>Chất lượng, bảo mật và giới hạn</a:t>
            </a:r>
            <a:endParaRPr b="1" lang="en-US" sz="2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377" name=""/>
          <p:cNvSpPr/>
          <p:nvPr/>
        </p:nvSpPr>
        <p:spPr>
          <a:xfrm>
            <a:off x="450000" y="1026000"/>
            <a:ext cx="10782000" cy="360"/>
          </a:xfrm>
          <a:prstGeom prst="line">
            <a:avLst/>
          </a:prstGeom>
          <a:ln w="10800">
            <a:solidFill>
              <a:srgbClr val="d7de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rIns="95400" tIns="-50040" bIns="-500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"/>
          <p:cNvSpPr txBox="1"/>
          <p:nvPr/>
        </p:nvSpPr>
        <p:spPr>
          <a:xfrm>
            <a:off x="10980000" y="6516000"/>
            <a:ext cx="5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0" lang="en-US" sz="1000" spc="-1" strike="noStrike">
                <a:solidFill>
                  <a:srgbClr val="5d687a"/>
                </a:solidFill>
                <a:latin typeface="DejaVu Sans"/>
              </a:rPr>
              <a:t>14</a:t>
            </a:r>
            <a:endParaRPr b="0" lang="en-US" sz="10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379" name=""/>
          <p:cNvSpPr/>
          <p:nvPr/>
        </p:nvSpPr>
        <p:spPr>
          <a:xfrm>
            <a:off x="540000" y="1296000"/>
            <a:ext cx="3384000" cy="2340000"/>
          </a:xfrm>
          <a:prstGeom prst="roundRect">
            <a:avLst/>
          </a:prstGeom>
          <a:solidFill>
            <a:srgbClr val="eaf7e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"/>
          <p:cNvSpPr/>
          <p:nvPr/>
        </p:nvSpPr>
        <p:spPr>
          <a:xfrm>
            <a:off x="540000" y="1296000"/>
            <a:ext cx="50400" cy="2340000"/>
          </a:xfrm>
          <a:prstGeom prst="rect">
            <a:avLst/>
          </a:prstGeom>
          <a:solidFill>
            <a:srgbClr val="2e7d32"/>
          </a:solidFill>
          <a:ln w="9000">
            <a:solidFill>
              <a:srgbClr val="2e7d32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1" name=""/>
          <p:cNvSpPr txBox="1"/>
          <p:nvPr/>
        </p:nvSpPr>
        <p:spPr>
          <a:xfrm>
            <a:off x="702000" y="1404000"/>
            <a:ext cx="3114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600" spc="-1" strike="noStrike">
                <a:solidFill>
                  <a:srgbClr val="10233f"/>
                </a:solidFill>
                <a:latin typeface="DejaVu Sans"/>
              </a:rPr>
              <a:t>Quality gates</a:t>
            </a:r>
            <a:endParaRPr b="1" lang="en-US" sz="1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382" name=""/>
          <p:cNvSpPr txBox="1"/>
          <p:nvPr/>
        </p:nvSpPr>
        <p:spPr>
          <a:xfrm>
            <a:off x="702000" y="1674000"/>
            <a:ext cx="3114000" cy="983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✓ </a:t>
            </a:r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Python and unit tests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✓ </a:t>
            </a:r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Dashboard contract tests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✓ </a:t>
            </a:r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Prometheus rule tests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✓ </a:t>
            </a:r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Compose/config validation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✓ </a:t>
            </a:r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GitOps + CI workflow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383" name=""/>
          <p:cNvSpPr/>
          <p:nvPr/>
        </p:nvSpPr>
        <p:spPr>
          <a:xfrm>
            <a:off x="4392000" y="1296000"/>
            <a:ext cx="3384000" cy="2340000"/>
          </a:xfrm>
          <a:prstGeom prst="roundRect">
            <a:avLst/>
          </a:prstGeom>
          <a:solidFill>
            <a:srgbClr val="eaf3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"/>
          <p:cNvSpPr/>
          <p:nvPr/>
        </p:nvSpPr>
        <p:spPr>
          <a:xfrm>
            <a:off x="4392000" y="1296000"/>
            <a:ext cx="50400" cy="2340000"/>
          </a:xfrm>
          <a:prstGeom prst="rect">
            <a:avLst/>
          </a:prstGeom>
          <a:solidFill>
            <a:srgbClr val="1976d2"/>
          </a:solidFill>
          <a:ln w="9000">
            <a:solidFill>
              <a:srgbClr val="1976d2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5" name=""/>
          <p:cNvSpPr txBox="1"/>
          <p:nvPr/>
        </p:nvSpPr>
        <p:spPr>
          <a:xfrm>
            <a:off x="4554000" y="1404000"/>
            <a:ext cx="3114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600" spc="-1" strike="noStrike">
                <a:solidFill>
                  <a:srgbClr val="10233f"/>
                </a:solidFill>
                <a:latin typeface="DejaVu Sans"/>
              </a:rPr>
              <a:t>Telemetry safety</a:t>
            </a:r>
            <a:endParaRPr b="1" lang="en-US" sz="1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386" name=""/>
          <p:cNvSpPr txBox="1"/>
          <p:nvPr/>
        </p:nvSpPr>
        <p:spPr>
          <a:xfrm>
            <a:off x="4554000" y="1674000"/>
            <a:ext cx="3114000" cy="804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✓ </a:t>
            </a:r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Không phone/email/OTP/token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✓ </a:t>
            </a:r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Không request ID trong labels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✓ </a:t>
            </a:r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Bounded cardinality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✓ </a:t>
            </a:r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trace_id chỉ để correlation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387" name=""/>
          <p:cNvSpPr/>
          <p:nvPr/>
        </p:nvSpPr>
        <p:spPr>
          <a:xfrm>
            <a:off x="8244000" y="1296000"/>
            <a:ext cx="3060000" cy="2340000"/>
          </a:xfrm>
          <a:prstGeom prst="roundRect">
            <a:avLst/>
          </a:prstGeom>
          <a:solidFill>
            <a:srgbClr val="fff3e7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"/>
          <p:cNvSpPr/>
          <p:nvPr/>
        </p:nvSpPr>
        <p:spPr>
          <a:xfrm>
            <a:off x="8244000" y="1296000"/>
            <a:ext cx="50400" cy="2340000"/>
          </a:xfrm>
          <a:prstGeom prst="rect">
            <a:avLst/>
          </a:prstGeom>
          <a:solidFill>
            <a:srgbClr val="ef6c00"/>
          </a:solidFill>
          <a:ln w="9000">
            <a:solidFill>
              <a:srgbClr val="ef6c00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9" name=""/>
          <p:cNvSpPr txBox="1"/>
          <p:nvPr/>
        </p:nvSpPr>
        <p:spPr>
          <a:xfrm>
            <a:off x="8406000" y="1404000"/>
            <a:ext cx="279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600" spc="-1" strike="noStrike">
                <a:solidFill>
                  <a:srgbClr val="10233f"/>
                </a:solidFill>
                <a:latin typeface="DejaVu Sans"/>
              </a:rPr>
              <a:t>Current limits</a:t>
            </a:r>
            <a:endParaRPr b="1" lang="en-US" sz="1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390" name=""/>
          <p:cNvSpPr txBox="1"/>
          <p:nvPr/>
        </p:nvSpPr>
        <p:spPr>
          <a:xfrm>
            <a:off x="8406000" y="1674000"/>
            <a:ext cx="2790000" cy="804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• </a:t>
            </a:r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Synthetic traffic/traces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• </a:t>
            </a:r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Một simulator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• </a:t>
            </a:r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Mock delivery receipt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• </a:t>
            </a:r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Threshold chưa là prod SLO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391" name=""/>
          <p:cNvSpPr txBox="1"/>
          <p:nvPr/>
        </p:nvSpPr>
        <p:spPr>
          <a:xfrm>
            <a:off x="792000" y="4392000"/>
            <a:ext cx="10440000" cy="651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900" spc="-1" strike="noStrike">
                <a:solidFill>
                  <a:srgbClr val="10233f"/>
                </a:solidFill>
                <a:latin typeface="DejaVu Sans"/>
              </a:rPr>
              <a:t>Demo chứng minh contract và workflow — không khẳng định production topology</a:t>
            </a:r>
            <a:endParaRPr b="1" lang="en-US" sz="1900" spc="-1" strike="noStrike">
              <a:solidFill>
                <a:srgbClr val="10233f"/>
              </a:solidFill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fffff"/>
          </a:solidFill>
          <a:ln w="9000">
            <a:solidFill>
              <a:srgbClr val="ffffff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"/>
          <p:cNvSpPr/>
          <p:nvPr/>
        </p:nvSpPr>
        <p:spPr>
          <a:xfrm>
            <a:off x="0" y="0"/>
            <a:ext cx="187200" cy="6858000"/>
          </a:xfrm>
          <a:prstGeom prst="rect">
            <a:avLst/>
          </a:prstGeom>
          <a:solidFill>
            <a:srgbClr val="1976d2"/>
          </a:solidFill>
          <a:ln w="9000">
            <a:solidFill>
              <a:srgbClr val="1976d2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4" name=""/>
          <p:cNvSpPr txBox="1"/>
          <p:nvPr/>
        </p:nvSpPr>
        <p:spPr>
          <a:xfrm>
            <a:off x="450000" y="252000"/>
            <a:ext cx="104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100" spc="-1" strike="noStrike">
                <a:solidFill>
                  <a:srgbClr val="1976d2"/>
                </a:solidFill>
                <a:latin typeface="DejaVu Sans"/>
              </a:rPr>
              <a:t>V-ID OBSERVABILITY</a:t>
            </a:r>
            <a:endParaRPr b="1" lang="en-US" sz="1100" spc="-1" strike="noStrike">
              <a:solidFill>
                <a:srgbClr val="1976d2"/>
              </a:solidFill>
              <a:latin typeface="DejaVu Sans"/>
            </a:endParaRPr>
          </a:p>
        </p:txBody>
      </p:sp>
      <p:sp>
        <p:nvSpPr>
          <p:cNvPr id="395" name=""/>
          <p:cNvSpPr txBox="1"/>
          <p:nvPr/>
        </p:nvSpPr>
        <p:spPr>
          <a:xfrm>
            <a:off x="450000" y="450000"/>
            <a:ext cx="1098000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2600" spc="-1" strike="noStrike">
                <a:solidFill>
                  <a:srgbClr val="10233f"/>
                </a:solidFill>
                <a:latin typeface="DejaVu Sans"/>
              </a:rPr>
              <a:t>Kết quả và bước tiếp theo</a:t>
            </a:r>
            <a:endParaRPr b="1" lang="en-US" sz="2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396" name=""/>
          <p:cNvSpPr/>
          <p:nvPr/>
        </p:nvSpPr>
        <p:spPr>
          <a:xfrm>
            <a:off x="450000" y="1026000"/>
            <a:ext cx="10782000" cy="360"/>
          </a:xfrm>
          <a:prstGeom prst="line">
            <a:avLst/>
          </a:prstGeom>
          <a:ln w="10800">
            <a:solidFill>
              <a:srgbClr val="d7de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rIns="95400" tIns="-50040" bIns="-500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"/>
          <p:cNvSpPr txBox="1"/>
          <p:nvPr/>
        </p:nvSpPr>
        <p:spPr>
          <a:xfrm>
            <a:off x="10980000" y="6516000"/>
            <a:ext cx="5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0" lang="en-US" sz="1000" spc="-1" strike="noStrike">
                <a:solidFill>
                  <a:srgbClr val="5d687a"/>
                </a:solidFill>
                <a:latin typeface="DejaVu Sans"/>
              </a:rPr>
              <a:t>15</a:t>
            </a:r>
            <a:endParaRPr b="0" lang="en-US" sz="10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398" name=""/>
          <p:cNvSpPr/>
          <p:nvPr/>
        </p:nvSpPr>
        <p:spPr>
          <a:xfrm>
            <a:off x="540000" y="1296000"/>
            <a:ext cx="5040000" cy="1944000"/>
          </a:xfrm>
          <a:prstGeom prst="roundRect">
            <a:avLst/>
          </a:prstGeom>
          <a:solidFill>
            <a:srgbClr val="eaf7e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"/>
          <p:cNvSpPr/>
          <p:nvPr/>
        </p:nvSpPr>
        <p:spPr>
          <a:xfrm>
            <a:off x="540000" y="1296000"/>
            <a:ext cx="50400" cy="1944000"/>
          </a:xfrm>
          <a:prstGeom prst="rect">
            <a:avLst/>
          </a:prstGeom>
          <a:solidFill>
            <a:srgbClr val="2e7d32"/>
          </a:solidFill>
          <a:ln w="9000">
            <a:solidFill>
              <a:srgbClr val="2e7d32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0" name=""/>
          <p:cNvSpPr txBox="1"/>
          <p:nvPr/>
        </p:nvSpPr>
        <p:spPr>
          <a:xfrm>
            <a:off x="702000" y="1404000"/>
            <a:ext cx="477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600" spc="-1" strike="noStrike">
                <a:solidFill>
                  <a:srgbClr val="10233f"/>
                </a:solidFill>
                <a:latin typeface="DejaVu Sans"/>
              </a:rPr>
              <a:t>Giá trị đã đạt</a:t>
            </a:r>
            <a:endParaRPr b="1" lang="en-US" sz="1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401" name=""/>
          <p:cNvSpPr txBox="1"/>
          <p:nvPr/>
        </p:nvSpPr>
        <p:spPr>
          <a:xfrm>
            <a:off x="702000" y="1674000"/>
            <a:ext cx="4770000" cy="804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✓ </a:t>
            </a:r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Lab end-to-end, tái hiện sự cố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✓ </a:t>
            </a:r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KPI/SLI/SLO + dashboards + alerts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✓ </a:t>
            </a:r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OTP bottleneck bằng metrics + traces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✓ </a:t>
            </a:r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Nền tảng tích hợp UAT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402" name=""/>
          <p:cNvSpPr/>
          <p:nvPr/>
        </p:nvSpPr>
        <p:spPr>
          <a:xfrm>
            <a:off x="6480000" y="1296000"/>
            <a:ext cx="5040000" cy="1944000"/>
          </a:xfrm>
          <a:prstGeom prst="roundRect">
            <a:avLst/>
          </a:prstGeom>
          <a:solidFill>
            <a:srgbClr val="eaf3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"/>
          <p:cNvSpPr/>
          <p:nvPr/>
        </p:nvSpPr>
        <p:spPr>
          <a:xfrm>
            <a:off x="6480000" y="1296000"/>
            <a:ext cx="50400" cy="1944000"/>
          </a:xfrm>
          <a:prstGeom prst="rect">
            <a:avLst/>
          </a:prstGeom>
          <a:solidFill>
            <a:srgbClr val="1976d2"/>
          </a:solidFill>
          <a:ln w="9000">
            <a:solidFill>
              <a:srgbClr val="1976d2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4" name=""/>
          <p:cNvSpPr txBox="1"/>
          <p:nvPr/>
        </p:nvSpPr>
        <p:spPr>
          <a:xfrm>
            <a:off x="6642000" y="1404000"/>
            <a:ext cx="477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US" sz="1600" spc="-1" strike="noStrike">
                <a:solidFill>
                  <a:srgbClr val="10233f"/>
                </a:solidFill>
                <a:latin typeface="DejaVu Sans"/>
              </a:rPr>
              <a:t>Đề xuất tiếp theo</a:t>
            </a:r>
            <a:endParaRPr b="1" lang="en-US" sz="16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405" name=""/>
          <p:cNvSpPr txBox="1"/>
          <p:nvPr/>
        </p:nvSpPr>
        <p:spPr>
          <a:xfrm>
            <a:off x="6642000" y="1674000"/>
            <a:ext cx="4770000" cy="804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1. Owner xác nhận topology/SLI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2. Instrument Kong + Go services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3. Propagate HTTP/gRPC/Kafka context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  <a:p>
            <a:r>
              <a:rPr b="0" lang="en-US" sz="1200" spc="-1" strike="noStrike">
                <a:solidFill>
                  <a:srgbClr val="5d687a"/>
                </a:solidFill>
                <a:latin typeface="DejaVu Sans"/>
              </a:rPr>
              <a:t>4. UAT baseline và tune threshold</a:t>
            </a:r>
            <a:endParaRPr b="0" lang="en-US" sz="1200" spc="-1" strike="noStrike">
              <a:solidFill>
                <a:srgbClr val="5d687a"/>
              </a:solidFill>
              <a:latin typeface="DejaVu Sans"/>
            </a:endParaRPr>
          </a:p>
        </p:txBody>
      </p:sp>
      <p:sp>
        <p:nvSpPr>
          <p:cNvPr id="406" name=""/>
          <p:cNvSpPr/>
          <p:nvPr/>
        </p:nvSpPr>
        <p:spPr>
          <a:xfrm>
            <a:off x="828000" y="3780000"/>
            <a:ext cx="1958400" cy="486000"/>
          </a:xfrm>
          <a:prstGeom prst="roundRect">
            <a:avLst/>
          </a:prstGeom>
          <a:solidFill>
            <a:srgbClr val="eaf3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"/>
          <p:cNvSpPr txBox="1"/>
          <p:nvPr/>
        </p:nvSpPr>
        <p:spPr>
          <a:xfrm>
            <a:off x="864000" y="3844800"/>
            <a:ext cx="18864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100" spc="-1" strike="noStrike">
                <a:solidFill>
                  <a:srgbClr val="10233f"/>
                </a:solidFill>
                <a:latin typeface="DejaVu Sans"/>
              </a:rPr>
              <a:t>Confirm</a:t>
            </a:r>
            <a:endParaRPr b="1" lang="en-US" sz="11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408" name=""/>
          <p:cNvSpPr/>
          <p:nvPr/>
        </p:nvSpPr>
        <p:spPr>
          <a:xfrm>
            <a:off x="2786400" y="4023000"/>
            <a:ext cx="140400" cy="360"/>
          </a:xfrm>
          <a:prstGeom prst="line">
            <a:avLst/>
          </a:prstGeom>
          <a:ln w="19800">
            <a:solidFill>
              <a:srgbClr val="1976d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720" rIns="99720" tIns="-54360" bIns="-543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"/>
          <p:cNvSpPr/>
          <p:nvPr/>
        </p:nvSpPr>
        <p:spPr>
          <a:xfrm>
            <a:off x="2948400" y="3780000"/>
            <a:ext cx="1958400" cy="486000"/>
          </a:xfrm>
          <a:prstGeom prst="roundRect">
            <a:avLst/>
          </a:prstGeom>
          <a:solidFill>
            <a:srgbClr val="eaf3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"/>
          <p:cNvSpPr txBox="1"/>
          <p:nvPr/>
        </p:nvSpPr>
        <p:spPr>
          <a:xfrm>
            <a:off x="2984400" y="3844800"/>
            <a:ext cx="18864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100" spc="-1" strike="noStrike">
                <a:solidFill>
                  <a:srgbClr val="10233f"/>
                </a:solidFill>
                <a:latin typeface="DejaVu Sans"/>
              </a:rPr>
              <a:t>Instrument</a:t>
            </a:r>
            <a:endParaRPr b="1" lang="en-US" sz="11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411" name=""/>
          <p:cNvSpPr/>
          <p:nvPr/>
        </p:nvSpPr>
        <p:spPr>
          <a:xfrm>
            <a:off x="4906800" y="4023000"/>
            <a:ext cx="140400" cy="360"/>
          </a:xfrm>
          <a:prstGeom prst="line">
            <a:avLst/>
          </a:prstGeom>
          <a:ln w="19800">
            <a:solidFill>
              <a:srgbClr val="1976d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720" rIns="99720" tIns="-54360" bIns="-543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"/>
          <p:cNvSpPr/>
          <p:nvPr/>
        </p:nvSpPr>
        <p:spPr>
          <a:xfrm>
            <a:off x="5068800" y="3780000"/>
            <a:ext cx="1958400" cy="486000"/>
          </a:xfrm>
          <a:prstGeom prst="roundRect">
            <a:avLst/>
          </a:prstGeom>
          <a:solidFill>
            <a:srgbClr val="eaf3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"/>
          <p:cNvSpPr txBox="1"/>
          <p:nvPr/>
        </p:nvSpPr>
        <p:spPr>
          <a:xfrm>
            <a:off x="5104800" y="3844800"/>
            <a:ext cx="18864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100" spc="-1" strike="noStrike">
                <a:solidFill>
                  <a:srgbClr val="10233f"/>
                </a:solidFill>
                <a:latin typeface="DejaVu Sans"/>
              </a:rPr>
              <a:t>Correlate</a:t>
            </a:r>
            <a:endParaRPr b="1" lang="en-US" sz="11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414" name=""/>
          <p:cNvSpPr/>
          <p:nvPr/>
        </p:nvSpPr>
        <p:spPr>
          <a:xfrm>
            <a:off x="7027200" y="4023000"/>
            <a:ext cx="140400" cy="360"/>
          </a:xfrm>
          <a:prstGeom prst="line">
            <a:avLst/>
          </a:prstGeom>
          <a:ln w="19800">
            <a:solidFill>
              <a:srgbClr val="1976d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720" rIns="99720" tIns="-54360" bIns="-543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"/>
          <p:cNvSpPr/>
          <p:nvPr/>
        </p:nvSpPr>
        <p:spPr>
          <a:xfrm>
            <a:off x="7189200" y="3780000"/>
            <a:ext cx="1958400" cy="486000"/>
          </a:xfrm>
          <a:prstGeom prst="roundRect">
            <a:avLst/>
          </a:prstGeom>
          <a:solidFill>
            <a:srgbClr val="eaf3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"/>
          <p:cNvSpPr txBox="1"/>
          <p:nvPr/>
        </p:nvSpPr>
        <p:spPr>
          <a:xfrm>
            <a:off x="7225200" y="3844800"/>
            <a:ext cx="18864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100" spc="-1" strike="noStrike">
                <a:solidFill>
                  <a:srgbClr val="10233f"/>
                </a:solidFill>
                <a:latin typeface="DejaVu Sans"/>
              </a:rPr>
              <a:t>Baseline</a:t>
            </a:r>
            <a:endParaRPr b="1" lang="en-US" sz="11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417" name=""/>
          <p:cNvSpPr/>
          <p:nvPr/>
        </p:nvSpPr>
        <p:spPr>
          <a:xfrm>
            <a:off x="9147600" y="4023000"/>
            <a:ext cx="140400" cy="360"/>
          </a:xfrm>
          <a:prstGeom prst="line">
            <a:avLst/>
          </a:prstGeom>
          <a:ln w="19800">
            <a:solidFill>
              <a:srgbClr val="1976d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720" rIns="99720" tIns="-54360" bIns="-543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"/>
          <p:cNvSpPr/>
          <p:nvPr/>
        </p:nvSpPr>
        <p:spPr>
          <a:xfrm>
            <a:off x="9309600" y="3780000"/>
            <a:ext cx="1958400" cy="486000"/>
          </a:xfrm>
          <a:prstGeom prst="roundRect">
            <a:avLst/>
          </a:prstGeom>
          <a:solidFill>
            <a:srgbClr val="eaf3ff"/>
          </a:solidFill>
          <a:ln w="9000">
            <a:solidFill>
              <a:srgbClr val="d7deea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"/>
          <p:cNvSpPr txBox="1"/>
          <p:nvPr/>
        </p:nvSpPr>
        <p:spPr>
          <a:xfrm>
            <a:off x="9345600" y="3844800"/>
            <a:ext cx="18864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100" spc="-1" strike="noStrike">
                <a:solidFill>
                  <a:srgbClr val="10233f"/>
                </a:solidFill>
                <a:latin typeface="DejaVu Sans"/>
              </a:rPr>
              <a:t>Production</a:t>
            </a:r>
            <a:endParaRPr b="1" lang="en-US" sz="1100" spc="-1" strike="noStrike">
              <a:solidFill>
                <a:srgbClr val="10233f"/>
              </a:solidFill>
              <a:latin typeface="DejaVu Sans"/>
            </a:endParaRPr>
          </a:p>
        </p:txBody>
      </p:sp>
      <p:sp>
        <p:nvSpPr>
          <p:cNvPr id="420" name=""/>
          <p:cNvSpPr txBox="1"/>
          <p:nvPr/>
        </p:nvSpPr>
        <p:spPr>
          <a:xfrm>
            <a:off x="828000" y="5004000"/>
            <a:ext cx="10440000" cy="651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/>
            <a:r>
              <a:rPr b="1" lang="en-US" sz="1900" spc="-1" strike="noStrike">
                <a:solidFill>
                  <a:srgbClr val="10233f"/>
                </a:solidFill>
                <a:latin typeface="DejaVu Sans"/>
              </a:rPr>
              <a:t>Không chỉ biết OTP chậm — xác định chậm ở đâu và cung cấp bằng chứng để chuyển đúng đội xử lý.</a:t>
            </a:r>
            <a:endParaRPr b="1" lang="en-US" sz="1900" spc="-1" strike="noStrike">
              <a:solidFill>
                <a:srgbClr val="10233f"/>
              </a:solidFill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2026-08-21T06:09:01Z</dcterms:created>
  <dc:creator/>
  <dc:description/>
  <dc:language>en-US</dc:language>
  <cp:lastModifiedBy/>
  <dcterms:modified xsi:type="dcterms:W3CDTF">2026-08-21T06:09:08Z</dcterms:modified>
  <cp:revision>1</cp:revision>
  <dc:subject/>
  <dc:title/>
</cp:coreProperties>
</file>