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E2328A-FD2A-49A6-8C6B-BAA22170CC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0ECBA4-C0E1-4D40-B583-79E067B509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4CA0DC2-A097-41D7-BF70-F03509EBDFA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33f"/>
          </a:solidFill>
          <a:ln w="9000">
            <a:solidFill>
              <a:srgbClr val="10233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56000" y="846000"/>
            <a:ext cx="1008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0a6a6"/>
                </a:solidFill>
                <a:latin typeface="DejaVu Sans"/>
              </a:rPr>
              <a:t>V-ID OBSERVABILITY PLATFORM</a:t>
            </a:r>
            <a:endParaRPr b="1" lang="en-US" sz="1400" spc="-1" strike="noStrike">
              <a:solidFill>
                <a:srgbClr val="00a6a6"/>
              </a:solidFill>
              <a:latin typeface="DejaVu Sans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56000" y="1278000"/>
            <a:ext cx="10260000" cy="11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Từ “hệ thống đang lỗi”</a:t>
            </a:r>
            <a:endParaRPr b="1" lang="en-US" sz="3000" spc="-1" strike="noStrike">
              <a:solidFill>
                <a:srgbClr val="ffffff"/>
              </a:solidFill>
              <a:latin typeface="DejaVu Sans"/>
            </a:endParaRPr>
          </a:p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đến “lỗi ở đúng service nào”</a:t>
            </a:r>
            <a:endParaRPr b="1" lang="en-US" sz="3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56000" y="2700000"/>
            <a:ext cx="97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700" spc="-1" strike="noStrike">
                <a:solidFill>
                  <a:srgbClr val="d5e5f8"/>
                </a:solidFill>
                <a:latin typeface="DejaVu Sans"/>
              </a:rPr>
              <a:t>Authentication · OTP · Token · Authorization · Reliability</a:t>
            </a:r>
            <a:endParaRPr b="0" lang="en-US" sz="1700" spc="-1" strike="noStrike">
              <a:solidFill>
                <a:srgbClr val="d5e5f8"/>
              </a:solidFill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756000" y="3528000"/>
            <a:ext cx="1980000" cy="306000"/>
          </a:xfrm>
          <a:prstGeom prst="round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20800" y="3556800"/>
            <a:ext cx="18504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Prometheus + Grafana</a:t>
            </a:r>
            <a:endParaRPr b="1" lang="en-US" sz="1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880000" y="3528000"/>
            <a:ext cx="2052000" cy="306000"/>
          </a:xfrm>
          <a:prstGeom prst="round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944800" y="3556800"/>
            <a:ext cx="19224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OpenTelemetry + Tempo</a:t>
            </a:r>
            <a:endParaRPr b="1" lang="en-US" sz="1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5058000" y="3528000"/>
            <a:ext cx="1872000" cy="306000"/>
          </a:xfrm>
          <a:prstGeom prst="round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122800" y="3556800"/>
            <a:ext cx="17424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Alerts + Runbooks</a:t>
            </a:r>
            <a:endParaRPr b="1" lang="en-US" sz="1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56000" y="5436000"/>
            <a:ext cx="1008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500" spc="-1" strike="noStrike">
                <a:solidFill>
                  <a:srgbClr val="afc4de"/>
                </a:solidFill>
                <a:latin typeface="DejaVu Sans"/>
              </a:rPr>
              <a:t>Synthetic lab → UAT observability contract</a:t>
            </a:r>
            <a:endParaRPr b="0" lang="en-US" sz="1500" spc="-1" strike="noStrike">
              <a:solidFill>
                <a:srgbClr val="afc4de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6 tính năng quan trọng của dự án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02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540000" y="1296000"/>
            <a:ext cx="3312000" cy="140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4000" y="1404000"/>
            <a:ext cx="39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1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84000" y="1728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Synthetic monitoring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84000" y="2070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Traffic và incident có thể lặp lại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4284000" y="1296000"/>
            <a:ext cx="3312000" cy="1404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428000" y="1404000"/>
            <a:ext cx="39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2e7d32"/>
                </a:solidFill>
                <a:latin typeface="DejaVu Sans"/>
              </a:rPr>
              <a:t>2</a:t>
            </a:r>
            <a:endParaRPr b="1" lang="en-US" sz="1800" spc="-1" strike="noStrike">
              <a:solidFill>
                <a:srgbClr val="2e7d32"/>
              </a:solidFill>
              <a:latin typeface="DejaVu Sans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428000" y="1728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KPI / SLI / SLO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428000" y="2070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Contract, error budget và burn rate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8028000" y="1296000"/>
            <a:ext cx="3312000" cy="1404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172000" y="1404000"/>
            <a:ext cx="39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ef6c00"/>
                </a:solidFill>
                <a:latin typeface="DejaVu Sans"/>
              </a:rPr>
              <a:t>3</a:t>
            </a:r>
            <a:endParaRPr b="1" lang="en-US" sz="1800" spc="-1" strike="noStrike">
              <a:solidFill>
                <a:srgbClr val="ef6c00"/>
              </a:solidFill>
              <a:latin typeface="DejaVu Sans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172000" y="1728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Metrics &amp; alerting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172000" y="2070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Prometheus rules + Alertmanager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3096000"/>
            <a:ext cx="3312000" cy="140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84000" y="3204000"/>
            <a:ext cx="39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00a6a6"/>
                </a:solidFill>
                <a:latin typeface="DejaVu Sans"/>
              </a:rPr>
              <a:t>4</a:t>
            </a:r>
            <a:endParaRPr b="1" lang="en-US" sz="1800" spc="-1" strike="noStrike">
              <a:solidFill>
                <a:srgbClr val="00a6a6"/>
              </a:solidFill>
              <a:latin typeface="DejaVu Sans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84000" y="3528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Dashboard drill-down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84000" y="3870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9 dashboard, 83 panel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4284000" y="3096000"/>
            <a:ext cx="3312000" cy="1404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428000" y="3204000"/>
            <a:ext cx="39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c62828"/>
                </a:solidFill>
                <a:latin typeface="DejaVu Sans"/>
              </a:rPr>
              <a:t>5</a:t>
            </a:r>
            <a:endParaRPr b="1" lang="en-US" sz="1800" spc="-1" strike="noStrike">
              <a:solidFill>
                <a:srgbClr val="c62828"/>
              </a:solidFill>
              <a:latin typeface="DejaVu Sans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428000" y="3528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OTP bottleneck locator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428000" y="3870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Định vị theo 7 stage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8028000" y="3096000"/>
            <a:ext cx="3312000" cy="1404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172000" y="3204000"/>
            <a:ext cx="39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0233f"/>
                </a:solidFill>
                <a:latin typeface="DejaVu Sans"/>
              </a:rPr>
              <a:t>6</a:t>
            </a:r>
            <a:endParaRPr b="1" lang="en-US" sz="18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72000" y="3528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Distributed tracing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172000" y="3870000"/>
            <a:ext cx="29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Exemplar → Tempo waterfall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00000" y="5076000"/>
            <a:ext cx="1036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Một workflow thống nhất: Detect → Localize → Prove → Alert → Recover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Phạm vi kiến trúc V-ID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56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03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5400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760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Client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25704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7324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27684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Kong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47628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9248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9608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identity-provider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69552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1172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1532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Redis / DB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91476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3096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3456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Notification / GSM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648000" y="2592000"/>
            <a:ext cx="3240000" cy="14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48000" y="2592000"/>
            <a:ext cx="50400" cy="14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10000" y="2700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OAuth2/OIDC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10000" y="2970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Hydra là issuer của web flow; target architecture là Hydra-as-issuer.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4464000" y="2592000"/>
            <a:ext cx="3240000" cy="14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464000" y="2592000"/>
            <a:ext cx="50400" cy="14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26000" y="2700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Authorization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626000" y="2970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authz thực hiện RBAC; organization là source of truth cho organization.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8280000" y="2592000"/>
            <a:ext cx="3060000" cy="14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280000" y="2592000"/>
            <a:ext cx="50400" cy="14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442000" y="2700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OTP delivery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442000" y="2970000"/>
            <a:ext cx="279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Notification Center/GSM là external boundary; provider accepted ≠ delivered.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Kiến trúc observability đã xây dựng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88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04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90" name=""/>
          <p:cNvSpPr/>
          <p:nvPr/>
        </p:nvSpPr>
        <p:spPr>
          <a:xfrm>
            <a:off x="504000" y="1800000"/>
            <a:ext cx="2196000" cy="104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04000" y="1800000"/>
            <a:ext cx="50400" cy="1044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66000" y="1908000"/>
            <a:ext cx="192600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Metrics Simulator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66000" y="2178000"/>
            <a:ext cx="1926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Synthetic traffic + incidents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2700000" y="2322000"/>
            <a:ext cx="828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528000" y="1368000"/>
            <a:ext cx="2340000" cy="864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528000" y="1368000"/>
            <a:ext cx="50400" cy="864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690000" y="1476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Prometheus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690000" y="1746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Metrics + rules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3528000" y="2736000"/>
            <a:ext cx="2340000" cy="86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528000" y="2736000"/>
            <a:ext cx="50400" cy="864000"/>
          </a:xfrm>
          <a:prstGeom prst="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690000" y="2844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OTel Collector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690000" y="3114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Sampled OTLP traces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5868000" y="1800000"/>
            <a:ext cx="972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868000" y="3168000"/>
            <a:ext cx="972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840000" y="1368000"/>
            <a:ext cx="2016000" cy="864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840000" y="1368000"/>
            <a:ext cx="50400" cy="864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002000" y="1476000"/>
            <a:ext cx="174600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Alertmanager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002000" y="1746000"/>
            <a:ext cx="174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Route + inhibit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6840000" y="2736000"/>
            <a:ext cx="2016000" cy="86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840000" y="2736000"/>
            <a:ext cx="50400" cy="864000"/>
          </a:xfrm>
          <a:prstGeom prst="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002000" y="2844000"/>
            <a:ext cx="174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Tempo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002000" y="3114000"/>
            <a:ext cx="174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Trace waterfall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8856000" y="1800000"/>
            <a:ext cx="864000" cy="54000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8856000" y="3168000"/>
            <a:ext cx="864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9720000" y="1800000"/>
            <a:ext cx="1620000" cy="108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720000" y="1800000"/>
            <a:ext cx="50400" cy="108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9882000" y="1908000"/>
            <a:ext cx="135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Grafana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882000" y="2178000"/>
            <a:ext cx="135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Dashboard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Metrics → Trace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Tính năng 1 — Synthetic monitoring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05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504000" y="1296000"/>
            <a:ext cx="3420000" cy="14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04000" y="1296000"/>
            <a:ext cx="50400" cy="14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66000" y="1404000"/>
            <a:ext cx="315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User journeys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66000" y="1674000"/>
            <a:ext cx="315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Authentication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OTP send/delivery/verify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Token issuance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Authorization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4374000" y="1296000"/>
            <a:ext cx="3420000" cy="14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374000" y="1296000"/>
            <a:ext cx="50400" cy="14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536000" y="1404000"/>
            <a:ext cx="315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Operational signals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36000" y="1674000"/>
            <a:ext cx="315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HTTP and service health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Database and infrastructure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Provider status and queue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8244000" y="1296000"/>
            <a:ext cx="3060000" cy="14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244000" y="1296000"/>
            <a:ext cx="50400" cy="14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8406000" y="1404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Simulation model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406000" y="1674000"/>
            <a:ext cx="279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Time-based traffic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Log-normal latency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Repeatable incidents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56000" y="3276000"/>
            <a:ext cx="10440000" cy="6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000" spc="-1" strike="noStrike">
                <a:solidFill>
                  <a:srgbClr val="10233f"/>
                </a:solidFill>
                <a:latin typeface="DejaVu Sans"/>
              </a:rPr>
              <a:t>Giá trị: kiểm thử normal, degradation, no-data và recovery trước khi có telemetry UAT</a:t>
            </a:r>
            <a:endParaRPr b="1" lang="en-US" sz="20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Tính năng 2 — KPI, SLI và SLO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42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06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792000" y="1260000"/>
            <a:ext cx="2808000" cy="540000"/>
          </a:xfrm>
          <a:prstGeom prst="roundRect">
            <a:avLst/>
          </a:prstGeom>
          <a:solidFill>
            <a:srgbClr val="10233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00000" y="1339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DejaVu Sans"/>
              </a:rPr>
              <a:t>Authentication</a:t>
            </a:r>
            <a:endParaRPr b="1" lang="en-US" sz="15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3708000" y="1260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888000" y="1339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Success + latency &lt; 500 ms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792000" y="2016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900000" y="2095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OTP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50" name=""/>
          <p:cNvSpPr/>
          <p:nvPr/>
        </p:nvSpPr>
        <p:spPr>
          <a:xfrm>
            <a:off x="3708000" y="2016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888000" y="2095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Submission + delivery + verification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792000" y="2772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00000" y="2851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Token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3708000" y="2772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888000" y="2851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Issuance theo issuer/grant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792000" y="3528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900000" y="3607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Platform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3708000" y="3528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888000" y="3607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Critical operation availability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792000" y="4284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900000" y="4363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Reliability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3708000" y="4284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888000" y="4363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Error budget + burn rate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92000" y="5220000"/>
            <a:ext cx="1015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400" spc="-1" strike="noStrike">
                <a:solidFill>
                  <a:srgbClr val="c62828"/>
                </a:solidFill>
                <a:latin typeface="DejaVu Sans"/>
              </a:rPr>
              <a:t>Business rejection ≠ system failure · No-data ≠ healthy · SLO lab cần owner phê duyệt</a:t>
            </a:r>
            <a:endParaRPr b="1" lang="en-US" sz="1400" spc="-1" strike="noStrike">
              <a:solidFill>
                <a:srgbClr val="c62828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Tính năng 3 — Metrics và alerting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07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71" name=""/>
          <p:cNvSpPr/>
          <p:nvPr/>
        </p:nvSpPr>
        <p:spPr>
          <a:xfrm>
            <a:off x="648000" y="1404000"/>
            <a:ext cx="306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20000" y="1512000"/>
            <a:ext cx="291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1976d2"/>
                </a:solidFill>
                <a:latin typeface="DejaVu Sans"/>
              </a:rPr>
              <a:t>62</a:t>
            </a:r>
            <a:endParaRPr b="1" lang="en-US" sz="2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56000" y="1926000"/>
            <a:ext cx="28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recording rules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74" name=""/>
          <p:cNvSpPr/>
          <p:nvPr/>
        </p:nvSpPr>
        <p:spPr>
          <a:xfrm>
            <a:off x="4536000" y="1404000"/>
            <a:ext cx="306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608000" y="1512000"/>
            <a:ext cx="291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ef6c00"/>
                </a:solidFill>
                <a:latin typeface="DejaVu Sans"/>
              </a:rPr>
              <a:t>17</a:t>
            </a:r>
            <a:endParaRPr b="1" lang="en-US" sz="2800" spc="-1" strike="noStrike">
              <a:solidFill>
                <a:srgbClr val="ef6c00"/>
              </a:solidFill>
              <a:latin typeface="DejaVu Sans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644000" y="1926000"/>
            <a:ext cx="28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alert rules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77" name=""/>
          <p:cNvSpPr/>
          <p:nvPr/>
        </p:nvSpPr>
        <p:spPr>
          <a:xfrm>
            <a:off x="8424000" y="1404000"/>
            <a:ext cx="306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496000" y="1512000"/>
            <a:ext cx="291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2e7d32"/>
                </a:solidFill>
                <a:latin typeface="DejaVu Sans"/>
              </a:rPr>
              <a:t>5</a:t>
            </a:r>
            <a:endParaRPr b="1" lang="en-US" sz="2800" spc="-1" strike="noStrike">
              <a:solidFill>
                <a:srgbClr val="2e7d32"/>
              </a:solidFill>
              <a:latin typeface="DejaVu Sans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532000" y="1926000"/>
            <a:ext cx="28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SLO windows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80" name=""/>
          <p:cNvSpPr/>
          <p:nvPr/>
        </p:nvSpPr>
        <p:spPr>
          <a:xfrm>
            <a:off x="6480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840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Raw metrics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82" name=""/>
          <p:cNvSpPr/>
          <p:nvPr/>
        </p:nvSpPr>
        <p:spPr>
          <a:xfrm>
            <a:off x="26784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8404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8764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Rate / Ratio / p95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85" name=""/>
          <p:cNvSpPr/>
          <p:nvPr/>
        </p:nvSpPr>
        <p:spPr>
          <a:xfrm>
            <a:off x="48708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0328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0688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Recorded KPI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70632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2252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2612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Alerts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91" name=""/>
          <p:cNvSpPr/>
          <p:nvPr/>
        </p:nvSpPr>
        <p:spPr>
          <a:xfrm>
            <a:off x="92556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94176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94536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Runbook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28000" y="439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800" spc="-1" strike="noStrike">
                <a:solidFill>
                  <a:srgbClr val="10233f"/>
                </a:solidFill>
                <a:latin typeface="DejaVu Sans"/>
              </a:rPr>
              <a:t>Ưu tiên user-impact symptoms; resource metrics là context điều tra</a:t>
            </a:r>
            <a:endParaRPr b="1" lang="en-US" sz="18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Tính năng 4 — Dashboard drill-down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08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720000" y="1368000"/>
            <a:ext cx="32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92000" y="1476000"/>
            <a:ext cx="309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1976d2"/>
                </a:solidFill>
                <a:latin typeface="DejaVu Sans"/>
              </a:rPr>
              <a:t>9</a:t>
            </a:r>
            <a:endParaRPr b="1" lang="en-US" sz="2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28000" y="1890000"/>
            <a:ext cx="30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dashboards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04" name=""/>
          <p:cNvSpPr/>
          <p:nvPr/>
        </p:nvSpPr>
        <p:spPr>
          <a:xfrm>
            <a:off x="4464000" y="1368000"/>
            <a:ext cx="32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536000" y="1476000"/>
            <a:ext cx="309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00a6a6"/>
                </a:solidFill>
                <a:latin typeface="DejaVu Sans"/>
              </a:rPr>
              <a:t>83</a:t>
            </a:r>
            <a:endParaRPr b="1" lang="en-US" sz="2800" spc="-1" strike="noStrike">
              <a:solidFill>
                <a:srgbClr val="00a6a6"/>
              </a:solidFill>
              <a:latin typeface="DejaVu Sans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572000" y="1890000"/>
            <a:ext cx="30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panels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07" name=""/>
          <p:cNvSpPr/>
          <p:nvPr/>
        </p:nvSpPr>
        <p:spPr>
          <a:xfrm>
            <a:off x="8208000" y="1368000"/>
            <a:ext cx="32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280000" y="1476000"/>
            <a:ext cx="309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2e7d32"/>
                </a:solidFill>
                <a:latin typeface="DejaVu Sans"/>
              </a:rPr>
              <a:t>1-click</a:t>
            </a:r>
            <a:endParaRPr b="1" lang="en-US" sz="2800" spc="-1" strike="noStrike">
              <a:solidFill>
                <a:srgbClr val="2e7d32"/>
              </a:solidFill>
              <a:latin typeface="DejaVu Sans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316000" y="1890000"/>
            <a:ext cx="30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metrics → trace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648000" y="2844000"/>
            <a:ext cx="5112000" cy="1692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48000" y="2844000"/>
            <a:ext cx="50400" cy="169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10000" y="2952000"/>
            <a:ext cx="484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Dashboard coverage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10000" y="3222000"/>
            <a:ext cx="4842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Overview · Authentication · MFA &amp; OTP · OTP Journey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Token · Authorization · Platform · Reliability · Cross-region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14" name=""/>
          <p:cNvSpPr/>
          <p:nvPr/>
        </p:nvSpPr>
        <p:spPr>
          <a:xfrm>
            <a:off x="6408000" y="2844000"/>
            <a:ext cx="5040000" cy="1692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6408000" y="2844000"/>
            <a:ext cx="50400" cy="1692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570000" y="2952000"/>
            <a:ext cx="47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Operational usability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570000" y="3222000"/>
            <a:ext cx="477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Environment/cluster filters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Stable UID + auto provisioning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No-data handling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Exemplar drill-down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Tính năng 5 — International OTP monitoring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2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09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24" name=""/>
          <p:cNvSpPr/>
          <p:nvPr/>
        </p:nvSpPr>
        <p:spPr>
          <a:xfrm>
            <a:off x="43200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6800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Edge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6" name=""/>
          <p:cNvSpPr/>
          <p:nvPr/>
        </p:nvSpPr>
        <p:spPr>
          <a:xfrm>
            <a:off x="169848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86048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89648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Kong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9" name=""/>
          <p:cNvSpPr/>
          <p:nvPr/>
        </p:nvSpPr>
        <p:spPr>
          <a:xfrm>
            <a:off x="312696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28896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32496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IdP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32" name=""/>
          <p:cNvSpPr/>
          <p:nvPr/>
        </p:nvSpPr>
        <p:spPr>
          <a:xfrm>
            <a:off x="455544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71744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75344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Redis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35" name=""/>
          <p:cNvSpPr/>
          <p:nvPr/>
        </p:nvSpPr>
        <p:spPr>
          <a:xfrm>
            <a:off x="598392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14592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18192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Route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38" name=""/>
          <p:cNvSpPr/>
          <p:nvPr/>
        </p:nvSpPr>
        <p:spPr>
          <a:xfrm>
            <a:off x="741240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57440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61040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Queue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884088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900288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903888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GSM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44" name=""/>
          <p:cNvSpPr/>
          <p:nvPr/>
        </p:nvSpPr>
        <p:spPr>
          <a:xfrm>
            <a:off x="1026936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043136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046736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Carrier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47" name=""/>
          <p:cNvSpPr/>
          <p:nvPr/>
        </p:nvSpPr>
        <p:spPr>
          <a:xfrm>
            <a:off x="900000" y="2772000"/>
            <a:ext cx="4608000" cy="129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900000" y="2772000"/>
            <a:ext cx="50400" cy="1296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62000" y="288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Synchronous path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062000" y="315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Request gửi OTP → provider chấp nhận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51" name=""/>
          <p:cNvSpPr/>
          <p:nvPr/>
        </p:nvSpPr>
        <p:spPr>
          <a:xfrm>
            <a:off x="6660000" y="2772000"/>
            <a:ext cx="4608000" cy="1296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6660000" y="2772000"/>
            <a:ext cx="50400" cy="1296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6822000" y="288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Asynchronous delivery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822000" y="315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Provider accepted → delivery receipt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56000" y="4752000"/>
            <a:ext cx="106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700" spc="-1" strike="noStrike">
                <a:solidFill>
                  <a:srgbClr val="c62828"/>
                </a:solidFill>
                <a:latin typeface="DejaVu Sans"/>
              </a:rPr>
              <a:t>International phone country không đồng nghĩa destination datacenter</a:t>
            </a:r>
            <a:endParaRPr b="1" lang="en-US" sz="1700" spc="-1" strike="noStrike">
              <a:solidFill>
                <a:srgbClr val="c62828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Chia OTP journey thành 7 stage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60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10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62" name=""/>
          <p:cNvSpPr/>
          <p:nvPr/>
        </p:nvSpPr>
        <p:spPr>
          <a:xfrm>
            <a:off x="540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66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01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66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edge_to_kong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65" name=""/>
          <p:cNvSpPr/>
          <p:nvPr/>
        </p:nvSpPr>
        <p:spPr>
          <a:xfrm>
            <a:off x="3384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510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02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510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kong_to_idp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68" name=""/>
          <p:cNvSpPr/>
          <p:nvPr/>
        </p:nvSpPr>
        <p:spPr>
          <a:xfrm>
            <a:off x="6228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354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03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354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redis_challenge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71" name=""/>
          <p:cNvSpPr/>
          <p:nvPr/>
        </p:nvSpPr>
        <p:spPr>
          <a:xfrm>
            <a:off x="9072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198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04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9198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route_selection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74" name=""/>
          <p:cNvSpPr/>
          <p:nvPr/>
        </p:nvSpPr>
        <p:spPr>
          <a:xfrm>
            <a:off x="540000" y="277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66000" y="286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05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66000" y="316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queue_wait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77" name=""/>
          <p:cNvSpPr/>
          <p:nvPr/>
        </p:nvSpPr>
        <p:spPr>
          <a:xfrm>
            <a:off x="3384000" y="277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3510000" y="286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06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510000" y="316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gsm_submit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80" name=""/>
          <p:cNvSpPr/>
          <p:nvPr/>
        </p:nvSpPr>
        <p:spPr>
          <a:xfrm>
            <a:off x="6228000" y="277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6354000" y="286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07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354000" y="316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carrier_delivery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83" name=""/>
          <p:cNvSpPr/>
          <p:nvPr/>
        </p:nvSpPr>
        <p:spPr>
          <a:xfrm>
            <a:off x="900000" y="4428000"/>
            <a:ext cx="10260000" cy="828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900000" y="4428000"/>
            <a:ext cx="50400" cy="828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62000" y="4536000"/>
            <a:ext cx="99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Terminal failure rule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62000" y="4806000"/>
            <a:ext cx="99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Stage lỗi được ghi nhận; journey dừng và không sinh stage phía sau.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Tính năng 6 — Bottleneck detection + tracing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91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11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93" name=""/>
          <p:cNvSpPr/>
          <p:nvPr/>
        </p:nvSpPr>
        <p:spPr>
          <a:xfrm>
            <a:off x="43200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680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Symptom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95" name=""/>
          <p:cNvSpPr/>
          <p:nvPr/>
        </p:nvSpPr>
        <p:spPr>
          <a:xfrm>
            <a:off x="218088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234288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37888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Filter scope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98" name=""/>
          <p:cNvSpPr/>
          <p:nvPr/>
        </p:nvSpPr>
        <p:spPr>
          <a:xfrm>
            <a:off x="409176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425376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28976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Compare stages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1" name=""/>
          <p:cNvSpPr/>
          <p:nvPr/>
        </p:nvSpPr>
        <p:spPr>
          <a:xfrm>
            <a:off x="600264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16464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620064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Check evidence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4" name=""/>
          <p:cNvSpPr/>
          <p:nvPr/>
        </p:nvSpPr>
        <p:spPr>
          <a:xfrm>
            <a:off x="791352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807552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811152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Open trace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7" name=""/>
          <p:cNvSpPr/>
          <p:nvPr/>
        </p:nvSpPr>
        <p:spPr>
          <a:xfrm>
            <a:off x="982440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998640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0224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Assign owner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10" name=""/>
          <p:cNvSpPr/>
          <p:nvPr/>
        </p:nvSpPr>
        <p:spPr>
          <a:xfrm>
            <a:off x="900000" y="2880000"/>
            <a:ext cx="4680000" cy="1368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900000" y="2880000"/>
            <a:ext cx="50400" cy="136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62000" y="2988000"/>
            <a:ext cx="441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Metrics evidence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62000" y="3258000"/>
            <a:ext cx="441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Stage p95 + error ratio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Throughput + queue depth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Failure reason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6588000" y="2880000"/>
            <a:ext cx="4680000" cy="1368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588000" y="2880000"/>
            <a:ext cx="50400" cy="1368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750000" y="2988000"/>
            <a:ext cx="441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Trace evidence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750000" y="3258000"/>
            <a:ext cx="441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Waterfall duration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First failed span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Repeated pattern across samples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900000" y="4752000"/>
            <a:ext cx="1036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700" spc="-1" strike="noStrike">
                <a:solidFill>
                  <a:srgbClr val="c62828"/>
                </a:solidFill>
                <a:latin typeface="DejaVu Sans"/>
              </a:rPr>
              <a:t>Kết luận khi có ít nhất 2 tín hiệu đồng thuận</a:t>
            </a:r>
            <a:endParaRPr b="1" lang="en-US" sz="1700" spc="-1" strike="noStrike">
              <a:solidFill>
                <a:srgbClr val="c62828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Ví dụ trace waterfall — carrier bottleneck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23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12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40000" y="122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edge_to_kong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26" name=""/>
          <p:cNvSpPr/>
          <p:nvPr/>
        </p:nvSpPr>
        <p:spPr>
          <a:xfrm>
            <a:off x="2952000" y="122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0656000" y="122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0.02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40000" y="176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kong_to_idp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29" name=""/>
          <p:cNvSpPr/>
          <p:nvPr/>
        </p:nvSpPr>
        <p:spPr>
          <a:xfrm>
            <a:off x="2952000" y="176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0656000" y="176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0.05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540000" y="230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redis_challenge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32" name=""/>
          <p:cNvSpPr/>
          <p:nvPr/>
        </p:nvSpPr>
        <p:spPr>
          <a:xfrm>
            <a:off x="2952000" y="230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0656000" y="230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0.01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40000" y="284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route_selection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35" name=""/>
          <p:cNvSpPr/>
          <p:nvPr/>
        </p:nvSpPr>
        <p:spPr>
          <a:xfrm>
            <a:off x="2952000" y="284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0656000" y="284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0.004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540000" y="338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queue_wait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38" name=""/>
          <p:cNvSpPr/>
          <p:nvPr/>
        </p:nvSpPr>
        <p:spPr>
          <a:xfrm>
            <a:off x="2952000" y="3384000"/>
            <a:ext cx="4428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0656000" y="338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0.07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40000" y="392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gsm_submit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41" name=""/>
          <p:cNvSpPr/>
          <p:nvPr/>
        </p:nvSpPr>
        <p:spPr>
          <a:xfrm>
            <a:off x="2952000" y="3924000"/>
            <a:ext cx="21564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0656000" y="392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0.34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40000" y="446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200" spc="-1" strike="noStrike">
                <a:solidFill>
                  <a:srgbClr val="172033"/>
                </a:solidFill>
                <a:latin typeface="DejaVu Sans"/>
              </a:rPr>
              <a:t>carrier_delivery</a:t>
            </a:r>
            <a:endParaRPr b="1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44" name=""/>
          <p:cNvSpPr/>
          <p:nvPr/>
        </p:nvSpPr>
        <p:spPr>
          <a:xfrm>
            <a:off x="2952000" y="4464000"/>
            <a:ext cx="7560000" cy="252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0656000" y="446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ef6c00"/>
                </a:solidFill>
                <a:latin typeface="DejaVu Sans"/>
              </a:rPr>
              <a:t>11.91 s</a:t>
            </a:r>
            <a:endParaRPr b="1" lang="en-US" sz="1200" spc="-1" strike="noStrike">
              <a:solidFill>
                <a:srgbClr val="ef6c00"/>
              </a:solidFill>
              <a:latin typeface="DejaVu Sans"/>
            </a:endParaRPr>
          </a:p>
        </p:txBody>
      </p:sp>
      <p:sp>
        <p:nvSpPr>
          <p:cNvPr id="346" name=""/>
          <p:cNvSpPr/>
          <p:nvPr/>
        </p:nvSpPr>
        <p:spPr>
          <a:xfrm>
            <a:off x="6840000" y="5256000"/>
            <a:ext cx="4500000" cy="684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6840000" y="5256000"/>
            <a:ext cx="50400" cy="684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002000" y="5364000"/>
            <a:ext cx="423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Kết luận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002000" y="5634000"/>
            <a:ext cx="423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Carrier chiếm ~96% tổng latency → chuyển đúng provider owner.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Kịch bản demo trực tiếp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54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13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56" name=""/>
          <p:cNvSpPr/>
          <p:nvPr/>
        </p:nvSpPr>
        <p:spPr>
          <a:xfrm>
            <a:off x="43200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4680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Baseline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58" name=""/>
          <p:cNvSpPr/>
          <p:nvPr/>
        </p:nvSpPr>
        <p:spPr>
          <a:xfrm>
            <a:off x="218088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234288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237888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Trigger ID carrier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61" name=""/>
          <p:cNvSpPr/>
          <p:nvPr/>
        </p:nvSpPr>
        <p:spPr>
          <a:xfrm>
            <a:off x="409176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25376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28976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p95 tăng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64" name=""/>
          <p:cNvSpPr/>
          <p:nvPr/>
        </p:nvSpPr>
        <p:spPr>
          <a:xfrm>
            <a:off x="600264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16464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20064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Find stage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67" name=""/>
          <p:cNvSpPr/>
          <p:nvPr/>
        </p:nvSpPr>
        <p:spPr>
          <a:xfrm>
            <a:off x="791352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807552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811152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Open Tempo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70" name=""/>
          <p:cNvSpPr/>
          <p:nvPr/>
        </p:nvSpPr>
        <p:spPr>
          <a:xfrm>
            <a:off x="982440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998640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00224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Clear &amp; recover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73" name=""/>
          <p:cNvSpPr/>
          <p:nvPr/>
        </p:nvSpPr>
        <p:spPr>
          <a:xfrm>
            <a:off x="720000" y="2880000"/>
            <a:ext cx="3240000" cy="14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720000" y="2880000"/>
            <a:ext cx="50400" cy="14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882000" y="2988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1. Observe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882000" y="3258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Journey success, p95, stage latency và queue ở trạng thái bình thường.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77" name=""/>
          <p:cNvSpPr/>
          <p:nvPr/>
        </p:nvSpPr>
        <p:spPr>
          <a:xfrm>
            <a:off x="4464000" y="2880000"/>
            <a:ext cx="3240000" cy="14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4464000" y="2880000"/>
            <a:ext cx="50400" cy="14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4626000" y="2988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2. Degrade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4626000" y="3258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Tăng 5× latency và 15% failure tại Indonesia carrier delivery.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81" name=""/>
          <p:cNvSpPr/>
          <p:nvPr/>
        </p:nvSpPr>
        <p:spPr>
          <a:xfrm>
            <a:off x="8208000" y="2880000"/>
            <a:ext cx="3240000" cy="14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8208000" y="2880000"/>
            <a:ext cx="50400" cy="14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8370000" y="2988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3. Prove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8370000" y="3258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Grafana localize stage; Tempo waterfall xác minh; clear scenario.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Chất lượng, bảo mật và giới hạn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9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14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1" name=""/>
          <p:cNvSpPr/>
          <p:nvPr/>
        </p:nvSpPr>
        <p:spPr>
          <a:xfrm>
            <a:off x="540000" y="1296000"/>
            <a:ext cx="3384000" cy="23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540000" y="1296000"/>
            <a:ext cx="50400" cy="23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02000" y="1404000"/>
            <a:ext cx="311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Quality gates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02000" y="1674000"/>
            <a:ext cx="3114000" cy="98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Python and unit tests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Dashboard contract tests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Prometheus rule tests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Compose/config validation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GitOps + CI workflow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5" name=""/>
          <p:cNvSpPr/>
          <p:nvPr/>
        </p:nvSpPr>
        <p:spPr>
          <a:xfrm>
            <a:off x="4392000" y="1296000"/>
            <a:ext cx="3384000" cy="23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4392000" y="1296000"/>
            <a:ext cx="50400" cy="23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4554000" y="1404000"/>
            <a:ext cx="311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Telemetry safety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4554000" y="1674000"/>
            <a:ext cx="3114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Không phone/email/OTP/token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Không request ID trong labels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Bounded cardinality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trace_id chỉ để correlation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9" name=""/>
          <p:cNvSpPr/>
          <p:nvPr/>
        </p:nvSpPr>
        <p:spPr>
          <a:xfrm>
            <a:off x="8244000" y="1296000"/>
            <a:ext cx="3060000" cy="23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8244000" y="1296000"/>
            <a:ext cx="50400" cy="23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8406000" y="1404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Current limits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8406000" y="1674000"/>
            <a:ext cx="279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Synthetic traffic/traces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Một simulator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Mock delivery receipt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Threshold chưa là prod SLO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92000" y="4392000"/>
            <a:ext cx="10440000" cy="65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900" spc="-1" strike="noStrike">
                <a:solidFill>
                  <a:srgbClr val="10233f"/>
                </a:solidFill>
                <a:latin typeface="DejaVu Sans"/>
              </a:rPr>
              <a:t>Demo chứng minh contract và workflow — không khẳng định production topology</a:t>
            </a:r>
            <a:endParaRPr b="1" lang="en-US" sz="19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Kết quả và bước tiếp theo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08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15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10" name=""/>
          <p:cNvSpPr/>
          <p:nvPr/>
        </p:nvSpPr>
        <p:spPr>
          <a:xfrm>
            <a:off x="540000" y="1296000"/>
            <a:ext cx="5040000" cy="1944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540000" y="1296000"/>
            <a:ext cx="50400" cy="1944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02000" y="1404000"/>
            <a:ext cx="47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Giá trị đã đạt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02000" y="1674000"/>
            <a:ext cx="477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Lab end-to-end, tái hiện sự cố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KPI/SLI/SLO + dashboards + alerts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OTP bottleneck bằng metrics + traces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Nền tảng tích hợp UAT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14" name=""/>
          <p:cNvSpPr/>
          <p:nvPr/>
        </p:nvSpPr>
        <p:spPr>
          <a:xfrm>
            <a:off x="6480000" y="1296000"/>
            <a:ext cx="5040000" cy="194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6480000" y="1296000"/>
            <a:ext cx="50400" cy="1944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6642000" y="1404000"/>
            <a:ext cx="47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Đề xuất tiếp theo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642000" y="1674000"/>
            <a:ext cx="477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1. Owner xác nhận topology/SLI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2. Instrument Kong + Go services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3. Propagate HTTP/gRPC/Kafka context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4. UAT baseline và tune threshold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18" name=""/>
          <p:cNvSpPr/>
          <p:nvPr/>
        </p:nvSpPr>
        <p:spPr>
          <a:xfrm>
            <a:off x="8280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8640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Confirm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20" name=""/>
          <p:cNvSpPr/>
          <p:nvPr/>
        </p:nvSpPr>
        <p:spPr>
          <a:xfrm>
            <a:off x="27864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29484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9844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Instrument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23" name=""/>
          <p:cNvSpPr/>
          <p:nvPr/>
        </p:nvSpPr>
        <p:spPr>
          <a:xfrm>
            <a:off x="49068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50688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51048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Correlate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26" name=""/>
          <p:cNvSpPr/>
          <p:nvPr/>
        </p:nvSpPr>
        <p:spPr>
          <a:xfrm>
            <a:off x="70272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71892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2252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Baseline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29" name=""/>
          <p:cNvSpPr/>
          <p:nvPr/>
        </p:nvSpPr>
        <p:spPr>
          <a:xfrm>
            <a:off x="91476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93096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93456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Production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828000" y="5004000"/>
            <a:ext cx="10440000" cy="65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900" spc="-1" strike="noStrike">
                <a:solidFill>
                  <a:srgbClr val="10233f"/>
                </a:solidFill>
                <a:latin typeface="DejaVu Sans"/>
              </a:rPr>
              <a:t>Không chỉ biết OTP chậm — xác định chậm ở đâu và cung cấp bằng chứng để chuyển đúng đội xử lý.</a:t>
            </a:r>
            <a:endParaRPr b="1" lang="en-US" sz="19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2026-08-21T06:20:12Z</dcterms:created>
  <dc:creator/>
  <dc:description/>
  <dc:language>en-US</dc:language>
  <cp:lastModifiedBy/>
  <dcterms:modified xsi:type="dcterms:W3CDTF">2026-08-21T06:20:18Z</dcterms:modified>
  <cp:revision>1</cp:revision>
  <dc:subject/>
  <dc:title/>
</cp:coreProperties>
</file>