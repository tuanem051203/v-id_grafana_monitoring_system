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Aptos"/>
              </a:rPr>
              <a:t>Click to move the slide</a:t>
            </a:r>
            <a:endParaRPr b="0" lang="en-US" sz="1800" spc="-1" strike="noStrike">
              <a:solidFill>
                <a:schemeClr val="dk1"/>
              </a:solidFill>
              <a:latin typeface="Aptos"/>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9"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0"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70DAC07-A00F-4269-943F-86E364860C29}"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5800" y="1143000"/>
            <a:ext cx="5486040" cy="3085920"/>
          </a:xfrm>
          <a:prstGeom prst="rect">
            <a:avLst/>
          </a:prstGeom>
          <a:ln w="0">
            <a:noFill/>
          </a:ln>
        </p:spPr>
      </p:sp>
      <p:sp>
        <p:nvSpPr>
          <p:cNvPr id="4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Xin chào mọi người. Hôm nay tôi giới thiệu V-ID Grafana Monitoring System, một observability lab dành cho Identity Platform.</a:t>
            </a:r>
            <a:endParaRPr lang="vi-VN" sz="1800"/>
          </a:p>
          <a:p>
            <a:pPr marL="0" indent="0">
              <a:buNone/>
            </a:pPr>
            <a:r>
              <a:rPr lang="vi-VN" sz="1800"/>
              <a:t>Nội dung chính: Đây không phải là một dashboard đơn lẻ. Project xây dựng một luồng hoàn chỉnh từ synthetic traffic, metrics và recording rules, đến alerting, dashboard và distributed tracing. Mục tiêu là chuẩn hóa cách phát hiện và chẩn đoán vấn đề trước khi kết nối với telemetry UAT thật.</a:t>
            </a:r>
            <a:endParaRPr lang="vi-VN" sz="1800"/>
          </a:p>
          <a:p>
            <a:pPr marL="0" indent="0">
              <a:buNone/>
            </a:pPr>
            <a:r>
              <a:rPr lang="vi-VN" sz="1800"/>
              <a:t>Chuyển ý: Trước khi đi vào kiến trúc, chúng ta cần thống nhất câu hỏi mà hệ thống monitoring phải trả lời.</a:t>
            </a:r>
            <a:endParaRPr lang="vi-VN" sz="1800"/>
          </a:p>
        </p:txBody>
      </p:sp>
      <p:sp>
        <p:nvSpPr>
          <p:cNvPr id="474"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D2AB389-966A-4763-9B6C-30181AA81144}"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5800" y="1143000"/>
            <a:ext cx="5486040" cy="3085920"/>
          </a:xfrm>
          <a:prstGeom prst="rect">
            <a:avLst/>
          </a:prstGeom>
          <a:ln w="0">
            <a:noFill/>
          </a:ln>
        </p:spPr>
      </p:sp>
      <p:sp>
        <p:nvSpPr>
          <p:cNvPr id="4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Monitoring hữu ích không chỉ cho biết hệ thống đang lỗi, mà còn phải chỉ ra người dùng đang bị ảnh hưởng ở flow nào và điểm nào cần điều tra.</a:t>
            </a:r>
            <a:endParaRPr lang="vi-VN" sz="1800"/>
          </a:p>
          <a:p>
            <a:pPr marL="0" indent="0">
              <a:buNone/>
            </a:pPr>
            <a:r>
              <a:rPr lang="vi-VN" sz="1800"/>
              <a:t>Nội dung chính: Project theo dõi các outcome quan trọng như authentication, OTP, token và availability. Metrics và SLO giúp phát hiện bất thường; dashboard giúp khoanh vùng; trace được dùng khi cần xem request path. Với OTP, câu hỏi không dừng ở việc OTP chậm mà phải xác định chậm tại Kong, IdP, Redis, queue, nhà cung cấp GSM hay carrier delivery.</a:t>
            </a:r>
            <a:endParaRPr lang="vi-VN" sz="1800"/>
          </a:p>
          <a:p>
            <a:pPr marL="0" indent="0">
              <a:buNone/>
            </a:pPr>
            <a:r>
              <a:rPr lang="vi-VN" sz="1800"/>
              <a:t>Chuyển ý: Từ mục tiêu đó, project giới hạn scope vào các luồng có ảnh hưởng trực tiếp tới identity, access và trải nghiệm OTP.</a:t>
            </a:r>
            <a:endParaRPr lang="vi-VN" sz="1800"/>
          </a:p>
        </p:txBody>
      </p:sp>
      <p:sp>
        <p:nvSpPr>
          <p:cNvPr id="477"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7FA3C4E7-2B85-49DC-8B46-525D6E80BB59}"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Scope observability được tổ chức theo user journey và business boundary, thay vì chỉ liệt kê từng service.</a:t>
            </a:r>
            <a:endParaRPr lang="vi-VN" sz="1800"/>
          </a:p>
          <a:p>
            <a:pPr marL="0" indent="0">
              <a:buNone/>
            </a:pPr>
            <a:r>
              <a:rPr lang="vi-VN" sz="1800"/>
              <a:t>Nội dung chính: Năm nhóm chính gồm Authentication, OTP, Token, Authorization và Platform. Authentication bao phủ cả IdP native hoặc transition và Hydra browser OIDC. OTP bao phủ send, delivery, verify và từng journey stage. Authorization phân biệt policy denial với system error. Platform sử dụng RED signals và dependency health. Các boundary như Kong, Redis, Postgres, Kafka và notification provider đều được mô hình hóa để hỗ trợ triage.</a:t>
            </a:r>
            <a:endParaRPr lang="vi-VN" sz="1800"/>
          </a:p>
          <a:p>
            <a:pPr marL="0" indent="0">
              <a:buNone/>
            </a:pPr>
            <a:r>
              <a:rPr lang="vi-VN" sz="1800"/>
              <a:t>Chuyển ý: Với scope này, slide tiếp theo cho thấy telemetry đi xuyên suốt hệ thống như thế nào.</a:t>
            </a:r>
            <a:endParaRPr lang="vi-VN" sz="1800"/>
          </a:p>
        </p:txBody>
      </p:sp>
      <p:sp>
        <p:nvSpPr>
          <p:cNvPr id="480"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070819D-3360-4C29-A414-51310300602B}"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685800" y="1143000"/>
            <a:ext cx="5486040" cy="3085920"/>
          </a:xfrm>
          <a:prstGeom prst="rect">
            <a:avLst/>
          </a:prstGeom>
          <a:ln w="0">
            <a:noFill/>
          </a:ln>
        </p:spPr>
      </p:sp>
      <p:sp>
        <p:nvSpPr>
          <p:cNvPr id="4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Kiến trúc sử dụng một flow thống nhất cho metrics, alerting và tracing, trong đó Grafana là điểm hội tụ để vận hành.</a:t>
            </a:r>
            <a:endParaRPr lang="vi-VN" sz="1800"/>
          </a:p>
          <a:p>
            <a:pPr marL="0" indent="0">
              <a:buNone/>
            </a:pPr>
            <a:r>
              <a:rPr lang="vi-VN" sz="1800"/>
              <a:t>Nội dung chính: Metrics Simulator tạo traffic tổng hợp và expose metrics cho Prometheus. Prometheus scrape dữ liệu và tính 62 recording rules; 17 alert rules được chuyển tới Alertmanager. Khoảng một phần traffic OTP journey được gửi qua OTel Collector vào Tempo. Grafana sử dụng các nguồn này trong 8 dashboard cốt lõi. Nguyên tắc thiết kế là metrics trả lời cái gì đang xấu, còn trace trả lời xấu tại stage hoặc request path nào. Identifier có cardinality cao chỉ thuộc trace hoặc log, không đưa vào metric label.</a:t>
            </a:r>
            <a:endParaRPr lang="vi-VN" sz="1800"/>
          </a:p>
          <a:p>
            <a:pPr marL="0" indent="0">
              <a:buNone/>
            </a:pPr>
            <a:r>
              <a:rPr lang="vi-VN" sz="1800"/>
              <a:t>Chuyển ý: Trên kiến trúc đó, chúng ta chuẩn hóa sáu KPI cốt lõi.</a:t>
            </a:r>
            <a:endParaRPr lang="vi-VN" sz="1800"/>
          </a:p>
        </p:txBody>
      </p:sp>
      <p:sp>
        <p:nvSpPr>
          <p:cNvPr id="483"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76DEA2F-AAED-4B6D-AFFB-4CC32E4F0A06}"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Sáu KPI này chuyển các tín hiệu kỹ thuật thành outcome mà owner và đội vận hành có thể cùng thống nhất.</a:t>
            </a:r>
            <a:endParaRPr lang="vi-VN" sz="1800"/>
          </a:p>
          <a:p>
            <a:pPr marL="0" indent="0">
              <a:buNone/>
            </a:pPr>
            <a:r>
              <a:rPr lang="vi-VN" sz="1800"/>
              <a:t>Nội dung chính: Authentication success, token issuance success và platform availability hướng tới 99,9% trong 30 ngày. Authentication latency yêu cầu ít nhất 95% request dưới 500 mili giây. OTP delivery success có target 95% ở cả cửa sổ 24 giờ và 30 ngày. KPI-04, OTP verification success, hiện chỉ là baseline; chưa có SLO alert vì cần dữ liệu thực và owner phê duyệt trước. Mỗi KPI đều phải có numerator, denominator, target, window và exclusion rõ ràng.</a:t>
            </a:r>
            <a:endParaRPr lang="vi-VN" sz="1800"/>
          </a:p>
          <a:p>
            <a:pPr marL="0" indent="0">
              <a:buNone/>
            </a:pPr>
            <a:r>
              <a:rPr lang="vi-VN" sz="1800"/>
              <a:t>Chuyển ý: Để dashboard và alert không hiểu KPI theo hai cách khác nhau, project dùng một metric contract chung.</a:t>
            </a:r>
            <a:endParaRPr lang="vi-VN" sz="1800"/>
          </a:p>
        </p:txBody>
      </p:sp>
      <p:sp>
        <p:nvSpPr>
          <p:cNvPr id="486"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C712DD0-5B8C-420F-B965-184FAD48353D}"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Metric contract là lớp chuẩn hóa nằm giữa raw telemetry và các nội dung người dùng nhìn thấy trên Grafana hoặc Alertmanager.</a:t>
            </a:r>
            <a:endParaRPr lang="vi-VN" sz="1800"/>
          </a:p>
          <a:p>
            <a:pPr marL="0" indent="0">
              <a:buNone/>
            </a:pPr>
            <a:r>
              <a:rPr lang="vi-VN" sz="1800"/>
              <a:t>Nội dung chính: Counter được đọc bằng rate hoặc increase; histogram thống nhất đơn vị giây; numerator phải là tập con của denominator. Labels chỉ dùng các dimension hữu hạn như environment, cluster, service, operation và result. PII, token, OTP, user ID, request ID và trace ID bị cấm làm label để tránh rò rỉ dữ liệu và cardinality explosion. 62 recording rules giúp dashboard và alert dùng cùng một định nghĩa PromQL, đồng thời giảm việc lặp truy vấn phức tạp.</a:t>
            </a:r>
            <a:endParaRPr lang="vi-VN" sz="1800"/>
          </a:p>
          <a:p>
            <a:pPr marL="0" indent="0">
              <a:buNone/>
            </a:pPr>
            <a:r>
              <a:rPr lang="vi-VN" sz="1800"/>
              <a:t>Chuyển ý: Sau khi có contract thống nhất, các câu hỏi vận hành được thể hiện thành hệ thống dashboard.</a:t>
            </a:r>
            <a:endParaRPr lang="vi-VN" sz="1800"/>
          </a:p>
        </p:txBody>
      </p:sp>
      <p:sp>
        <p:nvSpPr>
          <p:cNvPr id="489"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3A1DB0A7-5D47-4B89-A1B6-DD9872516EF0}"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Dashboard được chia theo câu hỏi vận hành và user journey, không chỉ theo tên service.</a:t>
            </a:r>
            <a:endParaRPr lang="vi-VN" sz="1800"/>
          </a:p>
          <a:p>
            <a:pPr marL="0" indent="0">
              <a:buNone/>
            </a:pPr>
            <a:r>
              <a:rPr lang="vi-VN" sz="1800"/>
              <a:t>Nội dung chính: Overview cho biết sức khỏe tổng thể. Các dashboard Authentication, MFA &amp; OTP, OTP Journey, Token Lifecycle và Authorization phục vụ từng flow. Platform &amp; Dependencies hỗ trợ RED và dependency health; SLO &amp; Incidents tập trung vào error budget và burn rate. Ngoài 8 dashboard cốt lõi còn có Platform deep-dive Requests, nên tổng artifact hiện tại là 9 dashboard và 83 panel. Variables dùng các dimension bounded, còn datasource UID ổn định giúp promote giữa các environment.</a:t>
            </a:r>
            <a:endParaRPr lang="vi-VN" sz="1800"/>
          </a:p>
          <a:p>
            <a:pPr marL="0" indent="0">
              <a:buNone/>
            </a:pPr>
            <a:r>
              <a:rPr lang="vi-VN" sz="1800"/>
              <a:t>Chuyển ý: Điểm nổi bật nhất trong nhóm dashboard là khả năng phân tích OTP Journey theo từng stage.</a:t>
            </a:r>
            <a:endParaRPr lang="vi-VN" sz="1800"/>
          </a:p>
        </p:txBody>
      </p:sp>
      <p:sp>
        <p:nvSpPr>
          <p:cNvPr id="492"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489B232E-8787-4014-8F93-E5ABFDE64DE3}"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OTP Journey Monitoring giúp chuyển một triệu chứng chung là OTP chậm thành một vị trí điều tra cụ thể.</a:t>
            </a:r>
            <a:endParaRPr lang="vi-VN" sz="1800"/>
          </a:p>
          <a:p>
            <a:pPr marL="0" indent="0">
              <a:buNone/>
            </a:pPr>
            <a:r>
              <a:rPr lang="vi-VN" sz="1800"/>
              <a:t>Nội dung chính: Journey được tách từ edge, Kong, IdP, Redis, routing, queue, GSM submit đến carrier delivery. Metrics hiển thị p95 và error ratio theo stage, cùng queue depth hoặc delivery receipt, có thể lọc theo country, provider và channel. Khoảng 10% journey synthetic được sample để trace; exemplar trên histogram mang trace ID và mở trực tiếp waterfall trong Tempo. Khi triage, cần tìm stage đầu tiên lệch baseline và yêu cầu ít nhất hai tín hiệu đồng thuận; không kết luận chỉ từ một trace.</a:t>
            </a:r>
            <a:endParaRPr lang="vi-VN" sz="1800"/>
          </a:p>
          <a:p>
            <a:pPr marL="0" indent="0">
              <a:buNone/>
            </a:pPr>
            <a:r>
              <a:rPr lang="vi-VN" sz="1800"/>
              <a:t>Chuyển ý: Ví dụ tiếp theo minh họa vì sao việc tách stage giúp tránh quy trách nhiệm sai.</a:t>
            </a:r>
            <a:endParaRPr lang="vi-VN" sz="1800"/>
          </a:p>
        </p:txBody>
      </p:sp>
      <p:sp>
        <p:nvSpPr>
          <p:cNvPr id="495"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64B201D6-153D-4ECF-9384-6EDA12495DA2}"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Trong ví dụ này, người dùng chờ OTP tổng cộng 12,4 giây, nhưng phần lớn thời gian không nằm trong synchronous path của V-ID.</a:t>
            </a:r>
            <a:endParaRPr lang="vi-VN" sz="1800"/>
          </a:p>
          <a:p>
            <a:pPr marL="0" indent="0">
              <a:buNone/>
            </a:pPr>
            <a:r>
              <a:rPr lang="vi-VN" sz="1800"/>
              <a:t>Nội dung chính: Các stage nội bộ như edge, Kong, IdP, Redis, routing và queue chỉ chiếm thời gian rất nhỏ. GSM submit mất 0,34 giây, trong khi carrier delivery mất 11,91 giây, tương đương khoảng 96% tổng latency. Waterfall vì vậy hướng điều tra sang downstream provider hoặc carrier, thay vì đổ lỗi cho IdP hay queue. Đây vẫn là giả thuyết triage và phải được xác nhận bằng metric theo stage, error ratio, queue hoặc provider signals.</a:t>
            </a:r>
            <a:endParaRPr lang="vi-VN" sz="1800"/>
          </a:p>
          <a:p>
            <a:pPr marL="0" indent="0">
              <a:buNone/>
            </a:pPr>
            <a:r>
              <a:rPr lang="vi-VN" sz="1800"/>
              <a:t>Chuyển ý: Để kiểm thử được tình huống như vậy trước khi có UAT telemetry, project sử dụng synthetic traffic.</a:t>
            </a:r>
            <a:endParaRPr lang="vi-VN" sz="1800"/>
          </a:p>
        </p:txBody>
      </p:sp>
      <p:sp>
        <p:nvSpPr>
          <p:cNvPr id="498"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BF91AE7-14D8-4AF8-ADE3-A767CE444FEA}"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Simulator tạo traffic có kiểm soát để kiểm thử observability contract, không phải để mô phỏng chính xác năng lực production.</a:t>
            </a:r>
            <a:endParaRPr lang="vi-VN" sz="1800"/>
          </a:p>
          <a:p>
            <a:pPr marL="0" indent="0">
              <a:buNone/>
            </a:pPr>
            <a:r>
              <a:rPr lang="vi-VN" sz="1800"/>
              <a:t>Nội dung chính: Các profile từ development 20 TPS đến peak 2.000 TPS phát ra tín hiệu cho authentication, OTP, token, HTTP và dependencies. Failure scenarios gồm latency degradation, error-rate increase, queue backlog và provider hoặc delivery delay. Nhờ đó có thể kiểm tra recording rules, SLO và burn rate, hành vi dashboard, alert routing và runbook triage trước UAT. Cần nhấn mạnh rằng dữ liệu synthetic không được dùng để suy ra production baseline, capacity hay threshold cuối cùng.</a:t>
            </a:r>
            <a:endParaRPr lang="vi-VN" sz="1800"/>
          </a:p>
          <a:p>
            <a:pPr marL="0" indent="0">
              <a:buNone/>
            </a:pPr>
            <a:r>
              <a:rPr lang="vi-VN" sz="1800"/>
              <a:t>Chuyển ý: Một trong những phần quan trọng được kiểm thử bằng simulator là SLO, error budget và burn rate.</a:t>
            </a:r>
            <a:endParaRPr lang="vi-VN" sz="1800"/>
          </a:p>
        </p:txBody>
      </p:sp>
      <p:sp>
        <p:nvSpPr>
          <p:cNvPr id="501"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650DA00-0B37-441D-94D4-514FAE71E5E2}"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Alerting được thiết kế theo mức ảnh hưởng người dùng và tốc độ tiêu error budget, thay vì page chỉ vì CPU hoặc số pod thay đổi.</a:t>
            </a:r>
            <a:endParaRPr lang="vi-VN" sz="1800"/>
          </a:p>
          <a:p>
            <a:pPr marL="0" indent="0">
              <a:buNone/>
            </a:pPr>
            <a:r>
              <a:rPr lang="vi-VN" sz="1800"/>
              <a:t>Nội dung chính: Error budget bằng một trừ SLO; burn rate là tỷ lệ lỗi quan sát được chia cho tỷ lệ lỗi cho phép. Với SLO 99,9%, budget chỉ là 0,1%, nên burn rate lớn hơn một nghĩa là đang tiêu budget quá nhanh. Alert yêu cầu đủ traffic và nhiều cửa sổ thời gian đồng thuận. No-data không được coi là 0% lỗi hoặc 100% thành công. Invalid credential, OTP sai hoặc hết hạn, và policy denial cũng không mặc định là platform failure. KPI-04 chưa page vì còn ở giai đoạn baseline.</a:t>
            </a:r>
            <a:endParaRPr lang="vi-VN" sz="1800"/>
          </a:p>
          <a:p>
            <a:pPr marL="0" indent="0">
              <a:buNone/>
            </a:pPr>
            <a:r>
              <a:rPr lang="vi-VN" sz="1800"/>
              <a:t>Chuyển ý: Khi alert thực sự fire, runbook chuẩn hóa cách đội vận hành đi từ tín hiệu tới hành động.</a:t>
            </a:r>
            <a:endParaRPr lang="vi-VN" sz="1800"/>
          </a:p>
        </p:txBody>
      </p:sp>
      <p:sp>
        <p:nvSpPr>
          <p:cNvPr id="504"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D5245C2A-C4B8-4A43-A6BB-01A9BF19351E}"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Project có 17 alert rules, nhưng giá trị vận hành nằm ở quy trình triage nhất quán sau khi nhận alert.</a:t>
            </a:r>
            <a:endParaRPr lang="vi-VN" sz="1800"/>
          </a:p>
          <a:p>
            <a:pPr marL="0" indent="0">
              <a:buNone/>
            </a:pPr>
            <a:r>
              <a:rPr lang="vi-VN" sz="1800"/>
              <a:t>Nội dung chính: Trước tiên xác nhận environment, thời gian, client và flow bị ảnh hưởng. Sau đó đi từ Overview vào dashboard chi tiết, tìm service hoặc stage đầu tiên suy giảm, rồi mở Tempo exemplar và đối chiếu với thay đổi gần nhất. Chỉ kết luận bottleneck khi có ít nhất hai tín hiệu; alert labels không chứa PII. Mitigation phải nằm trong thủ tục đã được owner phê duyệt. Cuối cùng cần xác nhận SLI phục hồi và không xuất hiện làn sóng retry hoặc backlog sau phục hồi.</a:t>
            </a:r>
            <a:endParaRPr lang="vi-VN" sz="1800"/>
          </a:p>
          <a:p>
            <a:pPr marL="0" indent="0">
              <a:buNone/>
            </a:pPr>
            <a:r>
              <a:rPr lang="vi-VN" sz="1800"/>
              <a:t>Chuyển ý: Để quy trình này hoạt động nhất quán ở nhiều môi trường, deployment cũng được quản lý bằng profile và validation gates.</a:t>
            </a:r>
            <a:endParaRPr lang="vi-VN" sz="1800"/>
          </a:p>
        </p:txBody>
      </p:sp>
      <p:sp>
        <p:nvSpPr>
          <p:cNvPr id="507"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9E9D99F-79E3-4D25-A3B5-30641F35A2DE}"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Cấu hình được render theo environment, còn artifact đã generate không phải source of truth và không được sửa thủ công.</a:t>
            </a:r>
            <a:endParaRPr lang="vi-VN" sz="1800"/>
          </a:p>
          <a:p>
            <a:pPr marL="0" indent="0">
              <a:buNone/>
            </a:pPr>
            <a:r>
              <a:rPr lang="vi-VN" sz="1800"/>
              <a:t>Nội dung chính: Renderer hỗ trợ local, UAT và production cùng các traffic profile 20, 100, 500 và 2.000 TPS. Output gồm Docker Compose, Prometheus rules, Alertmanager config, Grafana datasource và resolved config. Secret không nằm trong config JSON; production cần secret manager hoặc Kubernetes Secret. Trước khi merge, quality gate kiểm tra Python, dashboard JSON contract, Prometheus config và rules, sáu KPI rule tests, Alertmanager, Docker Compose và smoke test. Một gate thất bại thì không promote.</a:t>
            </a:r>
            <a:endParaRPr lang="vi-VN" sz="1800"/>
          </a:p>
          <a:p>
            <a:pPr marL="0" indent="0">
              <a:buNone/>
            </a:pPr>
            <a:r>
              <a:rPr lang="vi-VN" sz="1800"/>
              <a:t>Chuyển ý: Từ các lớp contract, dashboard, alert và deployment đó, chúng ta có thể tổng kết những artifact project đã hoàn thành.</a:t>
            </a:r>
            <a:endParaRPr lang="vi-VN" sz="1800"/>
          </a:p>
        </p:txBody>
      </p:sp>
      <p:sp>
        <p:nvSpPr>
          <p:cNvPr id="510"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90EFDF2-6548-4710-894C-63CDEE4C36BE}"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Project đã tạo được một baseline local và UAT có thể review, demo và kiểm thử bằng artifact được version-control.</a:t>
            </a:r>
            <a:endParaRPr lang="vi-VN" sz="1800"/>
          </a:p>
          <a:p>
            <a:pPr marL="0" indent="0">
              <a:buNone/>
            </a:pPr>
            <a:r>
              <a:rPr lang="vi-VN" sz="1800"/>
              <a:t>Nội dung chính: Hiện có 9 Grafana dashboard với 83 panel, 62 recording rules và 17 alert rules. Simulator bao phủ AuthN, OTP, token, AuthZ, HTTP, dependencies và sampled OTP traces. Stack gồm Prometheus, Grafana, Alertmanager, OTel Collector và Tempo. Ngoài ra còn có KPI contract, runbook, environment renderer, rule tests và smoke scripts. Các con số này mô tả artifact trong repo, không đồng nghĩa hệ thống đã production-ready hay threshold đã được xác thực bằng traffic thật.</a:t>
            </a:r>
            <a:endParaRPr lang="vi-VN" sz="1800"/>
          </a:p>
          <a:p>
            <a:pPr marL="0" indent="0">
              <a:buNone/>
            </a:pPr>
            <a:r>
              <a:rPr lang="vi-VN" sz="1800"/>
              <a:t>Chuyển ý: Vì vậy roadmap ưu tiên evidence và ownership thực tế thay vì chỉ tiếp tục tăng số dashboard.</a:t>
            </a:r>
            <a:endParaRPr lang="vi-VN" sz="1800"/>
          </a:p>
        </p:txBody>
      </p:sp>
      <p:sp>
        <p:nvSpPr>
          <p:cNvPr id="513"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1281CA4-95DD-4A0B-8C4B-7C03A0FE933C}" type="slidenum">
              <a:rPr b="0" lang="en-US" sz="1200" spc="-1" strike="noStrike">
                <a:solidFill>
                  <a:schemeClr val="dk1"/>
                </a:solidFill>
                <a:latin typeface="+mn-lt"/>
                <a:ea typeface="+mn-ea"/>
              </a:rPr>
              <a:t>15</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0" indent="0">
              <a:buNone/>
            </a:pPr>
            <a:r>
              <a:rPr lang="vi-VN" sz="1800"/>
              <a:t>Mở ý: Bước tiếp theo là thay các giả định synthetic bằng instrumentation, evidence và ownership thật trong UAT rồi mới promote có kiểm soát.</a:t>
            </a:r>
            <a:endParaRPr lang="vi-VN" sz="1800"/>
          </a:p>
          <a:p>
            <a:pPr marL="0" indent="0">
              <a:buNone/>
            </a:pPr>
            <a:r>
              <a:rPr lang="vi-VN" sz="1800"/>
              <a:t>Nội dung chính: Trước hết owner cần duyệt KPI boundary, exclusion, target, window và notification route. Sau đó triển khai ServiceMonitor hoặc PodMonitor, OTel middleware và trace propagation. Production còn cần SSO, RBAC, TLS, secret management, HA, storage và retention. UAT phải thu evidence cho trạng thái bình thường, suy giảm, no-data và low-traffic để tuning threshold, kèm rollout và rollback plan.</a:t>
            </a:r>
            <a:endParaRPr lang="vi-VN" sz="1800"/>
          </a:p>
          <a:p>
            <a:pPr marL="0" indent="0">
              <a:buNone/>
            </a:pPr>
            <a:r>
              <a:rPr lang="vi-VN" sz="1800"/>
              <a:t>Kết luận: Giá trị lớn nhất của project không nằm ở số dashboard, mà ở khả năng biến câu nói ‘hệ thống có vấn đề’ thành câu trả lời cụ thể: flow nào, KPI nào, stage nào và owner nào cần hành động. Xin cảm ơn mọi người.</a:t>
            </a:r>
            <a:endParaRPr lang="vi-VN" sz="1800"/>
          </a:p>
        </p:txBody>
      </p:sp>
      <p:sp>
        <p:nvSpPr>
          <p:cNvPr id="516"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7E20BB6-82BA-4AB9-B7FF-0218764F8BA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43025474-3763-4672-9F8C-84D7483D825F}"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31f"/>
        </a:solidFill>
      </p:bgPr>
    </p:bg>
    <p:spTree>
      <p:nvGrpSpPr>
        <p:cNvPr id="1" name=""/>
        <p:cNvGrpSpPr/>
        <p:nvPr/>
      </p:nvGrpSpPr>
      <p:grpSpPr>
        <a:xfrm>
          <a:off x="0" y="0"/>
          <a:ext cx="0" cy="0"/>
          <a:chOff x="0" y="0"/>
          <a:chExt cx="0" cy="0"/>
        </a:xfrm>
      </p:grpSpPr>
      <p:sp>
        <p:nvSpPr>
          <p:cNvPr id="0" name="Shape 0"/>
          <p:cNvSpPr/>
          <p:nvPr/>
        </p:nvSpPr>
        <p:spPr>
          <a:xfrm>
            <a:off x="0" y="0"/>
            <a:ext cx="12191400" cy="72720"/>
          </a:xfrm>
          <a:prstGeom prst="rect">
            <a:avLst/>
          </a:prstGeom>
          <a:solidFill>
            <a:srgbClr val="19c3b1"/>
          </a:solidFill>
          <a:ln w="12700">
            <a:solidFill>
              <a:srgbClr val="19c3b1"/>
            </a:solidFill>
            <a:round/>
          </a:ln>
        </p:spPr>
        <p:style>
          <a:lnRef idx="0"/>
          <a:fillRef idx="0"/>
          <a:effectRef idx="0"/>
          <a:fontRef idx="minor"/>
        </p:style>
        <p:txBody>
          <a:bodyPr lIns="90000" rIns="90000" tIns="28080" bIns="28080" anchor="t">
            <a:noAutofit/>
          </a:bodyPr>
          <a:p>
            <a:endParaRPr b="0" lang="en-US" sz="1800" spc="-1" strike="noStrike">
              <a:solidFill>
                <a:srgbClr val="ffffff"/>
              </a:solidFill>
              <a:latin typeface="Arial"/>
            </a:endParaRPr>
          </a:p>
        </p:txBody>
      </p:sp>
      <p:sp>
        <p:nvSpPr>
          <p:cNvPr id="1" name="Text 1"/>
          <p:cNvSpPr/>
          <p:nvPr/>
        </p:nvSpPr>
        <p:spPr>
          <a:xfrm>
            <a:off x="502920" y="6510600"/>
            <a:ext cx="292572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pc="-1" strike="noStrike">
                <a:solidFill>
                  <a:srgbClr val="678296"/>
                </a:solidFill>
                <a:latin typeface="Aptos"/>
                <a:ea typeface="Aptos"/>
              </a:rPr>
              <a:t>V-ID OBSERVABILITY LAB</a:t>
            </a:r>
            <a:endParaRPr b="0" lang="en-US" sz="800" spc="-1" strike="noStrike">
              <a:solidFill>
                <a:srgbClr val="ffffff"/>
              </a:solidFill>
              <a:latin typeface="Arial"/>
            </a:endParaRPr>
          </a:p>
        </p:txBody>
      </p:sp>
      <p:sp>
        <p:nvSpPr>
          <p:cNvPr id="2" name="Text 2"/>
          <p:cNvSpPr/>
          <p:nvPr/>
        </p:nvSpPr>
        <p:spPr>
          <a:xfrm>
            <a:off x="7635240" y="6510600"/>
            <a:ext cx="3977280" cy="164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pc="-1" strike="noStrike">
                <a:solidFill>
                  <a:srgbClr val="678296"/>
                </a:solidFill>
                <a:latin typeface="Aptos"/>
                <a:ea typeface="Aptos"/>
              </a:rPr>
              <a:t>Synthetic • Local/UAT • Production-oriented baseline</a:t>
            </a:r>
            <a:endParaRPr b="0" lang="en-US" sz="800" spc="-1" strike="noStrike">
              <a:solidFill>
                <a:srgbClr val="ffffff"/>
              </a:solidFill>
              <a:latin typeface="Arial"/>
            </a:endParaRPr>
          </a:p>
        </p:txBody>
      </p:sp>
      <p:sp>
        <p:nvSpPr>
          <p:cNvPr id="3" name="PlaceHolder 1"/>
          <p:cNvSpPr>
            <a:spLocks noGrp="1"/>
          </p:cNvSpPr>
          <p:nvPr>
            <p:ph type="sldNum" idx="1"/>
          </p:nvPr>
        </p:nvSpPr>
        <p:spPr>
          <a:xfrm>
            <a:off x="11777400" y="6473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2D2358CE-30D7-4E36-8485-2F4BAD57C81F}" type="slidenum">
              <a:rPr b="0" lang="en-US" sz="800" spc="-1" strike="noStrike">
                <a:solidFill>
                  <a:srgbClr val="678296"/>
                </a:solidFill>
                <a:latin typeface="Aptos"/>
                <a:ea typeface="Aptos"/>
              </a:rPr>
              <a:t>&lt;number&gt;</a:t>
            </a:fld>
            <a:endParaRPr b="0" lang="en-US" sz="800" spc="-1" strike="noStrike">
              <a:solidFill>
                <a:srgbClr val="ffffff"/>
              </a:solidFill>
              <a:latin typeface="Times New Roman"/>
            </a:endParaRPr>
          </a:p>
        </p:txBody>
      </p:sp>
      <p:sp>
        <p:nvSpPr>
          <p:cNvPr id="4"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ptos"/>
              </a:rPr>
              <a:t>Click to edit the title text format</a:t>
            </a:r>
            <a:endParaRPr b="0" lang="en-US" sz="1800" spc="-1" strike="noStrike">
              <a:solidFill>
                <a:schemeClr val="dk1"/>
              </a:solidFill>
              <a:latin typeface="Aptos"/>
            </a:endParaRP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pc="-1" strike="noStrike">
                <a:solidFill>
                  <a:schemeClr val="dk1"/>
                </a:solidFill>
                <a:latin typeface="Aptos"/>
              </a:rPr>
              <a:t>Click to edit the outline text format</a:t>
            </a:r>
            <a:endParaRPr b="0" lang="en-US" sz="3200" spc="-1" strike="noStrike">
              <a:solidFill>
                <a:schemeClr val="dk1"/>
              </a:solidFill>
              <a:latin typeface="Aptos"/>
            </a:endParaRPr>
          </a:p>
          <a:p>
            <a:pPr lvl="1" marL="864000" indent="-324000">
              <a:spcBef>
                <a:spcPts val="1134"/>
              </a:spcBef>
              <a:buClr>
                <a:srgbClr val="ffffff"/>
              </a:buClr>
              <a:buSzPct val="75000"/>
              <a:buFont typeface="Symbol" charset="2"/>
              <a:buChar char=""/>
            </a:pPr>
            <a:r>
              <a:rPr b="0" lang="en-US" sz="2400" spc="-1" strike="noStrike">
                <a:solidFill>
                  <a:schemeClr val="dk1"/>
                </a:solidFill>
                <a:latin typeface="Aptos"/>
              </a:rPr>
              <a:t>Second Outline Level</a:t>
            </a:r>
            <a:endParaRPr b="0" lang="en-US" sz="2400" spc="-1" strike="noStrike">
              <a:solidFill>
                <a:schemeClr val="dk1"/>
              </a:solidFill>
              <a:latin typeface="Aptos"/>
            </a:endParaRPr>
          </a:p>
          <a:p>
            <a:pPr lvl="2" marL="1296000" indent="-288000">
              <a:spcBef>
                <a:spcPts val="850"/>
              </a:spcBef>
              <a:buClr>
                <a:srgbClr val="ffffff"/>
              </a:buClr>
              <a:buSzPct val="45000"/>
              <a:buFont typeface="Wingdings" charset="2"/>
              <a:buChar char=""/>
            </a:pPr>
            <a:r>
              <a:rPr b="0" lang="en-US" sz="2000" spc="-1" strike="noStrike">
                <a:solidFill>
                  <a:schemeClr val="dk1"/>
                </a:solidFill>
                <a:latin typeface="Aptos"/>
              </a:rPr>
              <a:t>Third Outline Level</a:t>
            </a:r>
            <a:endParaRPr b="0" lang="en-US" sz="2000" spc="-1" strike="noStrike">
              <a:solidFill>
                <a:schemeClr val="dk1"/>
              </a:solidFill>
              <a:latin typeface="Aptos"/>
            </a:endParaRPr>
          </a:p>
          <a:p>
            <a:pPr lvl="3" marL="1728000" indent="-216000">
              <a:spcBef>
                <a:spcPts val="567"/>
              </a:spcBef>
              <a:buClr>
                <a:srgbClr val="ffffff"/>
              </a:buClr>
              <a:buSzPct val="75000"/>
              <a:buFont typeface="Symbol" charset="2"/>
              <a:buChar char=""/>
            </a:pPr>
            <a:r>
              <a:rPr b="0" lang="en-US" sz="2000" spc="-1" strike="noStrike">
                <a:solidFill>
                  <a:schemeClr val="dk1"/>
                </a:solidFill>
                <a:latin typeface="Aptos"/>
              </a:rPr>
              <a:t>Fourth Outline Level</a:t>
            </a:r>
            <a:endParaRPr b="0" lang="en-US" sz="2000" spc="-1" strike="noStrike">
              <a:solidFill>
                <a:schemeClr val="dk1"/>
              </a:solidFill>
              <a:latin typeface="Aptos"/>
            </a:endParaRPr>
          </a:p>
          <a:p>
            <a:pPr lvl="4" marL="2160000" indent="-216000">
              <a:spcBef>
                <a:spcPts val="283"/>
              </a:spcBef>
              <a:buClr>
                <a:srgbClr val="ffffff"/>
              </a:buClr>
              <a:buSzPct val="45000"/>
              <a:buFont typeface="Wingdings" charset="2"/>
              <a:buChar char=""/>
            </a:pPr>
            <a:r>
              <a:rPr b="0" lang="en-US" sz="2000" spc="-1" strike="noStrike">
                <a:solidFill>
                  <a:schemeClr val="dk1"/>
                </a:solidFill>
                <a:latin typeface="Aptos"/>
              </a:rPr>
              <a:t>Fifth Outline Level</a:t>
            </a:r>
            <a:endParaRPr b="0" lang="en-US" sz="2000" spc="-1" strike="noStrike">
              <a:solidFill>
                <a:schemeClr val="dk1"/>
              </a:solidFill>
              <a:latin typeface="Aptos"/>
            </a:endParaRPr>
          </a:p>
          <a:p>
            <a:pPr lvl="5" marL="2592000" indent="-216000">
              <a:spcBef>
                <a:spcPts val="283"/>
              </a:spcBef>
              <a:buClr>
                <a:srgbClr val="ffffff"/>
              </a:buClr>
              <a:buSzPct val="45000"/>
              <a:buFont typeface="Wingdings" charset="2"/>
              <a:buChar char=""/>
            </a:pPr>
            <a:r>
              <a:rPr b="0" lang="en-US" sz="2000" spc="-1" strike="noStrike">
                <a:solidFill>
                  <a:schemeClr val="dk1"/>
                </a:solidFill>
                <a:latin typeface="Aptos"/>
              </a:rPr>
              <a:t>Sixth Outline Level</a:t>
            </a:r>
            <a:endParaRPr b="0" lang="en-US" sz="2000" spc="-1" strike="noStrike">
              <a:solidFill>
                <a:schemeClr val="dk1"/>
              </a:solidFill>
              <a:latin typeface="Aptos"/>
            </a:endParaRPr>
          </a:p>
          <a:p>
            <a:pPr lvl="6" marL="3024000" indent="-216000">
              <a:spcBef>
                <a:spcPts val="283"/>
              </a:spcBef>
              <a:buClr>
                <a:srgbClr val="ffffff"/>
              </a:buClr>
              <a:buSzPct val="45000"/>
              <a:buFont typeface="Wingdings" charset="2"/>
              <a:buChar char=""/>
            </a:pPr>
            <a:r>
              <a:rPr b="0" lang="en-US" sz="2000" spc="-1" strike="noStrike">
                <a:solidFill>
                  <a:schemeClr val="dk1"/>
                </a:solidFill>
                <a:latin typeface="Aptos"/>
              </a:rPr>
              <a:t>Seventh Outline Level</a:t>
            </a:r>
            <a:endParaRPr b="0" lang="en-US"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Text 0"/>
          <p:cNvSpPr/>
          <p:nvPr/>
        </p:nvSpPr>
        <p:spPr>
          <a:xfrm>
            <a:off x="685800" y="1078920"/>
            <a:ext cx="6674760" cy="1170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pc="-1" strike="noStrike">
                <a:solidFill>
                  <a:srgbClr val="f3f8fb"/>
                </a:solidFill>
                <a:latin typeface="Aptos"/>
              </a:rPr>
              <a:t>V-ID Grafana</a:t>
            </a:r>
            <a:endParaRPr b="0" lang="en-US" sz="3000" spc="-1" strike="noStrike">
              <a:solidFill>
                <a:srgbClr val="ffffff"/>
              </a:solidFill>
              <a:latin typeface="Arial"/>
            </a:endParaRPr>
          </a:p>
          <a:p>
            <a:pPr defTabSz="914400">
              <a:lnSpc>
                <a:spcPct val="100000"/>
              </a:lnSpc>
              <a:tabLst>
                <a:tab algn="l" pos="0"/>
              </a:tabLst>
            </a:pPr>
            <a:r>
              <a:rPr b="1" lang="en-US" sz="3000" spc="-1" strike="noStrike">
                <a:solidFill>
                  <a:srgbClr val="f3f8fb"/>
                </a:solidFill>
                <a:latin typeface="Aptos"/>
              </a:rPr>
              <a:t>Monitoring System</a:t>
            </a:r>
            <a:endParaRPr b="0" lang="en-US" sz="3000" spc="-1" strike="noStrike">
              <a:solidFill>
                <a:srgbClr val="ffffff"/>
              </a:solidFill>
              <a:latin typeface="Arial"/>
            </a:endParaRPr>
          </a:p>
        </p:txBody>
      </p:sp>
      <p:sp>
        <p:nvSpPr>
          <p:cNvPr id="13" name="Text 1"/>
          <p:cNvSpPr/>
          <p:nvPr/>
        </p:nvSpPr>
        <p:spPr>
          <a:xfrm>
            <a:off x="731520" y="2487240"/>
            <a:ext cx="6857640" cy="731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800" spc="-1" strike="noStrike">
                <a:solidFill>
                  <a:srgbClr val="9ab0be"/>
                </a:solidFill>
                <a:latin typeface="Aptos"/>
              </a:rPr>
              <a:t>Observability lab cho Identity Platform — từ KPI/SLO đến alerting, trace và chẩn đoán bottleneck</a:t>
            </a:r>
            <a:endParaRPr b="0" lang="en-US" sz="1800" spc="-1" strike="noStrike">
              <a:solidFill>
                <a:srgbClr val="ffffff"/>
              </a:solidFill>
              <a:latin typeface="Arial"/>
            </a:endParaRPr>
          </a:p>
        </p:txBody>
      </p:sp>
      <p:sp>
        <p:nvSpPr>
          <p:cNvPr id="14" name="Shape 2"/>
          <p:cNvSpPr/>
          <p:nvPr/>
        </p:nvSpPr>
        <p:spPr>
          <a:xfrm>
            <a:off x="731520" y="3474720"/>
            <a:ext cx="1554120" cy="310680"/>
          </a:xfrm>
          <a:prstGeom prst="roundRect">
            <a:avLst>
              <a:gd name="adj" fmla="val 1764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5" name="Text 3"/>
          <p:cNvSpPr/>
          <p:nvPr/>
        </p:nvSpPr>
        <p:spPr>
          <a:xfrm>
            <a:off x="804600" y="3525120"/>
            <a:ext cx="14079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PROMETHEUS</a:t>
            </a:r>
            <a:endParaRPr b="0" lang="en-US" sz="1600" spc="-1" strike="noStrike">
              <a:solidFill>
                <a:srgbClr val="ffffff"/>
              </a:solidFill>
              <a:latin typeface="Arial"/>
            </a:endParaRPr>
          </a:p>
        </p:txBody>
      </p:sp>
      <p:sp>
        <p:nvSpPr>
          <p:cNvPr id="16" name="Shape 4"/>
          <p:cNvSpPr/>
          <p:nvPr/>
        </p:nvSpPr>
        <p:spPr>
          <a:xfrm>
            <a:off x="2423160" y="3474720"/>
            <a:ext cx="1234080" cy="310680"/>
          </a:xfrm>
          <a:prstGeom prst="roundRect">
            <a:avLst>
              <a:gd name="adj" fmla="val 17647"/>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7" name="Text 5"/>
          <p:cNvSpPr/>
          <p:nvPr/>
        </p:nvSpPr>
        <p:spPr>
          <a:xfrm>
            <a:off x="2496240" y="3525120"/>
            <a:ext cx="108792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GRAFANA</a:t>
            </a:r>
            <a:endParaRPr b="0" lang="en-US" sz="1600" spc="-1" strike="noStrike">
              <a:solidFill>
                <a:srgbClr val="ffffff"/>
              </a:solidFill>
              <a:latin typeface="Arial"/>
            </a:endParaRPr>
          </a:p>
        </p:txBody>
      </p:sp>
      <p:sp>
        <p:nvSpPr>
          <p:cNvPr id="18" name="Shape 6"/>
          <p:cNvSpPr/>
          <p:nvPr/>
        </p:nvSpPr>
        <p:spPr>
          <a:xfrm>
            <a:off x="3794760" y="3474720"/>
            <a:ext cx="1599840" cy="310680"/>
          </a:xfrm>
          <a:prstGeom prst="roundRect">
            <a:avLst>
              <a:gd name="adj" fmla="val 17647"/>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 name="Text 7"/>
          <p:cNvSpPr/>
          <p:nvPr/>
        </p:nvSpPr>
        <p:spPr>
          <a:xfrm>
            <a:off x="3867840" y="3525120"/>
            <a:ext cx="145368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ALERTING</a:t>
            </a:r>
            <a:endParaRPr b="0" lang="en-US" sz="1600" spc="-1" strike="noStrike">
              <a:solidFill>
                <a:srgbClr val="ffffff"/>
              </a:solidFill>
              <a:latin typeface="Arial"/>
            </a:endParaRPr>
          </a:p>
        </p:txBody>
      </p:sp>
      <p:sp>
        <p:nvSpPr>
          <p:cNvPr id="20" name="Shape 8"/>
          <p:cNvSpPr/>
          <p:nvPr/>
        </p:nvSpPr>
        <p:spPr>
          <a:xfrm>
            <a:off x="5532120" y="3474720"/>
            <a:ext cx="1325520" cy="310680"/>
          </a:xfrm>
          <a:prstGeom prst="roundRect">
            <a:avLst>
              <a:gd name="adj" fmla="val 17647"/>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1" name="Text 9"/>
          <p:cNvSpPr/>
          <p:nvPr/>
        </p:nvSpPr>
        <p:spPr>
          <a:xfrm>
            <a:off x="5605200" y="3525120"/>
            <a:ext cx="11793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TEMPO</a:t>
            </a:r>
            <a:endParaRPr b="0" lang="en-US" sz="1600" spc="-1" strike="noStrike">
              <a:solidFill>
                <a:srgbClr val="ffffff"/>
              </a:solidFill>
              <a:latin typeface="Arial"/>
            </a:endParaRPr>
          </a:p>
        </p:txBody>
      </p:sp>
      <p:sp>
        <p:nvSpPr>
          <p:cNvPr id="22" name="Shape 10"/>
          <p:cNvSpPr/>
          <p:nvPr/>
        </p:nvSpPr>
        <p:spPr>
          <a:xfrm>
            <a:off x="8229600" y="1234440"/>
            <a:ext cx="2468520" cy="658080"/>
          </a:xfrm>
          <a:prstGeom prst="roundRect">
            <a:avLst>
              <a:gd name="adj" fmla="val 16667"/>
            </a:avLst>
          </a:prstGeom>
          <a:solidFill>
            <a:srgbClr val="102636"/>
          </a:solidFill>
          <a:ln w="15875">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3" name="Text 11"/>
          <p:cNvSpPr/>
          <p:nvPr/>
        </p:nvSpPr>
        <p:spPr>
          <a:xfrm>
            <a:off x="8321040" y="1353240"/>
            <a:ext cx="22856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Metrics Simulator</a:t>
            </a:r>
            <a:endParaRPr b="0" lang="en-US" sz="1600" spc="-1" strike="noStrike">
              <a:solidFill>
                <a:srgbClr val="ffffff"/>
              </a:solidFill>
              <a:latin typeface="Arial"/>
            </a:endParaRPr>
          </a:p>
        </p:txBody>
      </p:sp>
      <p:sp>
        <p:nvSpPr>
          <p:cNvPr id="24" name="Text 12"/>
          <p:cNvSpPr/>
          <p:nvPr/>
        </p:nvSpPr>
        <p:spPr>
          <a:xfrm>
            <a:off x="8321040" y="1600200"/>
            <a:ext cx="228564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synthetic V-ID traffic</a:t>
            </a:r>
            <a:endParaRPr b="0" lang="en-US" sz="1600" spc="-1" strike="noStrike">
              <a:solidFill>
                <a:srgbClr val="ffffff"/>
              </a:solidFill>
              <a:latin typeface="Arial"/>
            </a:endParaRPr>
          </a:p>
        </p:txBody>
      </p:sp>
      <p:sp>
        <p:nvSpPr>
          <p:cNvPr id="25" name="Shape 13"/>
          <p:cNvSpPr/>
          <p:nvPr/>
        </p:nvSpPr>
        <p:spPr>
          <a:xfrm>
            <a:off x="7543800" y="2395800"/>
            <a:ext cx="1554120" cy="6580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6" name="Text 14"/>
          <p:cNvSpPr/>
          <p:nvPr/>
        </p:nvSpPr>
        <p:spPr>
          <a:xfrm>
            <a:off x="7635240" y="2514600"/>
            <a:ext cx="13712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Prometheus</a:t>
            </a:r>
            <a:endParaRPr b="0" lang="en-US" sz="1600" spc="-1" strike="noStrike">
              <a:solidFill>
                <a:srgbClr val="ffffff"/>
              </a:solidFill>
              <a:latin typeface="Arial"/>
            </a:endParaRPr>
          </a:p>
        </p:txBody>
      </p:sp>
      <p:sp>
        <p:nvSpPr>
          <p:cNvPr id="27" name="Text 15"/>
          <p:cNvSpPr/>
          <p:nvPr/>
        </p:nvSpPr>
        <p:spPr>
          <a:xfrm>
            <a:off x="7635240" y="2761560"/>
            <a:ext cx="1371240" cy="23724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0" lang="en-US" sz="1600" spc="-1" strike="noStrike">
                <a:solidFill>
                  <a:srgbClr val="9ab0be"/>
                </a:solidFill>
                <a:latin typeface="Aptos"/>
              </a:rPr>
              <a:t>metrics + rules</a:t>
            </a:r>
            <a:endParaRPr b="0" lang="en-US" sz="1600" spc="-1" strike="noStrike">
              <a:solidFill>
                <a:srgbClr val="ffffff"/>
              </a:solidFill>
              <a:latin typeface="Arial"/>
            </a:endParaRPr>
          </a:p>
        </p:txBody>
      </p:sp>
      <p:sp>
        <p:nvSpPr>
          <p:cNvPr id="28" name="Shape 16"/>
          <p:cNvSpPr/>
          <p:nvPr/>
        </p:nvSpPr>
        <p:spPr>
          <a:xfrm>
            <a:off x="9464040" y="2395800"/>
            <a:ext cx="1554120" cy="6580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9" name="Text 17"/>
          <p:cNvSpPr/>
          <p:nvPr/>
        </p:nvSpPr>
        <p:spPr>
          <a:xfrm>
            <a:off x="9555480" y="2514600"/>
            <a:ext cx="13712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OTel</a:t>
            </a:r>
            <a:endParaRPr b="0" lang="en-US" sz="1600" spc="-1" strike="noStrike">
              <a:solidFill>
                <a:srgbClr val="ffffff"/>
              </a:solidFill>
              <a:latin typeface="Arial"/>
            </a:endParaRPr>
          </a:p>
        </p:txBody>
      </p:sp>
      <p:sp>
        <p:nvSpPr>
          <p:cNvPr id="30" name="Text 18"/>
          <p:cNvSpPr/>
          <p:nvPr/>
        </p:nvSpPr>
        <p:spPr>
          <a:xfrm>
            <a:off x="9555480" y="2761560"/>
            <a:ext cx="1371240" cy="23724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0" lang="en-US" sz="1600" spc="-1" strike="noStrike">
                <a:solidFill>
                  <a:srgbClr val="9ab0be"/>
                </a:solidFill>
                <a:latin typeface="Aptos"/>
              </a:rPr>
              <a:t>sampled traces</a:t>
            </a:r>
            <a:endParaRPr b="0" lang="en-US" sz="1600" spc="-1" strike="noStrike">
              <a:solidFill>
                <a:srgbClr val="ffffff"/>
              </a:solidFill>
              <a:latin typeface="Arial"/>
            </a:endParaRPr>
          </a:p>
        </p:txBody>
      </p:sp>
      <p:sp>
        <p:nvSpPr>
          <p:cNvPr id="31" name="Shape 19"/>
          <p:cNvSpPr/>
          <p:nvPr/>
        </p:nvSpPr>
        <p:spPr>
          <a:xfrm>
            <a:off x="7543800" y="3657600"/>
            <a:ext cx="1554120" cy="658080"/>
          </a:xfrm>
          <a:prstGeom prst="roundRect">
            <a:avLst>
              <a:gd name="adj" fmla="val 16667"/>
            </a:avLst>
          </a:prstGeom>
          <a:solidFill>
            <a:srgbClr val="102636"/>
          </a:solidFill>
          <a:ln w="15875">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2" name="Text 20"/>
          <p:cNvSpPr/>
          <p:nvPr/>
        </p:nvSpPr>
        <p:spPr>
          <a:xfrm>
            <a:off x="7635240" y="3776400"/>
            <a:ext cx="1371240" cy="22824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1" lang="en-US" sz="1600" spc="-1" strike="noStrike">
                <a:solidFill>
                  <a:srgbClr val="f3f8fb"/>
                </a:solidFill>
                <a:latin typeface="Aptos"/>
              </a:rPr>
              <a:t>Alertmanager</a:t>
            </a:r>
            <a:endParaRPr b="0" lang="en-US" sz="1600" spc="-1" strike="noStrike">
              <a:solidFill>
                <a:srgbClr val="ffffff"/>
              </a:solidFill>
              <a:latin typeface="Arial"/>
            </a:endParaRPr>
          </a:p>
        </p:txBody>
      </p:sp>
      <p:sp>
        <p:nvSpPr>
          <p:cNvPr id="33" name="Text 21"/>
          <p:cNvSpPr/>
          <p:nvPr/>
        </p:nvSpPr>
        <p:spPr>
          <a:xfrm>
            <a:off x="7635240" y="4023360"/>
            <a:ext cx="137124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routing</a:t>
            </a:r>
            <a:endParaRPr b="0" lang="en-US" sz="1600" spc="-1" strike="noStrike">
              <a:solidFill>
                <a:srgbClr val="ffffff"/>
              </a:solidFill>
              <a:latin typeface="Arial"/>
            </a:endParaRPr>
          </a:p>
        </p:txBody>
      </p:sp>
      <p:sp>
        <p:nvSpPr>
          <p:cNvPr id="34" name="Shape 22"/>
          <p:cNvSpPr/>
          <p:nvPr/>
        </p:nvSpPr>
        <p:spPr>
          <a:xfrm>
            <a:off x="9464040" y="3657600"/>
            <a:ext cx="1554120" cy="6580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5" name="Text 23"/>
          <p:cNvSpPr/>
          <p:nvPr/>
        </p:nvSpPr>
        <p:spPr>
          <a:xfrm>
            <a:off x="9555480" y="3776400"/>
            <a:ext cx="137124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Tempo</a:t>
            </a:r>
            <a:endParaRPr b="0" lang="en-US" sz="1600" spc="-1" strike="noStrike">
              <a:solidFill>
                <a:srgbClr val="ffffff"/>
              </a:solidFill>
              <a:latin typeface="Arial"/>
            </a:endParaRPr>
          </a:p>
        </p:txBody>
      </p:sp>
      <p:sp>
        <p:nvSpPr>
          <p:cNvPr id="36" name="Text 24"/>
          <p:cNvSpPr/>
          <p:nvPr/>
        </p:nvSpPr>
        <p:spPr>
          <a:xfrm>
            <a:off x="9555480" y="4023360"/>
            <a:ext cx="137124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trace store</a:t>
            </a:r>
            <a:endParaRPr b="0" lang="en-US" sz="1600" spc="-1" strike="noStrike">
              <a:solidFill>
                <a:srgbClr val="ffffff"/>
              </a:solidFill>
              <a:latin typeface="Arial"/>
            </a:endParaRPr>
          </a:p>
        </p:txBody>
      </p:sp>
      <p:sp>
        <p:nvSpPr>
          <p:cNvPr id="37" name="Shape 25"/>
          <p:cNvSpPr/>
          <p:nvPr/>
        </p:nvSpPr>
        <p:spPr>
          <a:xfrm>
            <a:off x="8503920" y="4892040"/>
            <a:ext cx="2194200" cy="6580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8" name="Text 26"/>
          <p:cNvSpPr/>
          <p:nvPr/>
        </p:nvSpPr>
        <p:spPr>
          <a:xfrm>
            <a:off x="8595360" y="5010840"/>
            <a:ext cx="20113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Grafana</a:t>
            </a:r>
            <a:endParaRPr b="0" lang="en-US" sz="1600" spc="-1" strike="noStrike">
              <a:solidFill>
                <a:srgbClr val="ffffff"/>
              </a:solidFill>
              <a:latin typeface="Arial"/>
            </a:endParaRPr>
          </a:p>
        </p:txBody>
      </p:sp>
      <p:sp>
        <p:nvSpPr>
          <p:cNvPr id="39" name="Text 27"/>
          <p:cNvSpPr/>
          <p:nvPr/>
        </p:nvSpPr>
        <p:spPr>
          <a:xfrm>
            <a:off x="8595360" y="5257800"/>
            <a:ext cx="2011320" cy="237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8 core dashboards</a:t>
            </a:r>
            <a:endParaRPr b="0" lang="en-US" sz="1600" spc="-1" strike="noStrike">
              <a:solidFill>
                <a:srgbClr val="ffffff"/>
              </a:solidFill>
              <a:latin typeface="Arial"/>
            </a:endParaRPr>
          </a:p>
        </p:txBody>
      </p:sp>
      <p:sp>
        <p:nvSpPr>
          <p:cNvPr id="40" name="Shape 28"/>
          <p:cNvSpPr/>
          <p:nvPr/>
        </p:nvSpPr>
        <p:spPr>
          <a:xfrm flipH="1">
            <a:off x="8321040" y="1901880"/>
            <a:ext cx="1143000" cy="4755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1" name="Text 29"/>
          <p:cNvSpPr/>
          <p:nvPr/>
        </p:nvSpPr>
        <p:spPr>
          <a:xfrm>
            <a:off x="8389800" y="192924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metrics</a:t>
            </a:r>
            <a:endParaRPr b="0" lang="en-US" sz="1600" spc="-1" strike="noStrike">
              <a:solidFill>
                <a:srgbClr val="ffffff"/>
              </a:solidFill>
              <a:latin typeface="Arial"/>
            </a:endParaRPr>
          </a:p>
        </p:txBody>
      </p:sp>
      <p:sp>
        <p:nvSpPr>
          <p:cNvPr id="42" name="Shape 30"/>
          <p:cNvSpPr/>
          <p:nvPr/>
        </p:nvSpPr>
        <p:spPr>
          <a:xfrm>
            <a:off x="9464040" y="1901880"/>
            <a:ext cx="777240" cy="4755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3" name="Text 31"/>
          <p:cNvSpPr/>
          <p:nvPr/>
        </p:nvSpPr>
        <p:spPr>
          <a:xfrm>
            <a:off x="9349920" y="192924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OTLP</a:t>
            </a:r>
            <a:endParaRPr b="0" lang="en-US" sz="1600" spc="-1" strike="noStrike">
              <a:solidFill>
                <a:srgbClr val="ffffff"/>
              </a:solidFill>
              <a:latin typeface="Arial"/>
            </a:endParaRPr>
          </a:p>
        </p:txBody>
      </p:sp>
      <p:sp>
        <p:nvSpPr>
          <p:cNvPr id="44" name="Shape 32"/>
          <p:cNvSpPr/>
          <p:nvPr/>
        </p:nvSpPr>
        <p:spPr>
          <a:xfrm>
            <a:off x="8321040" y="3053880"/>
            <a:ext cx="360" cy="5853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5" name="Text 33"/>
          <p:cNvSpPr/>
          <p:nvPr/>
        </p:nvSpPr>
        <p:spPr>
          <a:xfrm>
            <a:off x="7818120" y="313632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alerts</a:t>
            </a:r>
            <a:endParaRPr b="0" lang="en-US" sz="1600" spc="-1" strike="noStrike">
              <a:solidFill>
                <a:srgbClr val="ffffff"/>
              </a:solidFill>
              <a:latin typeface="Arial"/>
            </a:endParaRPr>
          </a:p>
        </p:txBody>
      </p:sp>
      <p:sp>
        <p:nvSpPr>
          <p:cNvPr id="46" name="Shape 34"/>
          <p:cNvSpPr/>
          <p:nvPr/>
        </p:nvSpPr>
        <p:spPr>
          <a:xfrm>
            <a:off x="10241280" y="3053880"/>
            <a:ext cx="360" cy="5853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7" name="Text 35"/>
          <p:cNvSpPr/>
          <p:nvPr/>
        </p:nvSpPr>
        <p:spPr>
          <a:xfrm>
            <a:off x="9738360" y="313632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traces</a:t>
            </a:r>
            <a:endParaRPr b="0" lang="en-US" sz="1600" spc="-1" strike="noStrike">
              <a:solidFill>
                <a:srgbClr val="ffffff"/>
              </a:solidFill>
              <a:latin typeface="Arial"/>
            </a:endParaRPr>
          </a:p>
        </p:txBody>
      </p:sp>
      <p:sp>
        <p:nvSpPr>
          <p:cNvPr id="48" name="Shape 36"/>
          <p:cNvSpPr/>
          <p:nvPr/>
        </p:nvSpPr>
        <p:spPr>
          <a:xfrm>
            <a:off x="8321040" y="4315680"/>
            <a:ext cx="822960" cy="5763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49" name="Shape 37"/>
          <p:cNvSpPr/>
          <p:nvPr/>
        </p:nvSpPr>
        <p:spPr>
          <a:xfrm flipH="1">
            <a:off x="9966960" y="4315680"/>
            <a:ext cx="274320" cy="5763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50" name="Text 38"/>
          <p:cNvSpPr/>
          <p:nvPr/>
        </p:nvSpPr>
        <p:spPr>
          <a:xfrm>
            <a:off x="731520" y="4956120"/>
            <a:ext cx="676620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678296"/>
                </a:solidFill>
                <a:latin typeface="Aptos"/>
              </a:rPr>
              <a:t>Repo: tuanem051203/V-ID_grafana_monitoring_system</a:t>
            </a:r>
            <a:endParaRPr b="0" lang="en-US" sz="1600" spc="-1" strike="noStrike">
              <a:solidFill>
                <a:srgbClr val="ffffff"/>
              </a:solidFill>
              <a:latin typeface="Arial"/>
            </a:endParaRPr>
          </a:p>
        </p:txBody>
      </p:sp>
      <p:sp>
        <p:nvSpPr>
          <p:cNvPr id="51" name="PlaceHolder 1"/>
          <p:cNvSpPr>
            <a:spLocks noGrp="1"/>
          </p:cNvSpPr>
          <p:nvPr>
            <p:ph type="sldNum" idx="5"/>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BCB0C55B-8CEE-485F-96D5-CAF4FAF95BDC}" type="slidenum">
              <a:rPr b="0" lang="en-US" sz="800" spc="-1" strike="noStrike">
                <a:solidFill>
                  <a:srgbClr val="678296"/>
                </a:solidFill>
                <a:latin typeface="Aptos"/>
                <a:ea typeface="Aptos"/>
              </a:rPr>
              <a:t>1</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Rectangle 1"/>
          <p:cNvSpPr/>
          <p:nvPr/>
        </p:nvSpPr>
        <p:spPr>
          <a:xfrm>
            <a:off x="0" y="0"/>
            <a:ext cx="12191760" cy="6857640"/>
          </a:xfrm>
          <a:prstGeom prst="rect">
            <a:avLst/>
          </a:prstGeom>
          <a:solidFill>
            <a:srgbClr val="0a111d"/>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53" name="TextBox 2"/>
          <p:cNvSpPr/>
          <p:nvPr/>
        </p:nvSpPr>
        <p:spPr>
          <a:xfrm>
            <a:off x="640080" y="384120"/>
            <a:ext cx="10972440" cy="4856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2600" spc="-1" strike="noStrike">
                <a:solidFill>
                  <a:srgbClr val="f2f6fc"/>
                </a:solidFill>
                <a:latin typeface="Aptos"/>
              </a:rPr>
              <a:t>01 — V-ID Monitoring: Chúng ta muốn quan sát điều gì?</a:t>
            </a:r>
            <a:endParaRPr b="0" lang="en-US" sz="2600" spc="-1" strike="noStrike">
              <a:solidFill>
                <a:srgbClr val="ffffff"/>
              </a:solidFill>
              <a:latin typeface="Arial"/>
            </a:endParaRPr>
          </a:p>
        </p:txBody>
      </p:sp>
      <p:sp>
        <p:nvSpPr>
          <p:cNvPr id="54" name="TextBox 3"/>
          <p:cNvSpPr/>
          <p:nvPr/>
        </p:nvSpPr>
        <p:spPr>
          <a:xfrm>
            <a:off x="640080" y="932760"/>
            <a:ext cx="10972440" cy="5468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0" lang="en-US" sz="1500" spc="-86" strike="noStrike">
                <a:solidFill>
                  <a:srgbClr val="a6b4c8"/>
                </a:solidFill>
                <a:latin typeface="Aptos"/>
              </a:rPr>
              <a:t>Monitoring không chỉ trả lời “hệ thống có lỗi không?”, mà cần chỉ ra </a:t>
            </a:r>
            <a:r>
              <a:rPr b="1" lang="en-US" sz="1500" spc="-86" strike="noStrike">
                <a:solidFill>
                  <a:srgbClr val="f2f6fc"/>
                </a:solidFill>
                <a:latin typeface="Aptos"/>
              </a:rPr>
              <a:t>luồng nào bị ảnh hưởng, lỗi ở đâu và người dùng đang gặp vấn đề gì.</a:t>
            </a:r>
            <a:endParaRPr b="0" lang="en-US" sz="1500" spc="-86" strike="noStrike">
              <a:solidFill>
                <a:srgbClr val="ffffff"/>
              </a:solidFill>
              <a:latin typeface="Arial"/>
            </a:endParaRPr>
          </a:p>
        </p:txBody>
      </p:sp>
      <p:sp>
        <p:nvSpPr>
          <p:cNvPr id="55" name="Rounded Rectangle 4"/>
          <p:cNvSpPr/>
          <p:nvPr/>
        </p:nvSpPr>
        <p:spPr>
          <a:xfrm>
            <a:off x="640080" y="1755720"/>
            <a:ext cx="3062880" cy="223992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56" name="Oval 5"/>
          <p:cNvSpPr/>
          <p:nvPr/>
        </p:nvSpPr>
        <p:spPr>
          <a:xfrm>
            <a:off x="804600" y="1938600"/>
            <a:ext cx="411120" cy="411120"/>
          </a:xfrm>
          <a:prstGeom prst="ellipse">
            <a:avLst/>
          </a:prstGeom>
          <a:solidFill>
            <a:srgbClr val="56a6ff"/>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57" name="TextBox 6"/>
          <p:cNvSpPr/>
          <p:nvPr/>
        </p:nvSpPr>
        <p:spPr>
          <a:xfrm>
            <a:off x="804600" y="1984320"/>
            <a:ext cx="41112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1</a:t>
            </a:r>
            <a:endParaRPr b="0" lang="en-US" sz="1200" spc="-1" strike="noStrike">
              <a:solidFill>
                <a:srgbClr val="ffffff"/>
              </a:solidFill>
              <a:latin typeface="Arial"/>
            </a:endParaRPr>
          </a:p>
        </p:txBody>
      </p:sp>
      <p:sp>
        <p:nvSpPr>
          <p:cNvPr id="58" name="TextBox 7"/>
          <p:cNvSpPr/>
          <p:nvPr/>
        </p:nvSpPr>
        <p:spPr>
          <a:xfrm>
            <a:off x="1325880" y="1920240"/>
            <a:ext cx="214848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Theo dõi sức khỏe</a:t>
            </a:r>
            <a:endParaRPr b="0" lang="en-US" sz="1600" spc="-1" strike="noStrike">
              <a:solidFill>
                <a:srgbClr val="ffffff"/>
              </a:solidFill>
              <a:latin typeface="Arial"/>
            </a:endParaRPr>
          </a:p>
        </p:txBody>
      </p:sp>
      <p:sp>
        <p:nvSpPr>
          <p:cNvPr id="59" name="TextBox 8"/>
          <p:cNvSpPr/>
          <p:nvPr/>
        </p:nvSpPr>
        <p:spPr>
          <a:xfrm>
            <a:off x="868680" y="2487240"/>
            <a:ext cx="2605680" cy="123192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Authentication success &amp; latency</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OTP delivery / verification</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Token issuance</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Platform availability</a:t>
            </a:r>
            <a:endParaRPr b="0" lang="en-US" sz="1250" spc="-1" strike="noStrike">
              <a:solidFill>
                <a:srgbClr val="ffffff"/>
              </a:solidFill>
              <a:latin typeface="Arial"/>
            </a:endParaRPr>
          </a:p>
        </p:txBody>
      </p:sp>
      <p:sp>
        <p:nvSpPr>
          <p:cNvPr id="60" name="Rounded Rectangle 9"/>
          <p:cNvSpPr/>
          <p:nvPr/>
        </p:nvSpPr>
        <p:spPr>
          <a:xfrm>
            <a:off x="4069080" y="1755720"/>
            <a:ext cx="3062880" cy="223992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1" name="Oval 10"/>
          <p:cNvSpPr/>
          <p:nvPr/>
        </p:nvSpPr>
        <p:spPr>
          <a:xfrm>
            <a:off x="4233600" y="1938600"/>
            <a:ext cx="411120" cy="411120"/>
          </a:xfrm>
          <a:prstGeom prst="ellipse">
            <a:avLst/>
          </a:prstGeom>
          <a:solidFill>
            <a:srgbClr val="56a6ff"/>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2" name="TextBox 11"/>
          <p:cNvSpPr/>
          <p:nvPr/>
        </p:nvSpPr>
        <p:spPr>
          <a:xfrm>
            <a:off x="4233600" y="1984320"/>
            <a:ext cx="41112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2</a:t>
            </a:r>
            <a:endParaRPr b="0" lang="en-US" sz="1200" spc="-1" strike="noStrike">
              <a:solidFill>
                <a:srgbClr val="ffffff"/>
              </a:solidFill>
              <a:latin typeface="Arial"/>
            </a:endParaRPr>
          </a:p>
        </p:txBody>
      </p:sp>
      <p:sp>
        <p:nvSpPr>
          <p:cNvPr id="63" name="TextBox 12"/>
          <p:cNvSpPr/>
          <p:nvPr/>
        </p:nvSpPr>
        <p:spPr>
          <a:xfrm>
            <a:off x="4754880" y="1920240"/>
            <a:ext cx="2148480" cy="57708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Phát hiện bất thường</a:t>
            </a:r>
            <a:endParaRPr b="0" lang="en-US" sz="1600" spc="-1" strike="noStrike">
              <a:solidFill>
                <a:srgbClr val="ffffff"/>
              </a:solidFill>
              <a:latin typeface="Arial"/>
            </a:endParaRPr>
          </a:p>
        </p:txBody>
      </p:sp>
      <p:sp>
        <p:nvSpPr>
          <p:cNvPr id="64" name="TextBox 13"/>
          <p:cNvSpPr/>
          <p:nvPr/>
        </p:nvSpPr>
        <p:spPr>
          <a:xfrm>
            <a:off x="4297680" y="2487240"/>
            <a:ext cx="2605680" cy="104148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Metrics → Prometheus</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Recording &amp; SLO rules</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Grafana visualization</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Alertmanager cảnh báo</a:t>
            </a:r>
            <a:endParaRPr b="0" lang="en-US" sz="1250" spc="-1" strike="noStrike">
              <a:solidFill>
                <a:srgbClr val="ffffff"/>
              </a:solidFill>
              <a:latin typeface="Arial"/>
            </a:endParaRPr>
          </a:p>
        </p:txBody>
      </p:sp>
      <p:sp>
        <p:nvSpPr>
          <p:cNvPr id="65" name="Rounded Rectangle 14"/>
          <p:cNvSpPr/>
          <p:nvPr/>
        </p:nvSpPr>
        <p:spPr>
          <a:xfrm>
            <a:off x="7498080" y="1755720"/>
            <a:ext cx="3062880" cy="223992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6" name="Oval 15"/>
          <p:cNvSpPr/>
          <p:nvPr/>
        </p:nvSpPr>
        <p:spPr>
          <a:xfrm>
            <a:off x="7662600" y="1938600"/>
            <a:ext cx="411120" cy="411120"/>
          </a:xfrm>
          <a:prstGeom prst="ellipse">
            <a:avLst/>
          </a:prstGeom>
          <a:solidFill>
            <a:srgbClr val="56a6ff"/>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7" name="TextBox 16"/>
          <p:cNvSpPr/>
          <p:nvPr/>
        </p:nvSpPr>
        <p:spPr>
          <a:xfrm>
            <a:off x="7662600" y="1984320"/>
            <a:ext cx="41112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3</a:t>
            </a:r>
            <a:endParaRPr b="0" lang="en-US" sz="1200" spc="-1" strike="noStrike">
              <a:solidFill>
                <a:srgbClr val="ffffff"/>
              </a:solidFill>
              <a:latin typeface="Arial"/>
            </a:endParaRPr>
          </a:p>
        </p:txBody>
      </p:sp>
      <p:sp>
        <p:nvSpPr>
          <p:cNvPr id="68" name="TextBox 17"/>
          <p:cNvSpPr/>
          <p:nvPr/>
        </p:nvSpPr>
        <p:spPr>
          <a:xfrm>
            <a:off x="8183880" y="1920240"/>
            <a:ext cx="214848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Đi sâu OTP Journey</a:t>
            </a:r>
            <a:endParaRPr b="0" lang="en-US" sz="1600" spc="-1" strike="noStrike">
              <a:solidFill>
                <a:srgbClr val="ffffff"/>
              </a:solidFill>
              <a:latin typeface="Arial"/>
            </a:endParaRPr>
          </a:p>
        </p:txBody>
      </p:sp>
      <p:sp>
        <p:nvSpPr>
          <p:cNvPr id="69" name="TextBox 18"/>
          <p:cNvSpPr/>
          <p:nvPr/>
        </p:nvSpPr>
        <p:spPr>
          <a:xfrm>
            <a:off x="7726680" y="2487240"/>
            <a:ext cx="2605680" cy="104148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Không dừng ở “OTP chậm”</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Phân tích từng stage</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Khoanh vùng bottleneck</a:t>
            </a:r>
            <a:endParaRPr b="0" lang="en-US" sz="1250" spc="-1" strike="noStrike">
              <a:solidFill>
                <a:srgbClr val="ffffff"/>
              </a:solidFill>
              <a:latin typeface="Arial"/>
            </a:endParaRPr>
          </a:p>
          <a:p>
            <a:pPr defTabSz="914400">
              <a:lnSpc>
                <a:spcPct val="100000"/>
              </a:lnSpc>
              <a:spcAft>
                <a:spcPts val="499"/>
              </a:spcAft>
            </a:pPr>
            <a:r>
              <a:rPr b="0" lang="en-US" sz="1250" spc="-1" strike="noStrike">
                <a:solidFill>
                  <a:srgbClr val="f2f6fc"/>
                </a:solidFill>
                <a:latin typeface="Aptos"/>
              </a:rPr>
              <a:t>• </a:t>
            </a:r>
            <a:r>
              <a:rPr b="0" lang="en-US" sz="1250" spc="-1" strike="noStrike">
                <a:solidFill>
                  <a:srgbClr val="f2f6fc"/>
                </a:solidFill>
                <a:latin typeface="Aptos"/>
              </a:rPr>
              <a:t>Metrics → trace khi cần</a:t>
            </a:r>
            <a:endParaRPr b="0" lang="en-US" sz="1250" spc="-1" strike="noStrike">
              <a:solidFill>
                <a:srgbClr val="ffffff"/>
              </a:solidFill>
              <a:latin typeface="Arial"/>
            </a:endParaRPr>
          </a:p>
        </p:txBody>
      </p:sp>
      <p:sp>
        <p:nvSpPr>
          <p:cNvPr id="70" name="TextBox 19"/>
          <p:cNvSpPr/>
          <p:nvPr/>
        </p:nvSpPr>
        <p:spPr>
          <a:xfrm>
            <a:off x="658440" y="4251960"/>
            <a:ext cx="2194200" cy="5468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500" spc="-1" strike="noStrike">
                <a:solidFill>
                  <a:srgbClr val="f6ae4f"/>
                </a:solidFill>
                <a:latin typeface="Aptos"/>
              </a:rPr>
              <a:t>OTP Journey Monitoring</a:t>
            </a:r>
            <a:endParaRPr b="0" lang="en-US" sz="1500" spc="-1" strike="noStrike">
              <a:solidFill>
                <a:srgbClr val="ffffff"/>
              </a:solidFill>
              <a:latin typeface="Arial"/>
            </a:endParaRPr>
          </a:p>
        </p:txBody>
      </p:sp>
      <p:sp>
        <p:nvSpPr>
          <p:cNvPr id="71" name="Rounded Rectangle 20"/>
          <p:cNvSpPr/>
          <p:nvPr/>
        </p:nvSpPr>
        <p:spPr>
          <a:xfrm>
            <a:off x="658440" y="4736520"/>
            <a:ext cx="1261440" cy="658080"/>
          </a:xfrm>
          <a:prstGeom prst="roundRect">
            <a:avLst>
              <a:gd name="adj" fmla="val 16667"/>
            </a:avLst>
          </a:prstGeom>
          <a:solidFill>
            <a:srgbClr val="19283c"/>
          </a:solidFill>
          <a:ln>
            <a:solidFill>
              <a:srgbClr val="56a6f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72" name="TextBox 21"/>
          <p:cNvSpPr/>
          <p:nvPr/>
        </p:nvSpPr>
        <p:spPr>
          <a:xfrm>
            <a:off x="704160" y="4855320"/>
            <a:ext cx="117000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Kong</a:t>
            </a:r>
            <a:endParaRPr b="0" lang="en-US" sz="1200" spc="-1" strike="noStrike">
              <a:solidFill>
                <a:srgbClr val="ffffff"/>
              </a:solidFill>
              <a:latin typeface="Arial"/>
            </a:endParaRPr>
          </a:p>
        </p:txBody>
      </p:sp>
      <p:sp>
        <p:nvSpPr>
          <p:cNvPr id="73" name="TextBox 22"/>
          <p:cNvSpPr/>
          <p:nvPr/>
        </p:nvSpPr>
        <p:spPr>
          <a:xfrm>
            <a:off x="192024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74" name="Rounded Rectangle 23"/>
          <p:cNvSpPr/>
          <p:nvPr/>
        </p:nvSpPr>
        <p:spPr>
          <a:xfrm>
            <a:off x="2231280" y="4736520"/>
            <a:ext cx="1261440" cy="658080"/>
          </a:xfrm>
          <a:prstGeom prst="roundRect">
            <a:avLst>
              <a:gd name="adj" fmla="val 16667"/>
            </a:avLst>
          </a:prstGeom>
          <a:solidFill>
            <a:srgbClr val="19283c"/>
          </a:solidFill>
          <a:ln>
            <a:solidFill>
              <a:srgbClr val="56a6f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75" name="TextBox 24"/>
          <p:cNvSpPr/>
          <p:nvPr/>
        </p:nvSpPr>
        <p:spPr>
          <a:xfrm>
            <a:off x="2277000" y="4855320"/>
            <a:ext cx="1170000" cy="4093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050" spc="-1" strike="noStrike">
                <a:solidFill>
                  <a:srgbClr val="f2f6fc"/>
                </a:solidFill>
                <a:latin typeface="Aptos"/>
              </a:rPr>
              <a:t>Identity</a:t>
            </a:r>
            <a:br>
              <a:rPr sz="1050"/>
            </a:br>
            <a:r>
              <a:rPr b="1" lang="en-US" sz="1050" spc="-1" strike="noStrike">
                <a:solidFill>
                  <a:srgbClr val="f2f6fc"/>
                </a:solidFill>
                <a:latin typeface="Aptos"/>
              </a:rPr>
              <a:t>Provider</a:t>
            </a:r>
            <a:endParaRPr b="0" lang="en-US" sz="1050" spc="-1" strike="noStrike">
              <a:solidFill>
                <a:srgbClr val="ffffff"/>
              </a:solidFill>
              <a:latin typeface="Arial"/>
            </a:endParaRPr>
          </a:p>
        </p:txBody>
      </p:sp>
      <p:sp>
        <p:nvSpPr>
          <p:cNvPr id="76" name="TextBox 25"/>
          <p:cNvSpPr/>
          <p:nvPr/>
        </p:nvSpPr>
        <p:spPr>
          <a:xfrm>
            <a:off x="349308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77" name="Rounded Rectangle 26"/>
          <p:cNvSpPr/>
          <p:nvPr/>
        </p:nvSpPr>
        <p:spPr>
          <a:xfrm>
            <a:off x="3803760" y="4736520"/>
            <a:ext cx="1261440" cy="658080"/>
          </a:xfrm>
          <a:prstGeom prst="roundRect">
            <a:avLst>
              <a:gd name="adj" fmla="val 16667"/>
            </a:avLst>
          </a:prstGeom>
          <a:solidFill>
            <a:srgbClr val="19283c"/>
          </a:solidFill>
          <a:ln>
            <a:solidFill>
              <a:srgbClr val="56a6f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78" name="TextBox 27"/>
          <p:cNvSpPr/>
          <p:nvPr/>
        </p:nvSpPr>
        <p:spPr>
          <a:xfrm>
            <a:off x="3849480" y="4855320"/>
            <a:ext cx="117000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Redis</a:t>
            </a:r>
            <a:endParaRPr b="0" lang="en-US" sz="1200" spc="-1" strike="noStrike">
              <a:solidFill>
                <a:srgbClr val="ffffff"/>
              </a:solidFill>
              <a:latin typeface="Arial"/>
            </a:endParaRPr>
          </a:p>
        </p:txBody>
      </p:sp>
      <p:sp>
        <p:nvSpPr>
          <p:cNvPr id="79" name="TextBox 28"/>
          <p:cNvSpPr/>
          <p:nvPr/>
        </p:nvSpPr>
        <p:spPr>
          <a:xfrm>
            <a:off x="506592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80" name="Rounded Rectangle 29"/>
          <p:cNvSpPr/>
          <p:nvPr/>
        </p:nvSpPr>
        <p:spPr>
          <a:xfrm>
            <a:off x="5376600" y="4736520"/>
            <a:ext cx="1261440" cy="658080"/>
          </a:xfrm>
          <a:prstGeom prst="roundRect">
            <a:avLst>
              <a:gd name="adj" fmla="val 16667"/>
            </a:avLst>
          </a:prstGeom>
          <a:solidFill>
            <a:srgbClr val="19283c"/>
          </a:solidFill>
          <a:ln>
            <a:solidFill>
              <a:srgbClr val="56a6f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81" name="TextBox 30"/>
          <p:cNvSpPr/>
          <p:nvPr/>
        </p:nvSpPr>
        <p:spPr>
          <a:xfrm>
            <a:off x="5422320" y="4855320"/>
            <a:ext cx="117000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Routing</a:t>
            </a:r>
            <a:endParaRPr b="0" lang="en-US" sz="1200" spc="-1" strike="noStrike">
              <a:solidFill>
                <a:srgbClr val="ffffff"/>
              </a:solidFill>
              <a:latin typeface="Arial"/>
            </a:endParaRPr>
          </a:p>
        </p:txBody>
      </p:sp>
      <p:sp>
        <p:nvSpPr>
          <p:cNvPr id="82" name="TextBox 31"/>
          <p:cNvSpPr/>
          <p:nvPr/>
        </p:nvSpPr>
        <p:spPr>
          <a:xfrm>
            <a:off x="663840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83" name="Rounded Rectangle 32"/>
          <p:cNvSpPr/>
          <p:nvPr/>
        </p:nvSpPr>
        <p:spPr>
          <a:xfrm>
            <a:off x="6949440" y="4736520"/>
            <a:ext cx="1261440" cy="658080"/>
          </a:xfrm>
          <a:prstGeom prst="roundRect">
            <a:avLst>
              <a:gd name="adj" fmla="val 16667"/>
            </a:avLst>
          </a:prstGeom>
          <a:solidFill>
            <a:srgbClr val="19283c"/>
          </a:solidFill>
          <a:ln>
            <a:solidFill>
              <a:srgbClr val="f6ae4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84" name="TextBox 33"/>
          <p:cNvSpPr/>
          <p:nvPr/>
        </p:nvSpPr>
        <p:spPr>
          <a:xfrm>
            <a:off x="6995160" y="4855320"/>
            <a:ext cx="1170000" cy="2725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200" spc="-1" strike="noStrike">
                <a:solidFill>
                  <a:srgbClr val="f2f6fc"/>
                </a:solidFill>
                <a:latin typeface="Aptos"/>
              </a:rPr>
              <a:t>Queue</a:t>
            </a:r>
            <a:endParaRPr b="0" lang="en-US" sz="1200" spc="-1" strike="noStrike">
              <a:solidFill>
                <a:srgbClr val="ffffff"/>
              </a:solidFill>
              <a:latin typeface="Arial"/>
            </a:endParaRPr>
          </a:p>
        </p:txBody>
      </p:sp>
      <p:sp>
        <p:nvSpPr>
          <p:cNvPr id="85" name="TextBox 34"/>
          <p:cNvSpPr/>
          <p:nvPr/>
        </p:nvSpPr>
        <p:spPr>
          <a:xfrm>
            <a:off x="821124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86" name="Rounded Rectangle 35"/>
          <p:cNvSpPr/>
          <p:nvPr/>
        </p:nvSpPr>
        <p:spPr>
          <a:xfrm>
            <a:off x="8522280" y="4736520"/>
            <a:ext cx="1261440" cy="658080"/>
          </a:xfrm>
          <a:prstGeom prst="roundRect">
            <a:avLst>
              <a:gd name="adj" fmla="val 16667"/>
            </a:avLst>
          </a:prstGeom>
          <a:solidFill>
            <a:srgbClr val="19283c"/>
          </a:solidFill>
          <a:ln>
            <a:solidFill>
              <a:srgbClr val="f6ae4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87" name="TextBox 36"/>
          <p:cNvSpPr/>
          <p:nvPr/>
        </p:nvSpPr>
        <p:spPr>
          <a:xfrm>
            <a:off x="8568000" y="4855320"/>
            <a:ext cx="1170000" cy="4093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050" spc="-1" strike="noStrike">
                <a:solidFill>
                  <a:srgbClr val="f2f6fc"/>
                </a:solidFill>
                <a:latin typeface="Aptos"/>
              </a:rPr>
              <a:t>GSM</a:t>
            </a:r>
            <a:br>
              <a:rPr sz="1050"/>
            </a:br>
            <a:r>
              <a:rPr b="1" lang="en-US" sz="1050" spc="-1" strike="noStrike">
                <a:solidFill>
                  <a:srgbClr val="f2f6fc"/>
                </a:solidFill>
                <a:latin typeface="Aptos"/>
              </a:rPr>
              <a:t>Provider</a:t>
            </a:r>
            <a:endParaRPr b="0" lang="en-US" sz="1050" spc="-1" strike="noStrike">
              <a:solidFill>
                <a:srgbClr val="ffffff"/>
              </a:solidFill>
              <a:latin typeface="Arial"/>
            </a:endParaRPr>
          </a:p>
        </p:txBody>
      </p:sp>
      <p:sp>
        <p:nvSpPr>
          <p:cNvPr id="88" name="TextBox 37"/>
          <p:cNvSpPr/>
          <p:nvPr/>
        </p:nvSpPr>
        <p:spPr>
          <a:xfrm>
            <a:off x="9784080" y="4901040"/>
            <a:ext cx="310680" cy="33336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a6b4c8"/>
                </a:solidFill>
                <a:latin typeface="Aptos"/>
              </a:rPr>
              <a:t>→</a:t>
            </a:r>
            <a:endParaRPr b="0" lang="en-US" sz="1600" spc="-1" strike="noStrike">
              <a:solidFill>
                <a:srgbClr val="ffffff"/>
              </a:solidFill>
              <a:latin typeface="Arial"/>
            </a:endParaRPr>
          </a:p>
        </p:txBody>
      </p:sp>
      <p:sp>
        <p:nvSpPr>
          <p:cNvPr id="89" name="Rounded Rectangle 38"/>
          <p:cNvSpPr/>
          <p:nvPr/>
        </p:nvSpPr>
        <p:spPr>
          <a:xfrm>
            <a:off x="10095120" y="4736520"/>
            <a:ext cx="1261440" cy="658080"/>
          </a:xfrm>
          <a:prstGeom prst="roundRect">
            <a:avLst>
              <a:gd name="adj" fmla="val 16667"/>
            </a:avLst>
          </a:prstGeom>
          <a:solidFill>
            <a:srgbClr val="19283c"/>
          </a:solidFill>
          <a:ln>
            <a:solidFill>
              <a:srgbClr val="f6ae4f"/>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90" name="TextBox 39"/>
          <p:cNvSpPr/>
          <p:nvPr/>
        </p:nvSpPr>
        <p:spPr>
          <a:xfrm>
            <a:off x="10140840" y="4855320"/>
            <a:ext cx="1170000" cy="4093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050" spc="-1" strike="noStrike">
                <a:solidFill>
                  <a:srgbClr val="f2f6fc"/>
                </a:solidFill>
                <a:latin typeface="Aptos"/>
              </a:rPr>
              <a:t>Carrier</a:t>
            </a:r>
            <a:br>
              <a:rPr sz="1050"/>
            </a:br>
            <a:r>
              <a:rPr b="1" lang="en-US" sz="1050" spc="-1" strike="noStrike">
                <a:solidFill>
                  <a:srgbClr val="f2f6fc"/>
                </a:solidFill>
                <a:latin typeface="Aptos"/>
              </a:rPr>
              <a:t>Delivery</a:t>
            </a:r>
            <a:endParaRPr b="0" lang="en-US" sz="1050" spc="-1" strike="noStrike">
              <a:solidFill>
                <a:srgbClr val="ffffff"/>
              </a:solidFill>
              <a:latin typeface="Arial"/>
            </a:endParaRPr>
          </a:p>
        </p:txBody>
      </p:sp>
      <p:sp>
        <p:nvSpPr>
          <p:cNvPr id="91" name="Rounded Rectangle 40"/>
          <p:cNvSpPr/>
          <p:nvPr/>
        </p:nvSpPr>
        <p:spPr>
          <a:xfrm>
            <a:off x="658440" y="5650920"/>
            <a:ext cx="10835280" cy="658080"/>
          </a:xfrm>
          <a:prstGeom prst="roundRect">
            <a:avLst>
              <a:gd name="adj" fmla="val 16667"/>
            </a:avLst>
          </a:prstGeom>
          <a:solidFill>
            <a:srgbClr val="0f2c2a"/>
          </a:solidFill>
          <a:ln>
            <a:solidFill>
              <a:srgbClr val="5bcd9a"/>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92" name="TextBox 41"/>
          <p:cNvSpPr/>
          <p:nvPr/>
        </p:nvSpPr>
        <p:spPr>
          <a:xfrm>
            <a:off x="868680" y="5824800"/>
            <a:ext cx="10423800" cy="28872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300" spc="-1" strike="noStrike">
                <a:solidFill>
                  <a:srgbClr val="f2f6fc"/>
                </a:solidFill>
                <a:latin typeface="Aptos"/>
              </a:rPr>
              <a:t>Mục tiêu: từ “OTP đang chậm” → xác định “OTP đang chậm ở stage nào” → tìm đúng component/owner cần điều tra.</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02 — Scope observability của V-ID</a:t>
            </a:r>
            <a:endParaRPr b="0" lang="en-US" sz="2800" spc="-1" strike="noStrike">
              <a:solidFill>
                <a:srgbClr val="ffffff"/>
              </a:solidFill>
              <a:latin typeface="Arial"/>
            </a:endParaRPr>
          </a:p>
        </p:txBody>
      </p:sp>
      <p:sp>
        <p:nvSpPr>
          <p:cNvPr id="94"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2000" spc="-1" strike="noStrike">
                <a:solidFill>
                  <a:srgbClr val="9ab0be"/>
                </a:solidFill>
                <a:latin typeface="Aptos"/>
              </a:rPr>
              <a:t>Lab ưu tiên các flow có ảnh hưởng trực tiếp tới identity, access và trải nghiệm OTP.</a:t>
            </a:r>
            <a:endParaRPr b="0" lang="en-US" sz="2000" spc="-1" strike="noStrike">
              <a:solidFill>
                <a:srgbClr val="ffffff"/>
              </a:solidFill>
              <a:latin typeface="Arial"/>
            </a:endParaRPr>
          </a:p>
        </p:txBody>
      </p:sp>
      <p:sp>
        <p:nvSpPr>
          <p:cNvPr id="95" name="Shape 2"/>
          <p:cNvSpPr/>
          <p:nvPr/>
        </p:nvSpPr>
        <p:spPr>
          <a:xfrm>
            <a:off x="731520" y="141732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96" name="Shape 3"/>
          <p:cNvSpPr/>
          <p:nvPr/>
        </p:nvSpPr>
        <p:spPr>
          <a:xfrm>
            <a:off x="731520" y="1417320"/>
            <a:ext cx="50040" cy="169128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97" name="Text 4"/>
          <p:cNvSpPr/>
          <p:nvPr/>
        </p:nvSpPr>
        <p:spPr>
          <a:xfrm>
            <a:off x="932760" y="158184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Authentication</a:t>
            </a:r>
            <a:endParaRPr b="0" lang="en-US" sz="1600" spc="-1" strike="noStrike">
              <a:solidFill>
                <a:srgbClr val="ffffff"/>
              </a:solidFill>
              <a:latin typeface="Arial"/>
            </a:endParaRPr>
          </a:p>
        </p:txBody>
      </p:sp>
      <p:sp>
        <p:nvSpPr>
          <p:cNvPr id="98" name="Text 5"/>
          <p:cNvSpPr/>
          <p:nvPr/>
        </p:nvSpPr>
        <p:spPr>
          <a:xfrm>
            <a:off x="951120" y="194760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IdP native/transition + Hydra browser OIDC</a:t>
            </a:r>
            <a:endParaRPr b="0" lang="en-US" sz="1600" spc="-1" strike="noStrike">
              <a:solidFill>
                <a:srgbClr val="ffffff"/>
              </a:solidFill>
              <a:latin typeface="Arial"/>
            </a:endParaRPr>
          </a:p>
        </p:txBody>
      </p:sp>
      <p:sp>
        <p:nvSpPr>
          <p:cNvPr id="99" name="Shape 6"/>
          <p:cNvSpPr/>
          <p:nvPr/>
        </p:nvSpPr>
        <p:spPr>
          <a:xfrm>
            <a:off x="4114800" y="141732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0" name="Shape 7"/>
          <p:cNvSpPr/>
          <p:nvPr/>
        </p:nvSpPr>
        <p:spPr>
          <a:xfrm>
            <a:off x="4114800" y="1417320"/>
            <a:ext cx="50040" cy="169128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1" name="Text 8"/>
          <p:cNvSpPr/>
          <p:nvPr/>
        </p:nvSpPr>
        <p:spPr>
          <a:xfrm>
            <a:off x="4316040" y="158184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OTP</a:t>
            </a:r>
            <a:endParaRPr b="0" lang="en-US" sz="1600" spc="-1" strike="noStrike">
              <a:solidFill>
                <a:srgbClr val="ffffff"/>
              </a:solidFill>
              <a:latin typeface="Arial"/>
            </a:endParaRPr>
          </a:p>
        </p:txBody>
      </p:sp>
      <p:sp>
        <p:nvSpPr>
          <p:cNvPr id="102" name="Text 9"/>
          <p:cNvSpPr/>
          <p:nvPr/>
        </p:nvSpPr>
        <p:spPr>
          <a:xfrm>
            <a:off x="4334400" y="194760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send • delivery • verify • journey stages</a:t>
            </a:r>
            <a:endParaRPr b="0" lang="en-US" sz="1600" spc="-1" strike="noStrike">
              <a:solidFill>
                <a:srgbClr val="ffffff"/>
              </a:solidFill>
              <a:latin typeface="Arial"/>
            </a:endParaRPr>
          </a:p>
        </p:txBody>
      </p:sp>
      <p:sp>
        <p:nvSpPr>
          <p:cNvPr id="103" name="Shape 10"/>
          <p:cNvSpPr/>
          <p:nvPr/>
        </p:nvSpPr>
        <p:spPr>
          <a:xfrm>
            <a:off x="7498080" y="141732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4" name="Shape 11"/>
          <p:cNvSpPr/>
          <p:nvPr/>
        </p:nvSpPr>
        <p:spPr>
          <a:xfrm>
            <a:off x="7498080" y="1417320"/>
            <a:ext cx="50040" cy="169128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5" name="Text 12"/>
          <p:cNvSpPr/>
          <p:nvPr/>
        </p:nvSpPr>
        <p:spPr>
          <a:xfrm>
            <a:off x="7699320" y="158184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Token</a:t>
            </a:r>
            <a:endParaRPr b="0" lang="en-US" sz="1600" spc="-1" strike="noStrike">
              <a:solidFill>
                <a:srgbClr val="ffffff"/>
              </a:solidFill>
              <a:latin typeface="Arial"/>
            </a:endParaRPr>
          </a:p>
        </p:txBody>
      </p:sp>
      <p:sp>
        <p:nvSpPr>
          <p:cNvPr id="106" name="Text 13"/>
          <p:cNvSpPr/>
          <p:nvPr/>
        </p:nvSpPr>
        <p:spPr>
          <a:xfrm>
            <a:off x="7717680" y="194760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issue/refresh/revoke • issuer boundary</a:t>
            </a:r>
            <a:endParaRPr b="0" lang="en-US" sz="1600" spc="-1" strike="noStrike">
              <a:solidFill>
                <a:srgbClr val="ffffff"/>
              </a:solidFill>
              <a:latin typeface="Arial"/>
            </a:endParaRPr>
          </a:p>
        </p:txBody>
      </p:sp>
      <p:sp>
        <p:nvSpPr>
          <p:cNvPr id="107" name="Shape 14"/>
          <p:cNvSpPr/>
          <p:nvPr/>
        </p:nvSpPr>
        <p:spPr>
          <a:xfrm>
            <a:off x="731520" y="361188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8" name="Shape 15"/>
          <p:cNvSpPr/>
          <p:nvPr/>
        </p:nvSpPr>
        <p:spPr>
          <a:xfrm>
            <a:off x="731520" y="3611880"/>
            <a:ext cx="50040" cy="1691280"/>
          </a:xfrm>
          <a:prstGeom prst="rect">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09" name="Text 16"/>
          <p:cNvSpPr/>
          <p:nvPr/>
        </p:nvSpPr>
        <p:spPr>
          <a:xfrm>
            <a:off x="932760" y="377640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Authorization</a:t>
            </a:r>
            <a:endParaRPr b="0" lang="en-US" sz="1600" spc="-1" strike="noStrike">
              <a:solidFill>
                <a:srgbClr val="ffffff"/>
              </a:solidFill>
              <a:latin typeface="Arial"/>
            </a:endParaRPr>
          </a:p>
        </p:txBody>
      </p:sp>
      <p:sp>
        <p:nvSpPr>
          <p:cNvPr id="110" name="Text 17"/>
          <p:cNvSpPr/>
          <p:nvPr/>
        </p:nvSpPr>
        <p:spPr>
          <a:xfrm>
            <a:off x="951120" y="414216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RBAC decision • denial vs system error</a:t>
            </a:r>
            <a:endParaRPr b="0" lang="en-US" sz="1600" spc="-1" strike="noStrike">
              <a:solidFill>
                <a:srgbClr val="ffffff"/>
              </a:solidFill>
              <a:latin typeface="Arial"/>
            </a:endParaRPr>
          </a:p>
        </p:txBody>
      </p:sp>
      <p:sp>
        <p:nvSpPr>
          <p:cNvPr id="111" name="Shape 18"/>
          <p:cNvSpPr/>
          <p:nvPr/>
        </p:nvSpPr>
        <p:spPr>
          <a:xfrm>
            <a:off x="4114800" y="361188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12" name="Shape 19"/>
          <p:cNvSpPr/>
          <p:nvPr/>
        </p:nvSpPr>
        <p:spPr>
          <a:xfrm>
            <a:off x="4114800" y="3611880"/>
            <a:ext cx="50040" cy="169128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13" name="Text 20"/>
          <p:cNvSpPr/>
          <p:nvPr/>
        </p:nvSpPr>
        <p:spPr>
          <a:xfrm>
            <a:off x="4316040" y="377640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Platform</a:t>
            </a:r>
            <a:endParaRPr b="0" lang="en-US" sz="1600" spc="-1" strike="noStrike">
              <a:solidFill>
                <a:srgbClr val="ffffff"/>
              </a:solidFill>
              <a:latin typeface="Arial"/>
            </a:endParaRPr>
          </a:p>
        </p:txBody>
      </p:sp>
      <p:sp>
        <p:nvSpPr>
          <p:cNvPr id="114" name="Text 21"/>
          <p:cNvSpPr/>
          <p:nvPr/>
        </p:nvSpPr>
        <p:spPr>
          <a:xfrm>
            <a:off x="4334400" y="414216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HTTP RED + dependency health</a:t>
            </a:r>
            <a:endParaRPr b="0" lang="en-US" sz="1600" spc="-1" strike="noStrike">
              <a:solidFill>
                <a:srgbClr val="ffffff"/>
              </a:solidFill>
              <a:latin typeface="Arial"/>
            </a:endParaRPr>
          </a:p>
        </p:txBody>
      </p:sp>
      <p:sp>
        <p:nvSpPr>
          <p:cNvPr id="115" name="Shape 22"/>
          <p:cNvSpPr/>
          <p:nvPr/>
        </p:nvSpPr>
        <p:spPr>
          <a:xfrm>
            <a:off x="7498080" y="3611880"/>
            <a:ext cx="3017160" cy="169128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16" name="Shape 23"/>
          <p:cNvSpPr/>
          <p:nvPr/>
        </p:nvSpPr>
        <p:spPr>
          <a:xfrm>
            <a:off x="7498080" y="3611880"/>
            <a:ext cx="50040" cy="1691280"/>
          </a:xfrm>
          <a:prstGeom prst="rect">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17" name="Text 24"/>
          <p:cNvSpPr/>
          <p:nvPr/>
        </p:nvSpPr>
        <p:spPr>
          <a:xfrm>
            <a:off x="7699320" y="3776400"/>
            <a:ext cx="26514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Platform deep-dive</a:t>
            </a:r>
            <a:endParaRPr b="0" lang="en-US" sz="1600" spc="-1" strike="noStrike">
              <a:solidFill>
                <a:srgbClr val="ffffff"/>
              </a:solidFill>
              <a:latin typeface="Arial"/>
            </a:endParaRPr>
          </a:p>
        </p:txBody>
      </p:sp>
      <p:sp>
        <p:nvSpPr>
          <p:cNvPr id="118" name="Text 25"/>
          <p:cNvSpPr/>
          <p:nvPr/>
        </p:nvSpPr>
        <p:spPr>
          <a:xfrm>
            <a:off x="7717680" y="4142160"/>
            <a:ext cx="2596680" cy="103284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600" spc="-1" strike="noStrike">
                <a:solidFill>
                  <a:srgbClr val="9ab0be"/>
                </a:solidFill>
                <a:latin typeface="Aptos"/>
              </a:rPr>
              <a:t>HTTP RED + dependency health</a:t>
            </a:r>
            <a:endParaRPr b="0" lang="en-US" sz="1600" spc="-1" strike="noStrike">
              <a:solidFill>
                <a:srgbClr val="ffffff"/>
              </a:solidFill>
              <a:latin typeface="Arial"/>
            </a:endParaRPr>
          </a:p>
        </p:txBody>
      </p:sp>
      <p:sp>
        <p:nvSpPr>
          <p:cNvPr id="119" name="Text 26"/>
          <p:cNvSpPr/>
          <p:nvPr/>
        </p:nvSpPr>
        <p:spPr>
          <a:xfrm>
            <a:off x="731520" y="5715000"/>
            <a:ext cx="1078956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400" spc="-1" strike="noStrike">
                <a:solidFill>
                  <a:srgbClr val="678296"/>
                </a:solidFill>
                <a:latin typeface="Aptos"/>
              </a:rPr>
              <a:t>Boundary modeled: identity-provider • Hydra • oauth2-token • authz • organization • Kong • Redis • Postgres • Kafka • notification/provider dependencies</a:t>
            </a:r>
            <a:endParaRPr b="0" lang="en-US" sz="1400" spc="-1" strike="noStrike">
              <a:solidFill>
                <a:srgbClr val="ffffff"/>
              </a:solidFill>
              <a:latin typeface="Arial"/>
            </a:endParaRPr>
          </a:p>
        </p:txBody>
      </p:sp>
      <p:sp>
        <p:nvSpPr>
          <p:cNvPr id="120" name="PlaceHolder 1"/>
          <p:cNvSpPr>
            <a:spLocks noGrp="1"/>
          </p:cNvSpPr>
          <p:nvPr>
            <p:ph type="sldNum" idx="6"/>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E217F7B0-C4D6-436B-B1E1-DBF3A4E35202}" type="slidenum">
              <a:rPr b="0" lang="en-US" sz="800" spc="-1" strike="noStrike">
                <a:solidFill>
                  <a:srgbClr val="678296"/>
                </a:solidFill>
                <a:latin typeface="Aptos"/>
                <a:ea typeface="Aptos"/>
              </a:rPr>
              <a:t>3</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03 — Kiến trúc observability end-to-end</a:t>
            </a:r>
            <a:endParaRPr b="0" lang="en-US" sz="2800" spc="-1" strike="noStrike">
              <a:solidFill>
                <a:srgbClr val="ffffff"/>
              </a:solidFill>
              <a:latin typeface="Arial"/>
            </a:endParaRPr>
          </a:p>
        </p:txBody>
      </p:sp>
      <p:sp>
        <p:nvSpPr>
          <p:cNvPr id="122"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Một flow thống nhất cho metrics, alerting và tracing; Grafana là nơi hội tụ.</a:t>
            </a:r>
            <a:endParaRPr b="0" lang="en-US" sz="1500" spc="-1" strike="noStrike">
              <a:solidFill>
                <a:srgbClr val="ffffff"/>
              </a:solidFill>
              <a:latin typeface="Arial"/>
            </a:endParaRPr>
          </a:p>
        </p:txBody>
      </p:sp>
      <p:sp>
        <p:nvSpPr>
          <p:cNvPr id="123" name="Shape 2"/>
          <p:cNvSpPr/>
          <p:nvPr/>
        </p:nvSpPr>
        <p:spPr>
          <a:xfrm>
            <a:off x="320400" y="2286000"/>
            <a:ext cx="1965600" cy="785880"/>
          </a:xfrm>
          <a:prstGeom prst="roundRect">
            <a:avLst>
              <a:gd name="adj" fmla="val 16667"/>
            </a:avLst>
          </a:prstGeom>
          <a:solidFill>
            <a:srgbClr val="102636"/>
          </a:solidFill>
          <a:ln w="15875">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24" name="Text 3"/>
          <p:cNvSpPr/>
          <p:nvPr/>
        </p:nvSpPr>
        <p:spPr>
          <a:xfrm>
            <a:off x="411840" y="2404800"/>
            <a:ext cx="1782720" cy="228240"/>
          </a:xfrm>
          <a:prstGeom prst="rect">
            <a:avLst/>
          </a:prstGeom>
          <a:noFill/>
          <a:ln w="0">
            <a:noFill/>
          </a:ln>
        </p:spPr>
        <p:style>
          <a:lnRef idx="0"/>
          <a:fillRef idx="0"/>
          <a:effectRef idx="0"/>
          <a:fontRef idx="minor"/>
        </p:style>
        <p:txBody>
          <a:bodyPr lIns="0" rIns="0" tIns="0" bIns="0" anchor="ctr">
            <a:normAutofit fontScale="93333"/>
          </a:bodyPr>
          <a:p>
            <a:pPr algn="ctr" defTabSz="914400">
              <a:lnSpc>
                <a:spcPct val="100000"/>
              </a:lnSpc>
              <a:tabLst>
                <a:tab algn="l" pos="0"/>
              </a:tabLst>
            </a:pPr>
            <a:r>
              <a:rPr b="1" lang="en-US" sz="1600" spc="-1" strike="noStrike">
                <a:solidFill>
                  <a:srgbClr val="f3f8fb"/>
                </a:solidFill>
                <a:latin typeface="Aptos"/>
              </a:rPr>
              <a:t>Metrics Simulator</a:t>
            </a:r>
            <a:endParaRPr b="0" lang="en-US" sz="1600" spc="-1" strike="noStrike">
              <a:solidFill>
                <a:srgbClr val="ffffff"/>
              </a:solidFill>
              <a:latin typeface="Arial"/>
            </a:endParaRPr>
          </a:p>
        </p:txBody>
      </p:sp>
      <p:sp>
        <p:nvSpPr>
          <p:cNvPr id="125" name="Text 4"/>
          <p:cNvSpPr/>
          <p:nvPr/>
        </p:nvSpPr>
        <p:spPr>
          <a:xfrm>
            <a:off x="411840" y="2651760"/>
            <a:ext cx="1782720" cy="365400"/>
          </a:xfrm>
          <a:prstGeom prst="rect">
            <a:avLst/>
          </a:prstGeom>
          <a:noFill/>
          <a:ln w="0">
            <a:noFill/>
          </a:ln>
        </p:spPr>
        <p:style>
          <a:lnRef idx="0"/>
          <a:fillRef idx="0"/>
          <a:effectRef idx="0"/>
          <a:fontRef idx="minor"/>
        </p:style>
        <p:txBody>
          <a:bodyPr lIns="0" rIns="0" tIns="0" bIns="0" anchor="ctr">
            <a:normAutofit fontScale="81111" lnSpcReduction="10000"/>
          </a:bodyPr>
          <a:p>
            <a:pPr algn="ctr" defTabSz="914400">
              <a:lnSpc>
                <a:spcPct val="100000"/>
              </a:lnSpc>
              <a:tabLst>
                <a:tab algn="l" pos="0"/>
              </a:tabLst>
            </a:pPr>
            <a:r>
              <a:rPr b="0" lang="en-US" sz="1600" spc="-1" strike="noStrike">
                <a:solidFill>
                  <a:srgbClr val="9ab0be"/>
                </a:solidFill>
                <a:latin typeface="Aptos"/>
              </a:rPr>
              <a:t>FastAPI synthetic traffic</a:t>
            </a:r>
            <a:endParaRPr b="0" lang="en-US" sz="1600" spc="-1" strike="noStrike">
              <a:solidFill>
                <a:srgbClr val="ffffff"/>
              </a:solidFill>
              <a:latin typeface="Arial"/>
            </a:endParaRPr>
          </a:p>
        </p:txBody>
      </p:sp>
      <p:sp>
        <p:nvSpPr>
          <p:cNvPr id="126" name="Shape 5"/>
          <p:cNvSpPr/>
          <p:nvPr/>
        </p:nvSpPr>
        <p:spPr>
          <a:xfrm>
            <a:off x="3200400" y="1316880"/>
            <a:ext cx="1828440" cy="7858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27" name="Text 6"/>
          <p:cNvSpPr/>
          <p:nvPr/>
        </p:nvSpPr>
        <p:spPr>
          <a:xfrm>
            <a:off x="3291840" y="1435680"/>
            <a:ext cx="16455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Prometheus</a:t>
            </a:r>
            <a:endParaRPr b="0" lang="en-US" sz="1600" spc="-1" strike="noStrike">
              <a:solidFill>
                <a:srgbClr val="ffffff"/>
              </a:solidFill>
              <a:latin typeface="Arial"/>
            </a:endParaRPr>
          </a:p>
        </p:txBody>
      </p:sp>
      <p:sp>
        <p:nvSpPr>
          <p:cNvPr id="128" name="Text 7"/>
          <p:cNvSpPr/>
          <p:nvPr/>
        </p:nvSpPr>
        <p:spPr>
          <a:xfrm>
            <a:off x="3291840" y="1682640"/>
            <a:ext cx="1645560" cy="365400"/>
          </a:xfrm>
          <a:prstGeom prst="rect">
            <a:avLst/>
          </a:prstGeom>
          <a:noFill/>
          <a:ln w="0">
            <a:noFill/>
          </a:ln>
        </p:spPr>
        <p:style>
          <a:lnRef idx="0"/>
          <a:fillRef idx="0"/>
          <a:effectRef idx="0"/>
          <a:fontRef idx="minor"/>
        </p:style>
        <p:txBody>
          <a:bodyPr lIns="0" rIns="0" tIns="0" bIns="0" anchor="ctr">
            <a:normAutofit fontScale="75000"/>
          </a:bodyPr>
          <a:p>
            <a:pPr algn="ctr" defTabSz="914400">
              <a:lnSpc>
                <a:spcPct val="100000"/>
              </a:lnSpc>
              <a:tabLst>
                <a:tab algn="l" pos="0"/>
              </a:tabLst>
            </a:pPr>
            <a:r>
              <a:rPr b="0" lang="en-US" sz="1600" spc="-1" strike="noStrike">
                <a:solidFill>
                  <a:srgbClr val="9ab0be"/>
                </a:solidFill>
                <a:latin typeface="Aptos"/>
              </a:rPr>
              <a:t>scrape + 62 recording rules</a:t>
            </a:r>
            <a:endParaRPr b="0" lang="en-US" sz="1600" spc="-1" strike="noStrike">
              <a:solidFill>
                <a:srgbClr val="ffffff"/>
              </a:solidFill>
              <a:latin typeface="Arial"/>
            </a:endParaRPr>
          </a:p>
        </p:txBody>
      </p:sp>
      <p:sp>
        <p:nvSpPr>
          <p:cNvPr id="129" name="Shape 8"/>
          <p:cNvSpPr/>
          <p:nvPr/>
        </p:nvSpPr>
        <p:spPr>
          <a:xfrm>
            <a:off x="3063240" y="3063240"/>
            <a:ext cx="1828440" cy="7858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30" name="Text 9"/>
          <p:cNvSpPr/>
          <p:nvPr/>
        </p:nvSpPr>
        <p:spPr>
          <a:xfrm>
            <a:off x="3154680" y="3182040"/>
            <a:ext cx="16455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OTel Collector</a:t>
            </a:r>
            <a:endParaRPr b="0" lang="en-US" sz="1600" spc="-1" strike="noStrike">
              <a:solidFill>
                <a:srgbClr val="ffffff"/>
              </a:solidFill>
              <a:latin typeface="Arial"/>
            </a:endParaRPr>
          </a:p>
        </p:txBody>
      </p:sp>
      <p:sp>
        <p:nvSpPr>
          <p:cNvPr id="131" name="Text 10"/>
          <p:cNvSpPr/>
          <p:nvPr/>
        </p:nvSpPr>
        <p:spPr>
          <a:xfrm>
            <a:off x="3154680" y="3429000"/>
            <a:ext cx="1645560" cy="365400"/>
          </a:xfrm>
          <a:prstGeom prst="rect">
            <a:avLst/>
          </a:prstGeom>
          <a:noFill/>
          <a:ln w="0">
            <a:noFill/>
          </a:ln>
        </p:spPr>
        <p:style>
          <a:lnRef idx="0"/>
          <a:fillRef idx="0"/>
          <a:effectRef idx="0"/>
          <a:fontRef idx="minor"/>
        </p:style>
        <p:txBody>
          <a:bodyPr lIns="0" rIns="0" tIns="0" bIns="0" anchor="ctr">
            <a:normAutofit fontScale="87222" lnSpcReduction="20000"/>
          </a:bodyPr>
          <a:p>
            <a:pPr algn="ctr" defTabSz="914400">
              <a:lnSpc>
                <a:spcPct val="100000"/>
              </a:lnSpc>
              <a:tabLst>
                <a:tab algn="l" pos="0"/>
              </a:tabLst>
            </a:pPr>
            <a:r>
              <a:rPr b="0" lang="en-US" sz="1600" spc="-1" strike="noStrike">
                <a:solidFill>
                  <a:srgbClr val="9ab0be"/>
                </a:solidFill>
                <a:latin typeface="Aptos"/>
              </a:rPr>
              <a:t>sampled OTLP traces</a:t>
            </a:r>
            <a:endParaRPr b="0" lang="en-US" sz="1600" spc="-1" strike="noStrike">
              <a:solidFill>
                <a:srgbClr val="ffffff"/>
              </a:solidFill>
              <a:latin typeface="Arial"/>
            </a:endParaRPr>
          </a:p>
        </p:txBody>
      </p:sp>
      <p:sp>
        <p:nvSpPr>
          <p:cNvPr id="132" name="Shape 11"/>
          <p:cNvSpPr/>
          <p:nvPr/>
        </p:nvSpPr>
        <p:spPr>
          <a:xfrm>
            <a:off x="6058080" y="1316880"/>
            <a:ext cx="1828440" cy="785880"/>
          </a:xfrm>
          <a:prstGeom prst="roundRect">
            <a:avLst>
              <a:gd name="adj" fmla="val 16667"/>
            </a:avLst>
          </a:prstGeom>
          <a:solidFill>
            <a:srgbClr val="102636"/>
          </a:solidFill>
          <a:ln w="15875">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33" name="Text 12"/>
          <p:cNvSpPr/>
          <p:nvPr/>
        </p:nvSpPr>
        <p:spPr>
          <a:xfrm>
            <a:off x="6149520" y="1435680"/>
            <a:ext cx="16455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Alertmanager</a:t>
            </a:r>
            <a:endParaRPr b="0" lang="en-US" sz="1600" spc="-1" strike="noStrike">
              <a:solidFill>
                <a:srgbClr val="ffffff"/>
              </a:solidFill>
              <a:latin typeface="Arial"/>
            </a:endParaRPr>
          </a:p>
        </p:txBody>
      </p:sp>
      <p:sp>
        <p:nvSpPr>
          <p:cNvPr id="134" name="Text 13"/>
          <p:cNvSpPr/>
          <p:nvPr/>
        </p:nvSpPr>
        <p:spPr>
          <a:xfrm>
            <a:off x="6149520" y="1682640"/>
            <a:ext cx="16455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400" spc="-1" strike="noStrike">
                <a:solidFill>
                  <a:srgbClr val="9ab0be"/>
                </a:solidFill>
                <a:latin typeface="Aptos"/>
              </a:rPr>
              <a:t>17 alert rules</a:t>
            </a:r>
            <a:endParaRPr b="0" lang="en-US" sz="1400" spc="-1" strike="noStrike">
              <a:solidFill>
                <a:srgbClr val="ffffff"/>
              </a:solidFill>
              <a:latin typeface="Arial"/>
            </a:endParaRPr>
          </a:p>
        </p:txBody>
      </p:sp>
      <p:sp>
        <p:nvSpPr>
          <p:cNvPr id="135" name="Shape 14"/>
          <p:cNvSpPr/>
          <p:nvPr/>
        </p:nvSpPr>
        <p:spPr>
          <a:xfrm>
            <a:off x="5943600" y="3182040"/>
            <a:ext cx="1828440" cy="7858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36" name="Text 15"/>
          <p:cNvSpPr/>
          <p:nvPr/>
        </p:nvSpPr>
        <p:spPr>
          <a:xfrm>
            <a:off x="6035040" y="3300840"/>
            <a:ext cx="16455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Tempo</a:t>
            </a:r>
            <a:endParaRPr b="0" lang="en-US" sz="1600" spc="-1" strike="noStrike">
              <a:solidFill>
                <a:srgbClr val="ffffff"/>
              </a:solidFill>
              <a:latin typeface="Arial"/>
            </a:endParaRPr>
          </a:p>
        </p:txBody>
      </p:sp>
      <p:sp>
        <p:nvSpPr>
          <p:cNvPr id="137" name="Text 16"/>
          <p:cNvSpPr/>
          <p:nvPr/>
        </p:nvSpPr>
        <p:spPr>
          <a:xfrm>
            <a:off x="6035040" y="3547800"/>
            <a:ext cx="164556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trace backend</a:t>
            </a:r>
            <a:endParaRPr b="0" lang="en-US" sz="1600" spc="-1" strike="noStrike">
              <a:solidFill>
                <a:srgbClr val="ffffff"/>
              </a:solidFill>
              <a:latin typeface="Arial"/>
            </a:endParaRPr>
          </a:p>
        </p:txBody>
      </p:sp>
      <p:sp>
        <p:nvSpPr>
          <p:cNvPr id="138" name="Shape 17"/>
          <p:cNvSpPr/>
          <p:nvPr/>
        </p:nvSpPr>
        <p:spPr>
          <a:xfrm>
            <a:off x="9510120" y="2286000"/>
            <a:ext cx="2148480" cy="95976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39" name="Text 18"/>
          <p:cNvSpPr/>
          <p:nvPr/>
        </p:nvSpPr>
        <p:spPr>
          <a:xfrm>
            <a:off x="9601560" y="2405160"/>
            <a:ext cx="19656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Grafana</a:t>
            </a:r>
            <a:endParaRPr b="0" lang="en-US" sz="1600" spc="-1" strike="noStrike">
              <a:solidFill>
                <a:srgbClr val="ffffff"/>
              </a:solidFill>
              <a:latin typeface="Arial"/>
            </a:endParaRPr>
          </a:p>
        </p:txBody>
      </p:sp>
      <p:sp>
        <p:nvSpPr>
          <p:cNvPr id="140" name="Text 19"/>
          <p:cNvSpPr/>
          <p:nvPr/>
        </p:nvSpPr>
        <p:spPr>
          <a:xfrm>
            <a:off x="9601560" y="2651760"/>
            <a:ext cx="1965600" cy="5392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8 core dashboards / 83 panels</a:t>
            </a:r>
            <a:endParaRPr b="0" lang="en-US" sz="1600" spc="-1" strike="noStrike">
              <a:solidFill>
                <a:srgbClr val="ffffff"/>
              </a:solidFill>
              <a:latin typeface="Arial"/>
            </a:endParaRPr>
          </a:p>
        </p:txBody>
      </p:sp>
      <p:sp>
        <p:nvSpPr>
          <p:cNvPr id="141" name="Shape 20"/>
          <p:cNvSpPr/>
          <p:nvPr/>
        </p:nvSpPr>
        <p:spPr>
          <a:xfrm flipV="1">
            <a:off x="2286000" y="1600200"/>
            <a:ext cx="914400" cy="91440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42" name="Text 21"/>
          <p:cNvSpPr/>
          <p:nvPr/>
        </p:nvSpPr>
        <p:spPr>
          <a:xfrm>
            <a:off x="1828800" y="177876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/metrics</a:t>
            </a:r>
            <a:endParaRPr b="0" lang="en-US" sz="1600" spc="-1" strike="noStrike">
              <a:solidFill>
                <a:srgbClr val="ffffff"/>
              </a:solidFill>
              <a:latin typeface="Arial"/>
            </a:endParaRPr>
          </a:p>
        </p:txBody>
      </p:sp>
      <p:sp>
        <p:nvSpPr>
          <p:cNvPr id="143" name="Shape 22"/>
          <p:cNvSpPr/>
          <p:nvPr/>
        </p:nvSpPr>
        <p:spPr>
          <a:xfrm>
            <a:off x="2286000" y="2811960"/>
            <a:ext cx="777240" cy="64440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44" name="Text 23"/>
          <p:cNvSpPr/>
          <p:nvPr/>
        </p:nvSpPr>
        <p:spPr>
          <a:xfrm>
            <a:off x="1828800" y="320040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OTLP</a:t>
            </a:r>
            <a:endParaRPr b="0" lang="en-US" sz="1600" spc="-1" strike="noStrike">
              <a:solidFill>
                <a:srgbClr val="ffffff"/>
              </a:solidFill>
              <a:latin typeface="Arial"/>
            </a:endParaRPr>
          </a:p>
        </p:txBody>
      </p:sp>
      <p:sp>
        <p:nvSpPr>
          <p:cNvPr id="145" name="Shape 24"/>
          <p:cNvSpPr/>
          <p:nvPr/>
        </p:nvSpPr>
        <p:spPr>
          <a:xfrm>
            <a:off x="5028840" y="1600200"/>
            <a:ext cx="1029240" cy="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46" name="Text 25"/>
          <p:cNvSpPr/>
          <p:nvPr/>
        </p:nvSpPr>
        <p:spPr>
          <a:xfrm>
            <a:off x="4938120" y="137160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rules</a:t>
            </a:r>
            <a:endParaRPr b="0" lang="en-US" sz="1600" spc="-1" strike="noStrike">
              <a:solidFill>
                <a:srgbClr val="ffffff"/>
              </a:solidFill>
              <a:latin typeface="Arial"/>
            </a:endParaRPr>
          </a:p>
        </p:txBody>
      </p:sp>
      <p:sp>
        <p:nvSpPr>
          <p:cNvPr id="147" name="Shape 26"/>
          <p:cNvSpPr/>
          <p:nvPr/>
        </p:nvSpPr>
        <p:spPr>
          <a:xfrm>
            <a:off x="4892040" y="3456360"/>
            <a:ext cx="1051560" cy="20124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48" name="Text 27"/>
          <p:cNvSpPr/>
          <p:nvPr/>
        </p:nvSpPr>
        <p:spPr>
          <a:xfrm>
            <a:off x="4891680" y="324612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traces</a:t>
            </a:r>
            <a:endParaRPr b="0" lang="en-US" sz="1600" spc="-1" strike="noStrike">
              <a:solidFill>
                <a:srgbClr val="ffffff"/>
              </a:solidFill>
              <a:latin typeface="Arial"/>
            </a:endParaRPr>
          </a:p>
        </p:txBody>
      </p:sp>
      <p:sp>
        <p:nvSpPr>
          <p:cNvPr id="149" name="Shape 28"/>
          <p:cNvSpPr/>
          <p:nvPr/>
        </p:nvSpPr>
        <p:spPr>
          <a:xfrm>
            <a:off x="7886520" y="1764720"/>
            <a:ext cx="1623600" cy="97848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50" name="Text 29"/>
          <p:cNvSpPr/>
          <p:nvPr/>
        </p:nvSpPr>
        <p:spPr>
          <a:xfrm>
            <a:off x="8367120" y="210348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alerts</a:t>
            </a:r>
            <a:endParaRPr b="0" lang="en-US" sz="1600" spc="-1" strike="noStrike">
              <a:solidFill>
                <a:srgbClr val="ffffff"/>
              </a:solidFill>
              <a:latin typeface="Arial"/>
            </a:endParaRPr>
          </a:p>
        </p:txBody>
      </p:sp>
      <p:sp>
        <p:nvSpPr>
          <p:cNvPr id="151" name="Shape 30"/>
          <p:cNvSpPr/>
          <p:nvPr/>
        </p:nvSpPr>
        <p:spPr>
          <a:xfrm flipV="1">
            <a:off x="7772400" y="2743200"/>
            <a:ext cx="1737720" cy="71316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52" name="Text 31"/>
          <p:cNvSpPr/>
          <p:nvPr/>
        </p:nvSpPr>
        <p:spPr>
          <a:xfrm>
            <a:off x="8229600" y="3071880"/>
            <a:ext cx="100548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600" spc="-1" strike="noStrike">
                <a:solidFill>
                  <a:srgbClr val="9ab0be"/>
                </a:solidFill>
                <a:latin typeface="Aptos"/>
              </a:rPr>
              <a:t>traces</a:t>
            </a:r>
            <a:endParaRPr b="0" lang="en-US" sz="1600" spc="-1" strike="noStrike">
              <a:solidFill>
                <a:srgbClr val="ffffff"/>
              </a:solidFill>
              <a:latin typeface="Arial"/>
            </a:endParaRPr>
          </a:p>
        </p:txBody>
      </p:sp>
      <p:sp>
        <p:nvSpPr>
          <p:cNvPr id="153" name="Shape 32"/>
          <p:cNvSpPr/>
          <p:nvPr/>
        </p:nvSpPr>
        <p:spPr>
          <a:xfrm>
            <a:off x="5028840" y="1965960"/>
            <a:ext cx="4481280" cy="777240"/>
          </a:xfrm>
          <a:prstGeom prst="line">
            <a:avLst/>
          </a:prstGeom>
          <a:ln w="21590">
            <a:solidFill>
              <a:srgbClr val="678296"/>
            </a:solidFill>
            <a:round/>
            <a:tailEnd len="med" type="triangle" w="me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154" name="Shape 34"/>
          <p:cNvSpPr/>
          <p:nvPr/>
        </p:nvSpPr>
        <p:spPr>
          <a:xfrm>
            <a:off x="822960" y="4937760"/>
            <a:ext cx="10606680" cy="868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55" name="Shape 35"/>
          <p:cNvSpPr/>
          <p:nvPr/>
        </p:nvSpPr>
        <p:spPr>
          <a:xfrm>
            <a:off x="822960" y="4937760"/>
            <a:ext cx="50040" cy="86832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56" name="Text 36"/>
          <p:cNvSpPr/>
          <p:nvPr/>
        </p:nvSpPr>
        <p:spPr>
          <a:xfrm>
            <a:off x="1024200" y="5102280"/>
            <a:ext cx="102409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Design principle</a:t>
            </a:r>
            <a:endParaRPr b="0" lang="en-US" sz="1600" spc="-1" strike="noStrike">
              <a:solidFill>
                <a:srgbClr val="ffffff"/>
              </a:solidFill>
              <a:latin typeface="Arial"/>
            </a:endParaRPr>
          </a:p>
        </p:txBody>
      </p:sp>
      <p:sp>
        <p:nvSpPr>
          <p:cNvPr id="157" name="Text 37"/>
          <p:cNvSpPr/>
          <p:nvPr/>
        </p:nvSpPr>
        <p:spPr>
          <a:xfrm>
            <a:off x="1042560" y="5468040"/>
            <a:ext cx="10186200" cy="209880"/>
          </a:xfrm>
          <a:prstGeom prst="rect">
            <a:avLst/>
          </a:prstGeom>
          <a:noFill/>
          <a:ln w="0">
            <a:noFill/>
          </a:ln>
        </p:spPr>
        <p:style>
          <a:lnRef idx="0"/>
          <a:fillRef idx="0"/>
          <a:effectRef idx="0"/>
          <a:fontRef idx="minor"/>
        </p:style>
        <p:txBody>
          <a:bodyPr lIns="360" rIns="360" tIns="360" bIns="360" anchor="t">
            <a:normAutofit fontScale="75000"/>
          </a:bodyPr>
          <a:p>
            <a:pPr defTabSz="914400">
              <a:lnSpc>
                <a:spcPct val="100000"/>
              </a:lnSpc>
              <a:tabLst>
                <a:tab algn="l" pos="0"/>
              </a:tabLst>
            </a:pPr>
            <a:r>
              <a:rPr b="0" lang="en-US" sz="1250" spc="-1" strike="noStrike">
                <a:solidFill>
                  <a:srgbClr val="9ab0be"/>
                </a:solidFill>
                <a:latin typeface="Aptos"/>
              </a:rPr>
              <a:t>Metrics để phát hiện “cái gì đang xấu”; trace để trả lời “xấu ở stage nào / request path nào”. Prometheus labels giữ bounded cardinality; correlation identifiers thuộc tracing/logs.</a:t>
            </a:r>
            <a:endParaRPr b="0" lang="en-US" sz="1250" spc="-1" strike="noStrike">
              <a:solidFill>
                <a:srgbClr val="ffffff"/>
              </a:solidFill>
              <a:latin typeface="Arial"/>
            </a:endParaRPr>
          </a:p>
        </p:txBody>
      </p:sp>
      <p:sp>
        <p:nvSpPr>
          <p:cNvPr id="158" name="PlaceHolder 1"/>
          <p:cNvSpPr>
            <a:spLocks noGrp="1"/>
          </p:cNvSpPr>
          <p:nvPr>
            <p:ph type="sldNum" idx="7"/>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80FD888C-CAEF-4DB5-8B5D-D1665497BA55}" type="slidenum">
              <a:rPr b="0" lang="en-US" sz="800" spc="-1" strike="noStrike">
                <a:solidFill>
                  <a:srgbClr val="678296"/>
                </a:solidFill>
                <a:latin typeface="Aptos"/>
                <a:ea typeface="Aptos"/>
              </a:rPr>
              <a:t>4</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Text 0"/>
          <p:cNvSpPr/>
          <p:nvPr/>
        </p:nvSpPr>
        <p:spPr>
          <a:xfrm>
            <a:off x="594720" y="2286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04 — 6 KPI cốt lõi</a:t>
            </a:r>
            <a:endParaRPr b="0" lang="en-US" sz="2800" spc="-1" strike="noStrike">
              <a:solidFill>
                <a:srgbClr val="ffffff"/>
              </a:solidFill>
              <a:latin typeface="Arial"/>
            </a:endParaRPr>
          </a:p>
        </p:txBody>
      </p:sp>
      <p:sp>
        <p:nvSpPr>
          <p:cNvPr id="160"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KPI contract tách rõ numerator/denominator, target và window; KPI-04 hiện baseline, chưa SLO alert.</a:t>
            </a:r>
            <a:endParaRPr b="0" lang="en-US" sz="1500" spc="-1" strike="noStrike">
              <a:solidFill>
                <a:srgbClr val="ffffff"/>
              </a:solidFill>
              <a:latin typeface="Arial"/>
            </a:endParaRPr>
          </a:p>
        </p:txBody>
      </p:sp>
      <p:sp>
        <p:nvSpPr>
          <p:cNvPr id="161" name="Shape 2"/>
          <p:cNvSpPr/>
          <p:nvPr/>
        </p:nvSpPr>
        <p:spPr>
          <a:xfrm>
            <a:off x="731520" y="141732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62" name="Text 3"/>
          <p:cNvSpPr/>
          <p:nvPr/>
        </p:nvSpPr>
        <p:spPr>
          <a:xfrm>
            <a:off x="932760" y="161856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19c3b1"/>
                </a:solidFill>
                <a:latin typeface="Aptos"/>
              </a:rPr>
              <a:t>01</a:t>
            </a:r>
            <a:endParaRPr b="0" lang="en-US" sz="2300" spc="-1" strike="noStrike">
              <a:solidFill>
                <a:srgbClr val="ffffff"/>
              </a:solidFill>
              <a:latin typeface="Arial"/>
            </a:endParaRPr>
          </a:p>
        </p:txBody>
      </p:sp>
      <p:sp>
        <p:nvSpPr>
          <p:cNvPr id="163" name="Text 4"/>
          <p:cNvSpPr/>
          <p:nvPr/>
        </p:nvSpPr>
        <p:spPr>
          <a:xfrm>
            <a:off x="1691640" y="158184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Authentication success</a:t>
            </a:r>
            <a:endParaRPr b="0" lang="en-US" sz="1600" spc="-1" strike="noStrike">
              <a:solidFill>
                <a:srgbClr val="ffffff"/>
              </a:solidFill>
              <a:latin typeface="Arial"/>
            </a:endParaRPr>
          </a:p>
        </p:txBody>
      </p:sp>
      <p:sp>
        <p:nvSpPr>
          <p:cNvPr id="164" name="Text 5"/>
          <p:cNvSpPr/>
          <p:nvPr/>
        </p:nvSpPr>
        <p:spPr>
          <a:xfrm>
            <a:off x="1691640" y="201168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99.9% / 30d</a:t>
            </a:r>
            <a:endParaRPr b="0" lang="en-US" sz="1600" spc="-1" strike="noStrike">
              <a:solidFill>
                <a:srgbClr val="ffffff"/>
              </a:solidFill>
              <a:latin typeface="Arial"/>
            </a:endParaRPr>
          </a:p>
        </p:txBody>
      </p:sp>
      <p:sp>
        <p:nvSpPr>
          <p:cNvPr id="165" name="Shape 6"/>
          <p:cNvSpPr/>
          <p:nvPr/>
        </p:nvSpPr>
        <p:spPr>
          <a:xfrm>
            <a:off x="6263640" y="141732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66" name="Text 7"/>
          <p:cNvSpPr/>
          <p:nvPr/>
        </p:nvSpPr>
        <p:spPr>
          <a:xfrm>
            <a:off x="6464880" y="161856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42b4e6"/>
                </a:solidFill>
                <a:latin typeface="Aptos"/>
              </a:rPr>
              <a:t>02</a:t>
            </a:r>
            <a:endParaRPr b="0" lang="en-US" sz="2300" spc="-1" strike="noStrike">
              <a:solidFill>
                <a:srgbClr val="ffffff"/>
              </a:solidFill>
              <a:latin typeface="Arial"/>
            </a:endParaRPr>
          </a:p>
        </p:txBody>
      </p:sp>
      <p:sp>
        <p:nvSpPr>
          <p:cNvPr id="167" name="Text 8"/>
          <p:cNvSpPr/>
          <p:nvPr/>
        </p:nvSpPr>
        <p:spPr>
          <a:xfrm>
            <a:off x="7223760" y="158184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Auth latency &lt; 500 ms</a:t>
            </a:r>
            <a:endParaRPr b="0" lang="en-US" sz="1600" spc="-1" strike="noStrike">
              <a:solidFill>
                <a:srgbClr val="ffffff"/>
              </a:solidFill>
              <a:latin typeface="Arial"/>
            </a:endParaRPr>
          </a:p>
        </p:txBody>
      </p:sp>
      <p:sp>
        <p:nvSpPr>
          <p:cNvPr id="168" name="Text 9"/>
          <p:cNvSpPr/>
          <p:nvPr/>
        </p:nvSpPr>
        <p:spPr>
          <a:xfrm>
            <a:off x="7223760" y="201168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95% / 30d</a:t>
            </a:r>
            <a:endParaRPr b="0" lang="en-US" sz="1600" spc="-1" strike="noStrike">
              <a:solidFill>
                <a:srgbClr val="ffffff"/>
              </a:solidFill>
              <a:latin typeface="Arial"/>
            </a:endParaRPr>
          </a:p>
        </p:txBody>
      </p:sp>
      <p:sp>
        <p:nvSpPr>
          <p:cNvPr id="169" name="Shape 10"/>
          <p:cNvSpPr/>
          <p:nvPr/>
        </p:nvSpPr>
        <p:spPr>
          <a:xfrm>
            <a:off x="731520" y="299016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70" name="Text 11"/>
          <p:cNvSpPr/>
          <p:nvPr/>
        </p:nvSpPr>
        <p:spPr>
          <a:xfrm>
            <a:off x="932760" y="319140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48d597"/>
                </a:solidFill>
                <a:latin typeface="Aptos"/>
              </a:rPr>
              <a:t>03</a:t>
            </a:r>
            <a:endParaRPr b="0" lang="en-US" sz="2300" spc="-1" strike="noStrike">
              <a:solidFill>
                <a:srgbClr val="ffffff"/>
              </a:solidFill>
              <a:latin typeface="Arial"/>
            </a:endParaRPr>
          </a:p>
        </p:txBody>
      </p:sp>
      <p:sp>
        <p:nvSpPr>
          <p:cNvPr id="171" name="Text 12"/>
          <p:cNvSpPr/>
          <p:nvPr/>
        </p:nvSpPr>
        <p:spPr>
          <a:xfrm>
            <a:off x="1691640" y="315468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OTP delivery success</a:t>
            </a:r>
            <a:endParaRPr b="0" lang="en-US" sz="1600" spc="-1" strike="noStrike">
              <a:solidFill>
                <a:srgbClr val="ffffff"/>
              </a:solidFill>
              <a:latin typeface="Arial"/>
            </a:endParaRPr>
          </a:p>
        </p:txBody>
      </p:sp>
      <p:sp>
        <p:nvSpPr>
          <p:cNvPr id="172" name="Text 13"/>
          <p:cNvSpPr/>
          <p:nvPr/>
        </p:nvSpPr>
        <p:spPr>
          <a:xfrm>
            <a:off x="1691640" y="358452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95% / 24h &amp; 30d</a:t>
            </a:r>
            <a:endParaRPr b="0" lang="en-US" sz="1600" spc="-1" strike="noStrike">
              <a:solidFill>
                <a:srgbClr val="ffffff"/>
              </a:solidFill>
              <a:latin typeface="Arial"/>
            </a:endParaRPr>
          </a:p>
        </p:txBody>
      </p:sp>
      <p:sp>
        <p:nvSpPr>
          <p:cNvPr id="173" name="Shape 14"/>
          <p:cNvSpPr/>
          <p:nvPr/>
        </p:nvSpPr>
        <p:spPr>
          <a:xfrm>
            <a:off x="6263640" y="299016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74" name="Text 15"/>
          <p:cNvSpPr/>
          <p:nvPr/>
        </p:nvSpPr>
        <p:spPr>
          <a:xfrm>
            <a:off x="6464880" y="319140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f5c451"/>
                </a:solidFill>
                <a:latin typeface="Aptos"/>
              </a:rPr>
              <a:t>04</a:t>
            </a:r>
            <a:endParaRPr b="0" lang="en-US" sz="2300" spc="-1" strike="noStrike">
              <a:solidFill>
                <a:srgbClr val="ffffff"/>
              </a:solidFill>
              <a:latin typeface="Arial"/>
            </a:endParaRPr>
          </a:p>
        </p:txBody>
      </p:sp>
      <p:sp>
        <p:nvSpPr>
          <p:cNvPr id="175" name="Text 16"/>
          <p:cNvSpPr/>
          <p:nvPr/>
        </p:nvSpPr>
        <p:spPr>
          <a:xfrm>
            <a:off x="7223760" y="315468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OTP verification success</a:t>
            </a:r>
            <a:endParaRPr b="0" lang="en-US" sz="1600" spc="-1" strike="noStrike">
              <a:solidFill>
                <a:srgbClr val="ffffff"/>
              </a:solidFill>
              <a:latin typeface="Arial"/>
            </a:endParaRPr>
          </a:p>
        </p:txBody>
      </p:sp>
      <p:sp>
        <p:nvSpPr>
          <p:cNvPr id="176" name="Text 17"/>
          <p:cNvSpPr/>
          <p:nvPr/>
        </p:nvSpPr>
        <p:spPr>
          <a:xfrm>
            <a:off x="7223760" y="358452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Baseline</a:t>
            </a:r>
            <a:endParaRPr b="0" lang="en-US" sz="1600" spc="-1" strike="noStrike">
              <a:solidFill>
                <a:srgbClr val="ffffff"/>
              </a:solidFill>
              <a:latin typeface="Arial"/>
            </a:endParaRPr>
          </a:p>
        </p:txBody>
      </p:sp>
      <p:sp>
        <p:nvSpPr>
          <p:cNvPr id="177" name="Shape 18"/>
          <p:cNvSpPr/>
          <p:nvPr/>
        </p:nvSpPr>
        <p:spPr>
          <a:xfrm>
            <a:off x="731520" y="456300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78" name="Text 19"/>
          <p:cNvSpPr/>
          <p:nvPr/>
        </p:nvSpPr>
        <p:spPr>
          <a:xfrm>
            <a:off x="932760" y="476388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19c3b1"/>
                </a:solidFill>
                <a:latin typeface="Aptos"/>
              </a:rPr>
              <a:t>05</a:t>
            </a:r>
            <a:endParaRPr b="0" lang="en-US" sz="2300" spc="-1" strike="noStrike">
              <a:solidFill>
                <a:srgbClr val="ffffff"/>
              </a:solidFill>
              <a:latin typeface="Arial"/>
            </a:endParaRPr>
          </a:p>
        </p:txBody>
      </p:sp>
      <p:sp>
        <p:nvSpPr>
          <p:cNvPr id="179" name="Text 20"/>
          <p:cNvSpPr/>
          <p:nvPr/>
        </p:nvSpPr>
        <p:spPr>
          <a:xfrm>
            <a:off x="1691640" y="472752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Token issuance success</a:t>
            </a:r>
            <a:endParaRPr b="0" lang="en-US" sz="1600" spc="-1" strike="noStrike">
              <a:solidFill>
                <a:srgbClr val="ffffff"/>
              </a:solidFill>
              <a:latin typeface="Arial"/>
            </a:endParaRPr>
          </a:p>
        </p:txBody>
      </p:sp>
      <p:sp>
        <p:nvSpPr>
          <p:cNvPr id="180" name="Text 21"/>
          <p:cNvSpPr/>
          <p:nvPr/>
        </p:nvSpPr>
        <p:spPr>
          <a:xfrm>
            <a:off x="1691640" y="515736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99.9% / 30d</a:t>
            </a:r>
            <a:endParaRPr b="0" lang="en-US" sz="1600" spc="-1" strike="noStrike">
              <a:solidFill>
                <a:srgbClr val="ffffff"/>
              </a:solidFill>
              <a:latin typeface="Arial"/>
            </a:endParaRPr>
          </a:p>
        </p:txBody>
      </p:sp>
      <p:sp>
        <p:nvSpPr>
          <p:cNvPr id="181" name="Shape 22"/>
          <p:cNvSpPr/>
          <p:nvPr/>
        </p:nvSpPr>
        <p:spPr>
          <a:xfrm>
            <a:off x="6263640" y="4563000"/>
            <a:ext cx="5166000" cy="12614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82" name="Text 23"/>
          <p:cNvSpPr/>
          <p:nvPr/>
        </p:nvSpPr>
        <p:spPr>
          <a:xfrm>
            <a:off x="6464880" y="4763880"/>
            <a:ext cx="639720" cy="347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300" spc="-1" strike="noStrike">
                <a:solidFill>
                  <a:srgbClr val="ff6b6b"/>
                </a:solidFill>
                <a:latin typeface="Aptos"/>
              </a:rPr>
              <a:t>06</a:t>
            </a:r>
            <a:endParaRPr b="0" lang="en-US" sz="2300" spc="-1" strike="noStrike">
              <a:solidFill>
                <a:srgbClr val="ffffff"/>
              </a:solidFill>
              <a:latin typeface="Arial"/>
            </a:endParaRPr>
          </a:p>
        </p:txBody>
      </p:sp>
      <p:sp>
        <p:nvSpPr>
          <p:cNvPr id="183" name="Text 24"/>
          <p:cNvSpPr/>
          <p:nvPr/>
        </p:nvSpPr>
        <p:spPr>
          <a:xfrm>
            <a:off x="7223760" y="4727520"/>
            <a:ext cx="274284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Platform availability</a:t>
            </a:r>
            <a:endParaRPr b="0" lang="en-US" sz="1600" spc="-1" strike="noStrike">
              <a:solidFill>
                <a:srgbClr val="ffffff"/>
              </a:solidFill>
              <a:latin typeface="Arial"/>
            </a:endParaRPr>
          </a:p>
        </p:txBody>
      </p:sp>
      <p:sp>
        <p:nvSpPr>
          <p:cNvPr id="184" name="Text 25"/>
          <p:cNvSpPr/>
          <p:nvPr/>
        </p:nvSpPr>
        <p:spPr>
          <a:xfrm>
            <a:off x="7223760" y="5157360"/>
            <a:ext cx="34743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 </a:t>
            </a:r>
            <a:r>
              <a:rPr b="0" lang="en-US" sz="1600" spc="-1" strike="noStrike">
                <a:solidFill>
                  <a:srgbClr val="9ab0be"/>
                </a:solidFill>
                <a:latin typeface="Aptos"/>
              </a:rPr>
              <a:t>99.9% / 30d</a:t>
            </a:r>
            <a:endParaRPr b="0" lang="en-US" sz="1600" spc="-1" strike="noStrike">
              <a:solidFill>
                <a:srgbClr val="ffffff"/>
              </a:solidFill>
              <a:latin typeface="Arial"/>
            </a:endParaRPr>
          </a:p>
        </p:txBody>
      </p:sp>
      <p:sp>
        <p:nvSpPr>
          <p:cNvPr id="185" name="PlaceHolder 1"/>
          <p:cNvSpPr>
            <a:spLocks noGrp="1"/>
          </p:cNvSpPr>
          <p:nvPr>
            <p:ph type="sldNum" idx="8"/>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27EDA6CB-CB08-4662-B812-C513222050EE}" type="slidenum">
              <a:rPr b="0" lang="en-US" sz="800" spc="-1" strike="noStrike">
                <a:solidFill>
                  <a:srgbClr val="678296"/>
                </a:solidFill>
                <a:latin typeface="Aptos"/>
                <a:ea typeface="Aptos"/>
              </a:rPr>
              <a:t>5</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05 — Metric contract &amp; PromQL</a:t>
            </a:r>
            <a:endParaRPr b="0" lang="en-US" sz="2800" spc="-1" strike="noStrike">
              <a:solidFill>
                <a:srgbClr val="ffffff"/>
              </a:solidFill>
              <a:latin typeface="Arial"/>
            </a:endParaRPr>
          </a:p>
        </p:txBody>
      </p:sp>
      <p:sp>
        <p:nvSpPr>
          <p:cNvPr id="187"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Raw metrics được chuẩn hóa thành recording rules để dashboard và alert dùng cùng một định nghĩa.</a:t>
            </a:r>
            <a:endParaRPr b="0" lang="en-US" sz="1500" spc="-1" strike="noStrike">
              <a:solidFill>
                <a:srgbClr val="ffffff"/>
              </a:solidFill>
              <a:latin typeface="Arial"/>
            </a:endParaRPr>
          </a:p>
        </p:txBody>
      </p:sp>
      <p:sp>
        <p:nvSpPr>
          <p:cNvPr id="188" name="Shape 2"/>
          <p:cNvSpPr/>
          <p:nvPr/>
        </p:nvSpPr>
        <p:spPr>
          <a:xfrm>
            <a:off x="685800" y="1325880"/>
            <a:ext cx="3702960" cy="45259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89" name="Shape 3"/>
          <p:cNvSpPr/>
          <p:nvPr/>
        </p:nvSpPr>
        <p:spPr>
          <a:xfrm>
            <a:off x="685800" y="1325880"/>
            <a:ext cx="50040" cy="452592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0" name="Text 4"/>
          <p:cNvSpPr/>
          <p:nvPr/>
        </p:nvSpPr>
        <p:spPr>
          <a:xfrm>
            <a:off x="887040" y="1490400"/>
            <a:ext cx="33372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Raw metric groups</a:t>
            </a:r>
            <a:endParaRPr b="0" lang="en-US" sz="1600" spc="-1" strike="noStrike">
              <a:solidFill>
                <a:srgbClr val="ffffff"/>
              </a:solidFill>
              <a:latin typeface="Arial"/>
            </a:endParaRPr>
          </a:p>
        </p:txBody>
      </p:sp>
      <p:sp>
        <p:nvSpPr>
          <p:cNvPr id="191" name="Text 5"/>
          <p:cNvSpPr/>
          <p:nvPr/>
        </p:nvSpPr>
        <p:spPr>
          <a:xfrm>
            <a:off x="905400" y="1856160"/>
            <a:ext cx="3282480" cy="38674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500" spc="-1" strike="noStrike">
                <a:solidFill>
                  <a:srgbClr val="9ab0be"/>
                </a:solidFill>
                <a:latin typeface="Aptos"/>
              </a:rPr>
              <a:t>AUTH — request, success/fail, duration</a:t>
            </a:r>
            <a:endParaRPr b="0" lang="en-US" sz="15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500" spc="-1" strike="noStrike">
                <a:solidFill>
                  <a:srgbClr val="9ab0be"/>
                </a:solidFill>
                <a:latin typeface="Aptos"/>
              </a:rPr>
              <a:t>OTP — send, delivery, verify, stage/journey</a:t>
            </a:r>
            <a:endParaRPr b="0" lang="en-US" sz="15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500" spc="-1" strike="noStrike">
                <a:solidFill>
                  <a:srgbClr val="9ab0be"/>
                </a:solidFill>
                <a:latin typeface="Aptos"/>
              </a:rPr>
              <a:t>TOKEN— request, issue/fail, duration</a:t>
            </a:r>
            <a:endParaRPr b="0" lang="en-US" sz="15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500" spc="-1" strike="noStrike">
                <a:solidFill>
                  <a:srgbClr val="9ab0be"/>
                </a:solidFill>
                <a:latin typeface="Aptos"/>
              </a:rPr>
              <a:t>HTTP — RED signals cho platform</a:t>
            </a:r>
            <a:endParaRPr b="0" lang="en-US" sz="15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500" spc="-1" strike="noStrike">
                <a:solidFill>
                  <a:srgbClr val="9ab0be"/>
                </a:solidFill>
                <a:latin typeface="Aptos"/>
              </a:rPr>
              <a:t>authorization_decisions_* + dependency metrics</a:t>
            </a:r>
            <a:endParaRPr b="0" lang="en-US" sz="1500" spc="-1" strike="noStrike">
              <a:solidFill>
                <a:srgbClr val="ffffff"/>
              </a:solidFill>
              <a:latin typeface="Arial"/>
            </a:endParaRPr>
          </a:p>
        </p:txBody>
      </p:sp>
      <p:sp>
        <p:nvSpPr>
          <p:cNvPr id="192" name="Shape 6"/>
          <p:cNvSpPr/>
          <p:nvPr/>
        </p:nvSpPr>
        <p:spPr>
          <a:xfrm>
            <a:off x="4553640" y="1325880"/>
            <a:ext cx="3245760" cy="45259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3" name="Shape 7"/>
          <p:cNvSpPr/>
          <p:nvPr/>
        </p:nvSpPr>
        <p:spPr>
          <a:xfrm>
            <a:off x="4553640" y="1325880"/>
            <a:ext cx="50040" cy="452592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4" name="Text 8"/>
          <p:cNvSpPr/>
          <p:nvPr/>
        </p:nvSpPr>
        <p:spPr>
          <a:xfrm>
            <a:off x="4754880" y="1490400"/>
            <a:ext cx="28800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Contract rules</a:t>
            </a:r>
            <a:endParaRPr b="0" lang="en-US" sz="1600" spc="-1" strike="noStrike">
              <a:solidFill>
                <a:srgbClr val="ffffff"/>
              </a:solidFill>
              <a:latin typeface="Arial"/>
            </a:endParaRPr>
          </a:p>
        </p:txBody>
      </p:sp>
      <p:sp>
        <p:nvSpPr>
          <p:cNvPr id="195" name="Text 9"/>
          <p:cNvSpPr/>
          <p:nvPr/>
        </p:nvSpPr>
        <p:spPr>
          <a:xfrm>
            <a:off x="4773240" y="1856160"/>
            <a:ext cx="2825280" cy="38674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600" spc="-1" strike="noStrike">
                <a:solidFill>
                  <a:srgbClr val="9ab0be"/>
                </a:solidFill>
                <a:latin typeface="Aptos"/>
              </a:rPr>
              <a:t>Counter → rate/increase</a:t>
            </a:r>
            <a:endParaRPr b="0" lang="en-US" sz="16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600" spc="-1" strike="noStrike">
                <a:solidFill>
                  <a:srgbClr val="9ab0be"/>
                </a:solidFill>
                <a:latin typeface="Aptos"/>
              </a:rPr>
              <a:t>Histogram unit = seconds</a:t>
            </a:r>
            <a:endParaRPr b="0" lang="en-US" sz="16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600" spc="-1" strike="noStrike">
                <a:solidFill>
                  <a:srgbClr val="9ab0be"/>
                </a:solidFill>
                <a:latin typeface="Aptos"/>
              </a:rPr>
              <a:t>Numerator ⊂ denominator</a:t>
            </a:r>
            <a:endParaRPr b="0" lang="en-US" sz="16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600" spc="-1" strike="noStrike">
                <a:solidFill>
                  <a:srgbClr val="9ab0be"/>
                </a:solidFill>
                <a:latin typeface="Aptos"/>
              </a:rPr>
              <a:t>Bounded labels: env, cluster, service, operation, result...</a:t>
            </a:r>
            <a:endParaRPr b="0" lang="en-US" sz="16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600" spc="-1" strike="noStrike">
                <a:solidFill>
                  <a:srgbClr val="9ab0be"/>
                </a:solidFill>
                <a:latin typeface="Aptos"/>
              </a:rPr>
              <a:t>Cấm PII, token, OTP, user/request/trace ID làm label</a:t>
            </a:r>
            <a:endParaRPr b="0" lang="en-US" sz="1600" spc="-1" strike="noStrike">
              <a:solidFill>
                <a:srgbClr val="ffffff"/>
              </a:solidFill>
              <a:latin typeface="Arial"/>
            </a:endParaRPr>
          </a:p>
        </p:txBody>
      </p:sp>
      <p:sp>
        <p:nvSpPr>
          <p:cNvPr id="196" name="Shape 10"/>
          <p:cNvSpPr/>
          <p:nvPr/>
        </p:nvSpPr>
        <p:spPr>
          <a:xfrm>
            <a:off x="8001000" y="1325880"/>
            <a:ext cx="3520080" cy="4525920"/>
          </a:xfrm>
          <a:prstGeom prst="roundRect">
            <a:avLst>
              <a:gd name="adj" fmla="val 16667"/>
            </a:avLst>
          </a:prstGeom>
          <a:solidFill>
            <a:srgbClr val="061019"/>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197" name="Text 11"/>
          <p:cNvSpPr/>
          <p:nvPr/>
        </p:nvSpPr>
        <p:spPr>
          <a:xfrm>
            <a:off x="8275320" y="1572840"/>
            <a:ext cx="29257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PromQL examples</a:t>
            </a:r>
            <a:endParaRPr b="0" lang="en-US" sz="1600" spc="-1" strike="noStrike">
              <a:solidFill>
                <a:srgbClr val="ffffff"/>
              </a:solidFill>
              <a:latin typeface="Arial"/>
            </a:endParaRPr>
          </a:p>
        </p:txBody>
      </p:sp>
      <p:sp>
        <p:nvSpPr>
          <p:cNvPr id="198" name="Text 12"/>
          <p:cNvSpPr/>
          <p:nvPr/>
        </p:nvSpPr>
        <p:spPr>
          <a:xfrm>
            <a:off x="8275320" y="2075760"/>
            <a:ext cx="2907360" cy="24685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pc="-1" strike="noStrike">
                <a:solidFill>
                  <a:srgbClr val="a9e6de"/>
                </a:solidFill>
                <a:latin typeface="Courier New"/>
                <a:ea typeface="Courier New"/>
              </a:rPr>
              <a:t>vid:kpi_authentication_success:ratio30d * 100</a:t>
            </a:r>
            <a:endParaRPr b="0" lang="en-US" sz="1250" spc="-1" strike="noStrike">
              <a:solidFill>
                <a:srgbClr val="ffffff"/>
              </a:solidFill>
              <a:latin typeface="Arial"/>
            </a:endParaRPr>
          </a:p>
          <a:p>
            <a:pPr defTabSz="914400">
              <a:lnSpc>
                <a:spcPct val="100000"/>
              </a:lnSpc>
              <a:tabLst>
                <a:tab algn="l" pos="0"/>
              </a:tabLst>
            </a:pPr>
            <a:endParaRPr b="0" lang="en-US" sz="1150" spc="-1" strike="noStrike">
              <a:solidFill>
                <a:srgbClr val="ffffff"/>
              </a:solidFill>
              <a:latin typeface="Arial"/>
            </a:endParaRPr>
          </a:p>
          <a:p>
            <a:pPr defTabSz="914400">
              <a:lnSpc>
                <a:spcPct val="100000"/>
              </a:lnSpc>
              <a:tabLst>
                <a:tab algn="l" pos="0"/>
              </a:tabLst>
            </a:pPr>
            <a:r>
              <a:rPr b="0" lang="en-US" sz="1250" spc="-1" strike="noStrike">
                <a:solidFill>
                  <a:srgbClr val="a9e6de"/>
                </a:solidFill>
                <a:latin typeface="Courier New"/>
                <a:ea typeface="Courier New"/>
              </a:rPr>
              <a:t>vid:kpi_otp_delivery_success:ratio5m * 100</a:t>
            </a:r>
            <a:endParaRPr b="0" lang="en-US" sz="1250" spc="-1" strike="noStrike">
              <a:solidFill>
                <a:srgbClr val="ffffff"/>
              </a:solidFill>
              <a:latin typeface="Arial"/>
            </a:endParaRPr>
          </a:p>
          <a:p>
            <a:pPr defTabSz="914400">
              <a:lnSpc>
                <a:spcPct val="100000"/>
              </a:lnSpc>
              <a:tabLst>
                <a:tab algn="l" pos="0"/>
              </a:tabLst>
            </a:pPr>
            <a:endParaRPr b="0" lang="en-US" sz="1150" spc="-1" strike="noStrike">
              <a:solidFill>
                <a:srgbClr val="ffffff"/>
              </a:solidFill>
              <a:latin typeface="Arial"/>
            </a:endParaRPr>
          </a:p>
          <a:p>
            <a:pPr defTabSz="914400">
              <a:lnSpc>
                <a:spcPct val="100000"/>
              </a:lnSpc>
              <a:tabLst>
                <a:tab algn="l" pos="0"/>
              </a:tabLst>
            </a:pPr>
            <a:r>
              <a:rPr b="0" lang="en-US" sz="1250" spc="-1" strike="noStrike">
                <a:solidFill>
                  <a:srgbClr val="a9e6de"/>
                </a:solidFill>
                <a:latin typeface="Courier New"/>
                <a:ea typeface="Courier New"/>
              </a:rPr>
              <a:t>vid:slo_authentication_success:burnrate5m</a:t>
            </a:r>
            <a:endParaRPr b="0" lang="en-US" sz="1250" spc="-1" strike="noStrike">
              <a:solidFill>
                <a:srgbClr val="ffffff"/>
              </a:solidFill>
              <a:latin typeface="Arial"/>
            </a:endParaRPr>
          </a:p>
          <a:p>
            <a:pPr defTabSz="914400">
              <a:lnSpc>
                <a:spcPct val="100000"/>
              </a:lnSpc>
              <a:tabLst>
                <a:tab algn="l" pos="0"/>
              </a:tabLst>
            </a:pPr>
            <a:endParaRPr b="0" lang="en-US" sz="1150" spc="-1" strike="noStrike">
              <a:solidFill>
                <a:srgbClr val="ffffff"/>
              </a:solidFill>
              <a:latin typeface="Arial"/>
            </a:endParaRPr>
          </a:p>
          <a:p>
            <a:pPr defTabSz="914400">
              <a:lnSpc>
                <a:spcPct val="100000"/>
              </a:lnSpc>
              <a:tabLst>
                <a:tab algn="l" pos="0"/>
              </a:tabLst>
            </a:pPr>
            <a:r>
              <a:rPr b="0" lang="en-US" sz="1250" spc="-1" strike="noStrike">
                <a:solidFill>
                  <a:srgbClr val="a9e6de"/>
                </a:solidFill>
                <a:latin typeface="Courier New"/>
                <a:ea typeface="Courier New"/>
              </a:rPr>
              <a:t>histogram_quantile(0.95, …)</a:t>
            </a:r>
            <a:endParaRPr b="0" lang="en-US" sz="1250" spc="-1" strike="noStrike">
              <a:solidFill>
                <a:srgbClr val="ffffff"/>
              </a:solidFill>
              <a:latin typeface="Arial"/>
            </a:endParaRPr>
          </a:p>
        </p:txBody>
      </p:sp>
      <p:sp>
        <p:nvSpPr>
          <p:cNvPr id="199" name="Shape 13"/>
          <p:cNvSpPr/>
          <p:nvPr/>
        </p:nvSpPr>
        <p:spPr>
          <a:xfrm>
            <a:off x="8275320" y="5074920"/>
            <a:ext cx="2559960" cy="310680"/>
          </a:xfrm>
          <a:prstGeom prst="roundRect">
            <a:avLst>
              <a:gd name="adj" fmla="val 17647"/>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00" name="Text 14"/>
          <p:cNvSpPr/>
          <p:nvPr/>
        </p:nvSpPr>
        <p:spPr>
          <a:xfrm>
            <a:off x="8348400" y="5125320"/>
            <a:ext cx="24138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62 RECORDING RULES</a:t>
            </a:r>
            <a:endParaRPr b="0" lang="en-US" sz="1600" spc="-1" strike="noStrike">
              <a:solidFill>
                <a:srgbClr val="ffffff"/>
              </a:solidFill>
              <a:latin typeface="Arial"/>
            </a:endParaRPr>
          </a:p>
        </p:txBody>
      </p:sp>
      <p:sp>
        <p:nvSpPr>
          <p:cNvPr id="201" name="PlaceHolder 1"/>
          <p:cNvSpPr>
            <a:spLocks noGrp="1"/>
          </p:cNvSpPr>
          <p:nvPr>
            <p:ph type="sldNum" idx="9"/>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3227693D-48E0-45A6-BDED-0E83B577E80B}" type="slidenum">
              <a:rPr b="0" lang="en-US" sz="800" spc="-1" strike="noStrike">
                <a:solidFill>
                  <a:srgbClr val="678296"/>
                </a:solidFill>
                <a:latin typeface="Aptos"/>
                <a:ea typeface="Aptos"/>
              </a:rPr>
              <a:t>6</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06 — Grafana: 8 core dashboards / 83 panels</a:t>
            </a:r>
            <a:endParaRPr b="0" lang="en-US" sz="2800" spc="-1" strike="noStrike">
              <a:solidFill>
                <a:srgbClr val="ffffff"/>
              </a:solidFill>
              <a:latin typeface="Arial"/>
            </a:endParaRPr>
          </a:p>
        </p:txBody>
      </p:sp>
      <p:sp>
        <p:nvSpPr>
          <p:cNvPr id="203"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Dashboard được chia theo user journey và operational question, không chỉ theo từng service.</a:t>
            </a:r>
            <a:endParaRPr b="0" lang="en-US" sz="1500" spc="-1" strike="noStrike">
              <a:solidFill>
                <a:srgbClr val="ffffff"/>
              </a:solidFill>
              <a:latin typeface="Arial"/>
            </a:endParaRPr>
          </a:p>
        </p:txBody>
      </p:sp>
      <p:sp>
        <p:nvSpPr>
          <p:cNvPr id="204" name="Shape 2"/>
          <p:cNvSpPr/>
          <p:nvPr/>
        </p:nvSpPr>
        <p:spPr>
          <a:xfrm>
            <a:off x="685800" y="137160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05" name="Text 3"/>
          <p:cNvSpPr/>
          <p:nvPr/>
        </p:nvSpPr>
        <p:spPr>
          <a:xfrm>
            <a:off x="850320" y="153612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01</a:t>
            </a:r>
            <a:endParaRPr b="0" lang="en-US" sz="1600" spc="-1" strike="noStrike">
              <a:solidFill>
                <a:srgbClr val="ffffff"/>
              </a:solidFill>
              <a:latin typeface="Arial"/>
            </a:endParaRPr>
          </a:p>
        </p:txBody>
      </p:sp>
      <p:sp>
        <p:nvSpPr>
          <p:cNvPr id="206" name="Text 4"/>
          <p:cNvSpPr/>
          <p:nvPr/>
        </p:nvSpPr>
        <p:spPr>
          <a:xfrm>
            <a:off x="1344240" y="151776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Overview</a:t>
            </a:r>
            <a:endParaRPr b="0" lang="en-US" sz="1600" spc="-1" strike="noStrike">
              <a:solidFill>
                <a:srgbClr val="ffffff"/>
              </a:solidFill>
              <a:latin typeface="Arial"/>
            </a:endParaRPr>
          </a:p>
        </p:txBody>
      </p:sp>
      <p:sp>
        <p:nvSpPr>
          <p:cNvPr id="207" name="Text 5"/>
          <p:cNvSpPr/>
          <p:nvPr/>
        </p:nvSpPr>
        <p:spPr>
          <a:xfrm>
            <a:off x="1344240" y="1911240"/>
            <a:ext cx="2514240" cy="383760"/>
          </a:xfrm>
          <a:prstGeom prst="rect">
            <a:avLst/>
          </a:prstGeom>
          <a:noFill/>
          <a:ln w="0">
            <a:noFill/>
          </a:ln>
        </p:spPr>
        <p:style>
          <a:lnRef idx="0"/>
          <a:fillRef idx="0"/>
          <a:effectRef idx="0"/>
          <a:fontRef idx="minor"/>
        </p:style>
        <p:txBody>
          <a:bodyPr lIns="0" rIns="0" tIns="0" bIns="0" anchor="ctr">
            <a:normAutofit fontScale="87222" lnSpcReduction="10000"/>
          </a:bodyPr>
          <a:p>
            <a:pPr defTabSz="914400">
              <a:lnSpc>
                <a:spcPct val="100000"/>
              </a:lnSpc>
              <a:tabLst>
                <a:tab algn="l" pos="0"/>
              </a:tabLst>
            </a:pPr>
            <a:r>
              <a:rPr b="0" lang="en-US" sz="1600" spc="-1" strike="noStrike">
                <a:solidFill>
                  <a:srgbClr val="9ab0be"/>
                </a:solidFill>
                <a:latin typeface="Aptos"/>
              </a:rPr>
              <a:t>AuthN • OTP • token • platform</a:t>
            </a:r>
            <a:endParaRPr b="0" lang="en-US" sz="1600" spc="-1" strike="noStrike">
              <a:solidFill>
                <a:srgbClr val="ffffff"/>
              </a:solidFill>
              <a:latin typeface="Arial"/>
            </a:endParaRPr>
          </a:p>
        </p:txBody>
      </p:sp>
      <p:sp>
        <p:nvSpPr>
          <p:cNvPr id="208" name="Shape 6"/>
          <p:cNvSpPr/>
          <p:nvPr/>
        </p:nvSpPr>
        <p:spPr>
          <a:xfrm>
            <a:off x="4526280" y="137160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09" name="Text 7"/>
          <p:cNvSpPr/>
          <p:nvPr/>
        </p:nvSpPr>
        <p:spPr>
          <a:xfrm>
            <a:off x="4690800" y="153612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02</a:t>
            </a:r>
            <a:endParaRPr b="0" lang="en-US" sz="1600" spc="-1" strike="noStrike">
              <a:solidFill>
                <a:srgbClr val="ffffff"/>
              </a:solidFill>
              <a:latin typeface="Arial"/>
            </a:endParaRPr>
          </a:p>
        </p:txBody>
      </p:sp>
      <p:sp>
        <p:nvSpPr>
          <p:cNvPr id="210" name="Text 8"/>
          <p:cNvSpPr/>
          <p:nvPr/>
        </p:nvSpPr>
        <p:spPr>
          <a:xfrm>
            <a:off x="5184720" y="151776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Authentication</a:t>
            </a:r>
            <a:endParaRPr b="0" lang="en-US" sz="1600" spc="-1" strike="noStrike">
              <a:solidFill>
                <a:srgbClr val="ffffff"/>
              </a:solidFill>
              <a:latin typeface="Arial"/>
            </a:endParaRPr>
          </a:p>
        </p:txBody>
      </p:sp>
      <p:sp>
        <p:nvSpPr>
          <p:cNvPr id="211" name="Text 9"/>
          <p:cNvSpPr/>
          <p:nvPr/>
        </p:nvSpPr>
        <p:spPr>
          <a:xfrm>
            <a:off x="5184720" y="191124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login / verify / latency</a:t>
            </a:r>
            <a:endParaRPr b="0" lang="en-US" sz="1600" spc="-1" strike="noStrike">
              <a:solidFill>
                <a:srgbClr val="ffffff"/>
              </a:solidFill>
              <a:latin typeface="Arial"/>
            </a:endParaRPr>
          </a:p>
        </p:txBody>
      </p:sp>
      <p:sp>
        <p:nvSpPr>
          <p:cNvPr id="212" name="Shape 10"/>
          <p:cNvSpPr/>
          <p:nvPr/>
        </p:nvSpPr>
        <p:spPr>
          <a:xfrm>
            <a:off x="8366760" y="137160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13" name="Text 11"/>
          <p:cNvSpPr/>
          <p:nvPr/>
        </p:nvSpPr>
        <p:spPr>
          <a:xfrm>
            <a:off x="8531280" y="153612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03</a:t>
            </a:r>
            <a:endParaRPr b="0" lang="en-US" sz="1600" spc="-1" strike="noStrike">
              <a:solidFill>
                <a:srgbClr val="ffffff"/>
              </a:solidFill>
              <a:latin typeface="Arial"/>
            </a:endParaRPr>
          </a:p>
        </p:txBody>
      </p:sp>
      <p:sp>
        <p:nvSpPr>
          <p:cNvPr id="214" name="Text 12"/>
          <p:cNvSpPr/>
          <p:nvPr/>
        </p:nvSpPr>
        <p:spPr>
          <a:xfrm>
            <a:off x="9025200" y="151776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MFA &amp; OTP</a:t>
            </a:r>
            <a:endParaRPr b="0" lang="en-US" sz="1600" spc="-1" strike="noStrike">
              <a:solidFill>
                <a:srgbClr val="ffffff"/>
              </a:solidFill>
              <a:latin typeface="Arial"/>
            </a:endParaRPr>
          </a:p>
        </p:txBody>
      </p:sp>
      <p:sp>
        <p:nvSpPr>
          <p:cNvPr id="215" name="Text 13"/>
          <p:cNvSpPr/>
          <p:nvPr/>
        </p:nvSpPr>
        <p:spPr>
          <a:xfrm>
            <a:off x="9025200" y="191124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send • delivery • verify</a:t>
            </a:r>
            <a:endParaRPr b="0" lang="en-US" sz="1600" spc="-1" strike="noStrike">
              <a:solidFill>
                <a:srgbClr val="ffffff"/>
              </a:solidFill>
              <a:latin typeface="Arial"/>
            </a:endParaRPr>
          </a:p>
        </p:txBody>
      </p:sp>
      <p:sp>
        <p:nvSpPr>
          <p:cNvPr id="216" name="Shape 14"/>
          <p:cNvSpPr/>
          <p:nvPr/>
        </p:nvSpPr>
        <p:spPr>
          <a:xfrm>
            <a:off x="685800" y="288036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17" name="Text 15"/>
          <p:cNvSpPr/>
          <p:nvPr/>
        </p:nvSpPr>
        <p:spPr>
          <a:xfrm>
            <a:off x="850320" y="304488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04</a:t>
            </a:r>
            <a:endParaRPr b="0" lang="en-US" sz="1600" spc="-1" strike="noStrike">
              <a:solidFill>
                <a:srgbClr val="ffffff"/>
              </a:solidFill>
              <a:latin typeface="Arial"/>
            </a:endParaRPr>
          </a:p>
        </p:txBody>
      </p:sp>
      <p:sp>
        <p:nvSpPr>
          <p:cNvPr id="218" name="Text 16"/>
          <p:cNvSpPr/>
          <p:nvPr/>
        </p:nvSpPr>
        <p:spPr>
          <a:xfrm>
            <a:off x="1344240" y="302652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OTP Journey</a:t>
            </a:r>
            <a:endParaRPr b="0" lang="en-US" sz="1600" spc="-1" strike="noStrike">
              <a:solidFill>
                <a:srgbClr val="ffffff"/>
              </a:solidFill>
              <a:latin typeface="Arial"/>
            </a:endParaRPr>
          </a:p>
        </p:txBody>
      </p:sp>
      <p:sp>
        <p:nvSpPr>
          <p:cNvPr id="219" name="Text 17"/>
          <p:cNvSpPr/>
          <p:nvPr/>
        </p:nvSpPr>
        <p:spPr>
          <a:xfrm>
            <a:off x="1344240" y="3420000"/>
            <a:ext cx="2514240" cy="383760"/>
          </a:xfrm>
          <a:prstGeom prst="rect">
            <a:avLst/>
          </a:prstGeom>
          <a:noFill/>
          <a:ln w="0">
            <a:noFill/>
          </a:ln>
        </p:spPr>
        <p:style>
          <a:lnRef idx="0"/>
          <a:fillRef idx="0"/>
          <a:effectRef idx="0"/>
          <a:fontRef idx="minor"/>
        </p:style>
        <p:txBody>
          <a:bodyPr lIns="0" rIns="0" tIns="0" bIns="0" anchor="ctr">
            <a:normAutofit fontScale="93333" lnSpcReduction="20000"/>
          </a:bodyPr>
          <a:p>
            <a:pPr defTabSz="914400">
              <a:lnSpc>
                <a:spcPct val="100000"/>
              </a:lnSpc>
              <a:tabLst>
                <a:tab algn="l" pos="0"/>
              </a:tabLst>
            </a:pPr>
            <a:r>
              <a:rPr b="0" lang="en-US" sz="1600" spc="-1" strike="noStrike">
                <a:solidFill>
                  <a:srgbClr val="9ab0be"/>
                </a:solidFill>
                <a:latin typeface="Aptos"/>
              </a:rPr>
              <a:t>stage bottleneck + exemplar</a:t>
            </a:r>
            <a:endParaRPr b="0" lang="en-US" sz="1600" spc="-1" strike="noStrike">
              <a:solidFill>
                <a:srgbClr val="ffffff"/>
              </a:solidFill>
              <a:latin typeface="Arial"/>
            </a:endParaRPr>
          </a:p>
        </p:txBody>
      </p:sp>
      <p:sp>
        <p:nvSpPr>
          <p:cNvPr id="220" name="Shape 18"/>
          <p:cNvSpPr/>
          <p:nvPr/>
        </p:nvSpPr>
        <p:spPr>
          <a:xfrm>
            <a:off x="4526280" y="288036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21" name="Text 19"/>
          <p:cNvSpPr/>
          <p:nvPr/>
        </p:nvSpPr>
        <p:spPr>
          <a:xfrm>
            <a:off x="4690800" y="304488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05</a:t>
            </a:r>
            <a:endParaRPr b="0" lang="en-US" sz="1600" spc="-1" strike="noStrike">
              <a:solidFill>
                <a:srgbClr val="ffffff"/>
              </a:solidFill>
              <a:latin typeface="Arial"/>
            </a:endParaRPr>
          </a:p>
        </p:txBody>
      </p:sp>
      <p:sp>
        <p:nvSpPr>
          <p:cNvPr id="222" name="Text 20"/>
          <p:cNvSpPr/>
          <p:nvPr/>
        </p:nvSpPr>
        <p:spPr>
          <a:xfrm>
            <a:off x="5184720" y="302652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Token Lifecycle</a:t>
            </a:r>
            <a:endParaRPr b="0" lang="en-US" sz="1600" spc="-1" strike="noStrike">
              <a:solidFill>
                <a:srgbClr val="ffffff"/>
              </a:solidFill>
              <a:latin typeface="Arial"/>
            </a:endParaRPr>
          </a:p>
        </p:txBody>
      </p:sp>
      <p:sp>
        <p:nvSpPr>
          <p:cNvPr id="223" name="Text 21"/>
          <p:cNvSpPr/>
          <p:nvPr/>
        </p:nvSpPr>
        <p:spPr>
          <a:xfrm>
            <a:off x="5184720" y="342000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issuer / grant / success</a:t>
            </a:r>
            <a:endParaRPr b="0" lang="en-US" sz="1600" spc="-1" strike="noStrike">
              <a:solidFill>
                <a:srgbClr val="ffffff"/>
              </a:solidFill>
              <a:latin typeface="Arial"/>
            </a:endParaRPr>
          </a:p>
        </p:txBody>
      </p:sp>
      <p:sp>
        <p:nvSpPr>
          <p:cNvPr id="224" name="Shape 22"/>
          <p:cNvSpPr/>
          <p:nvPr/>
        </p:nvSpPr>
        <p:spPr>
          <a:xfrm>
            <a:off x="8366760" y="288036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25" name="Text 23"/>
          <p:cNvSpPr/>
          <p:nvPr/>
        </p:nvSpPr>
        <p:spPr>
          <a:xfrm>
            <a:off x="8531280" y="304488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06</a:t>
            </a:r>
            <a:endParaRPr b="0" lang="en-US" sz="1600" spc="-1" strike="noStrike">
              <a:solidFill>
                <a:srgbClr val="ffffff"/>
              </a:solidFill>
              <a:latin typeface="Arial"/>
            </a:endParaRPr>
          </a:p>
        </p:txBody>
      </p:sp>
      <p:sp>
        <p:nvSpPr>
          <p:cNvPr id="226" name="Text 24"/>
          <p:cNvSpPr/>
          <p:nvPr/>
        </p:nvSpPr>
        <p:spPr>
          <a:xfrm>
            <a:off x="9025200" y="302652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Authorization</a:t>
            </a:r>
            <a:endParaRPr b="0" lang="en-US" sz="1600" spc="-1" strike="noStrike">
              <a:solidFill>
                <a:srgbClr val="ffffff"/>
              </a:solidFill>
              <a:latin typeface="Arial"/>
            </a:endParaRPr>
          </a:p>
        </p:txBody>
      </p:sp>
      <p:sp>
        <p:nvSpPr>
          <p:cNvPr id="227" name="Text 25"/>
          <p:cNvSpPr/>
          <p:nvPr/>
        </p:nvSpPr>
        <p:spPr>
          <a:xfrm>
            <a:off x="9025200" y="342000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decision / denial / errors</a:t>
            </a:r>
            <a:endParaRPr b="0" lang="en-US" sz="1600" spc="-1" strike="noStrike">
              <a:solidFill>
                <a:srgbClr val="ffffff"/>
              </a:solidFill>
              <a:latin typeface="Arial"/>
            </a:endParaRPr>
          </a:p>
        </p:txBody>
      </p:sp>
      <p:sp>
        <p:nvSpPr>
          <p:cNvPr id="228" name="Shape 26"/>
          <p:cNvSpPr/>
          <p:nvPr/>
        </p:nvSpPr>
        <p:spPr>
          <a:xfrm>
            <a:off x="685800" y="438912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29" name="Text 27"/>
          <p:cNvSpPr/>
          <p:nvPr/>
        </p:nvSpPr>
        <p:spPr>
          <a:xfrm>
            <a:off x="850320" y="455364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07</a:t>
            </a:r>
            <a:endParaRPr b="0" lang="en-US" sz="1600" spc="-1" strike="noStrike">
              <a:solidFill>
                <a:srgbClr val="ffffff"/>
              </a:solidFill>
              <a:latin typeface="Arial"/>
            </a:endParaRPr>
          </a:p>
        </p:txBody>
      </p:sp>
      <p:sp>
        <p:nvSpPr>
          <p:cNvPr id="230" name="Text 28"/>
          <p:cNvSpPr/>
          <p:nvPr/>
        </p:nvSpPr>
        <p:spPr>
          <a:xfrm>
            <a:off x="1344240" y="4535280"/>
            <a:ext cx="2541600" cy="27396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1" lang="en-US" sz="1600" spc="-1" strike="noStrike">
                <a:solidFill>
                  <a:srgbClr val="f3f8fb"/>
                </a:solidFill>
                <a:latin typeface="Aptos"/>
              </a:rPr>
              <a:t>Platform &amp; Dependencies</a:t>
            </a:r>
            <a:endParaRPr b="0" lang="en-US" sz="1600" spc="-1" strike="noStrike">
              <a:solidFill>
                <a:srgbClr val="ffffff"/>
              </a:solidFill>
              <a:latin typeface="Arial"/>
            </a:endParaRPr>
          </a:p>
        </p:txBody>
      </p:sp>
      <p:sp>
        <p:nvSpPr>
          <p:cNvPr id="231" name="Text 29"/>
          <p:cNvSpPr/>
          <p:nvPr/>
        </p:nvSpPr>
        <p:spPr>
          <a:xfrm>
            <a:off x="1344240" y="492876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HTTP + infra/dependency</a:t>
            </a:r>
            <a:endParaRPr b="0" lang="en-US" sz="1600" spc="-1" strike="noStrike">
              <a:solidFill>
                <a:srgbClr val="ffffff"/>
              </a:solidFill>
              <a:latin typeface="Arial"/>
            </a:endParaRPr>
          </a:p>
        </p:txBody>
      </p:sp>
      <p:sp>
        <p:nvSpPr>
          <p:cNvPr id="232" name="Shape 30"/>
          <p:cNvSpPr/>
          <p:nvPr/>
        </p:nvSpPr>
        <p:spPr>
          <a:xfrm>
            <a:off x="4526280" y="438912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33" name="Text 31"/>
          <p:cNvSpPr/>
          <p:nvPr/>
        </p:nvSpPr>
        <p:spPr>
          <a:xfrm>
            <a:off x="4690800" y="455364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08</a:t>
            </a:r>
            <a:endParaRPr b="0" lang="en-US" sz="1600" spc="-1" strike="noStrike">
              <a:solidFill>
                <a:srgbClr val="ffffff"/>
              </a:solidFill>
              <a:latin typeface="Arial"/>
            </a:endParaRPr>
          </a:p>
        </p:txBody>
      </p:sp>
      <p:sp>
        <p:nvSpPr>
          <p:cNvPr id="234" name="Text 32"/>
          <p:cNvSpPr/>
          <p:nvPr/>
        </p:nvSpPr>
        <p:spPr>
          <a:xfrm>
            <a:off x="5184720" y="4535280"/>
            <a:ext cx="254160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pc="-1" strike="noStrike">
                <a:solidFill>
                  <a:srgbClr val="f3f8fb"/>
                </a:solidFill>
                <a:latin typeface="Aptos"/>
              </a:rPr>
              <a:t>SLO &amp; Incidents</a:t>
            </a:r>
            <a:endParaRPr b="0" lang="en-US" sz="1600" spc="-1" strike="noStrike">
              <a:solidFill>
                <a:srgbClr val="ffffff"/>
              </a:solidFill>
              <a:latin typeface="Arial"/>
            </a:endParaRPr>
          </a:p>
        </p:txBody>
      </p:sp>
      <p:sp>
        <p:nvSpPr>
          <p:cNvPr id="235" name="Text 33"/>
          <p:cNvSpPr/>
          <p:nvPr/>
        </p:nvSpPr>
        <p:spPr>
          <a:xfrm>
            <a:off x="5184720" y="492876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error budget + burn rate</a:t>
            </a:r>
            <a:endParaRPr b="0" lang="en-US" sz="1600" spc="-1" strike="noStrike">
              <a:solidFill>
                <a:srgbClr val="ffffff"/>
              </a:solidFill>
              <a:latin typeface="Arial"/>
            </a:endParaRPr>
          </a:p>
        </p:txBody>
      </p:sp>
      <p:sp>
        <p:nvSpPr>
          <p:cNvPr id="236" name="Shape 34"/>
          <p:cNvSpPr/>
          <p:nvPr/>
        </p:nvSpPr>
        <p:spPr>
          <a:xfrm>
            <a:off x="8366760" y="4389120"/>
            <a:ext cx="3428640" cy="116100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37" name="Text 35"/>
          <p:cNvSpPr/>
          <p:nvPr/>
        </p:nvSpPr>
        <p:spPr>
          <a:xfrm>
            <a:off x="8531280" y="4553640"/>
            <a:ext cx="41112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42b4e6"/>
                </a:solidFill>
                <a:latin typeface="Aptos"/>
              </a:rPr>
              <a:t>09</a:t>
            </a:r>
            <a:endParaRPr b="0" lang="en-US" sz="1600" spc="-1" strike="noStrike">
              <a:solidFill>
                <a:srgbClr val="ffffff"/>
              </a:solidFill>
              <a:latin typeface="Arial"/>
            </a:endParaRPr>
          </a:p>
        </p:txBody>
      </p:sp>
      <p:sp>
        <p:nvSpPr>
          <p:cNvPr id="238" name="Text 36"/>
          <p:cNvSpPr/>
          <p:nvPr/>
        </p:nvSpPr>
        <p:spPr>
          <a:xfrm>
            <a:off x="9025200" y="4535280"/>
            <a:ext cx="2541600" cy="273960"/>
          </a:xfrm>
          <a:prstGeom prst="rect">
            <a:avLst/>
          </a:prstGeom>
          <a:noFill/>
          <a:ln w="0">
            <a:noFill/>
          </a:ln>
        </p:spPr>
        <p:style>
          <a:lnRef idx="0"/>
          <a:fillRef idx="0"/>
          <a:effectRef idx="0"/>
          <a:fontRef idx="minor"/>
        </p:style>
        <p:txBody>
          <a:bodyPr lIns="0" rIns="0" tIns="0" bIns="0" anchor="ctr">
            <a:normAutofit fontScale="81111"/>
          </a:bodyPr>
          <a:p>
            <a:pPr defTabSz="914400">
              <a:lnSpc>
                <a:spcPct val="100000"/>
              </a:lnSpc>
              <a:tabLst>
                <a:tab algn="l" pos="0"/>
              </a:tabLst>
            </a:pPr>
            <a:r>
              <a:rPr b="1" lang="en-US" sz="1600" spc="-1" strike="noStrike">
                <a:solidFill>
                  <a:srgbClr val="f3f8fb"/>
                </a:solidFill>
                <a:latin typeface="Aptos"/>
              </a:rPr>
              <a:t>Platform deep-dive Requests</a:t>
            </a:r>
            <a:endParaRPr b="0" lang="en-US" sz="1600" spc="-1" strike="noStrike">
              <a:solidFill>
                <a:srgbClr val="ffffff"/>
              </a:solidFill>
              <a:latin typeface="Arial"/>
            </a:endParaRPr>
          </a:p>
        </p:txBody>
      </p:sp>
      <p:sp>
        <p:nvSpPr>
          <p:cNvPr id="239" name="Text 37"/>
          <p:cNvSpPr/>
          <p:nvPr/>
        </p:nvSpPr>
        <p:spPr>
          <a:xfrm>
            <a:off x="9025200" y="4928760"/>
            <a:ext cx="251424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RED theo destination/hop</a:t>
            </a:r>
            <a:endParaRPr b="0" lang="en-US" sz="1600" spc="-1" strike="noStrike">
              <a:solidFill>
                <a:srgbClr val="ffffff"/>
              </a:solidFill>
              <a:latin typeface="Arial"/>
            </a:endParaRPr>
          </a:p>
        </p:txBody>
      </p:sp>
      <p:sp>
        <p:nvSpPr>
          <p:cNvPr id="240" name="Text 38"/>
          <p:cNvSpPr/>
          <p:nvPr/>
        </p:nvSpPr>
        <p:spPr>
          <a:xfrm>
            <a:off x="777240" y="5970960"/>
            <a:ext cx="10698120" cy="292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400" spc="-1" strike="noStrike">
                <a:solidFill>
                  <a:srgbClr val="678296"/>
                </a:solidFill>
                <a:latin typeface="Aptos"/>
              </a:rPr>
              <a:t>Dashboard variables mặc định hỗ trợ environment/cluster và các bounded dimensions; stable datasource UID giúp promote giữa environment.</a:t>
            </a:r>
            <a:endParaRPr b="0" lang="en-US" sz="1400" spc="-1" strike="noStrike">
              <a:solidFill>
                <a:srgbClr val="ffffff"/>
              </a:solidFill>
              <a:latin typeface="Arial"/>
            </a:endParaRPr>
          </a:p>
        </p:txBody>
      </p:sp>
      <p:sp>
        <p:nvSpPr>
          <p:cNvPr id="241" name="PlaceHolder 1"/>
          <p:cNvSpPr>
            <a:spLocks noGrp="1"/>
          </p:cNvSpPr>
          <p:nvPr>
            <p:ph type="sldNum" idx="10"/>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47FE8410-BE1A-47A8-A471-76A48FCD6203}" type="slidenum">
              <a:rPr b="0" lang="en-US" sz="800" spc="-1" strike="noStrike">
                <a:solidFill>
                  <a:srgbClr val="678296"/>
                </a:solidFill>
                <a:latin typeface="Aptos"/>
                <a:ea typeface="Aptos"/>
              </a:rPr>
              <a:t>7</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07 — OTP Journey Monitoring</a:t>
            </a:r>
            <a:endParaRPr b="0" lang="en-US" sz="2800" spc="-1" strike="noStrike">
              <a:solidFill>
                <a:srgbClr val="ffffff"/>
              </a:solidFill>
              <a:latin typeface="Arial"/>
            </a:endParaRPr>
          </a:p>
        </p:txBody>
      </p:sp>
      <p:sp>
        <p:nvSpPr>
          <p:cNvPr id="243"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Điểm khác biệt của project: không chỉ đo “OTP chậm”, mà chỉ ra stage nào đang gây chậm.</a:t>
            </a:r>
            <a:endParaRPr b="0" lang="en-US" sz="1500" spc="-1" strike="noStrike">
              <a:solidFill>
                <a:srgbClr val="ffffff"/>
              </a:solidFill>
              <a:latin typeface="Arial"/>
            </a:endParaRPr>
          </a:p>
        </p:txBody>
      </p:sp>
      <p:sp>
        <p:nvSpPr>
          <p:cNvPr id="244" name="Shape 2"/>
          <p:cNvSpPr/>
          <p:nvPr/>
        </p:nvSpPr>
        <p:spPr>
          <a:xfrm>
            <a:off x="502920" y="1874520"/>
            <a:ext cx="1343880" cy="8956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45" name="Text 3"/>
          <p:cNvSpPr/>
          <p:nvPr/>
        </p:nvSpPr>
        <p:spPr>
          <a:xfrm>
            <a:off x="59436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Edge</a:t>
            </a:r>
            <a:endParaRPr b="0" lang="en-US" sz="1600" spc="-1" strike="noStrike">
              <a:solidFill>
                <a:srgbClr val="ffffff"/>
              </a:solidFill>
              <a:latin typeface="Arial"/>
            </a:endParaRPr>
          </a:p>
        </p:txBody>
      </p:sp>
      <p:sp>
        <p:nvSpPr>
          <p:cNvPr id="246" name="Text 4"/>
          <p:cNvSpPr/>
          <p:nvPr/>
        </p:nvSpPr>
        <p:spPr>
          <a:xfrm>
            <a:off x="59436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Kong</a:t>
            </a:r>
            <a:endParaRPr b="0" lang="en-US" sz="1600" spc="-1" strike="noStrike">
              <a:solidFill>
                <a:srgbClr val="ffffff"/>
              </a:solidFill>
              <a:latin typeface="Arial"/>
            </a:endParaRPr>
          </a:p>
        </p:txBody>
      </p:sp>
      <p:sp>
        <p:nvSpPr>
          <p:cNvPr id="247" name="Shape 5"/>
          <p:cNvSpPr/>
          <p:nvPr/>
        </p:nvSpPr>
        <p:spPr>
          <a:xfrm>
            <a:off x="1846800" y="2322360"/>
            <a:ext cx="25632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48" name="Shape 6"/>
          <p:cNvSpPr/>
          <p:nvPr/>
        </p:nvSpPr>
        <p:spPr>
          <a:xfrm>
            <a:off x="2130480" y="1874520"/>
            <a:ext cx="1343880" cy="895680"/>
          </a:xfrm>
          <a:prstGeom prst="roundRect">
            <a:avLst>
              <a:gd name="adj" fmla="val 16667"/>
            </a:avLst>
          </a:prstGeom>
          <a:solidFill>
            <a:srgbClr val="102636"/>
          </a:solidFill>
          <a:ln w="15875">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49" name="Text 7"/>
          <p:cNvSpPr/>
          <p:nvPr/>
        </p:nvSpPr>
        <p:spPr>
          <a:xfrm>
            <a:off x="222192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Kong</a:t>
            </a:r>
            <a:endParaRPr b="0" lang="en-US" sz="1600" spc="-1" strike="noStrike">
              <a:solidFill>
                <a:srgbClr val="ffffff"/>
              </a:solidFill>
              <a:latin typeface="Arial"/>
            </a:endParaRPr>
          </a:p>
        </p:txBody>
      </p:sp>
      <p:sp>
        <p:nvSpPr>
          <p:cNvPr id="250" name="Text 8"/>
          <p:cNvSpPr/>
          <p:nvPr/>
        </p:nvSpPr>
        <p:spPr>
          <a:xfrm>
            <a:off x="222192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IdP</a:t>
            </a:r>
            <a:endParaRPr b="0" lang="en-US" sz="1600" spc="-1" strike="noStrike">
              <a:solidFill>
                <a:srgbClr val="ffffff"/>
              </a:solidFill>
              <a:latin typeface="Arial"/>
            </a:endParaRPr>
          </a:p>
        </p:txBody>
      </p:sp>
      <p:sp>
        <p:nvSpPr>
          <p:cNvPr id="251" name="Shape 9"/>
          <p:cNvSpPr/>
          <p:nvPr/>
        </p:nvSpPr>
        <p:spPr>
          <a:xfrm>
            <a:off x="3474720" y="2322360"/>
            <a:ext cx="25596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52" name="Shape 10"/>
          <p:cNvSpPr/>
          <p:nvPr/>
        </p:nvSpPr>
        <p:spPr>
          <a:xfrm>
            <a:off x="3758040" y="1874520"/>
            <a:ext cx="1343880" cy="8956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53" name="Text 11"/>
          <p:cNvSpPr/>
          <p:nvPr/>
        </p:nvSpPr>
        <p:spPr>
          <a:xfrm>
            <a:off x="384948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Redis</a:t>
            </a:r>
            <a:endParaRPr b="0" lang="en-US" sz="1600" spc="-1" strike="noStrike">
              <a:solidFill>
                <a:srgbClr val="ffffff"/>
              </a:solidFill>
              <a:latin typeface="Arial"/>
            </a:endParaRPr>
          </a:p>
        </p:txBody>
      </p:sp>
      <p:sp>
        <p:nvSpPr>
          <p:cNvPr id="254" name="Text 12"/>
          <p:cNvSpPr/>
          <p:nvPr/>
        </p:nvSpPr>
        <p:spPr>
          <a:xfrm>
            <a:off x="384948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challenge</a:t>
            </a:r>
            <a:endParaRPr b="0" lang="en-US" sz="1600" spc="-1" strike="noStrike">
              <a:solidFill>
                <a:srgbClr val="ffffff"/>
              </a:solidFill>
              <a:latin typeface="Arial"/>
            </a:endParaRPr>
          </a:p>
        </p:txBody>
      </p:sp>
      <p:sp>
        <p:nvSpPr>
          <p:cNvPr id="255" name="Shape 13"/>
          <p:cNvSpPr/>
          <p:nvPr/>
        </p:nvSpPr>
        <p:spPr>
          <a:xfrm>
            <a:off x="5102280" y="2322360"/>
            <a:ext cx="25596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56" name="Shape 14"/>
          <p:cNvSpPr/>
          <p:nvPr/>
        </p:nvSpPr>
        <p:spPr>
          <a:xfrm>
            <a:off x="5385960" y="1874520"/>
            <a:ext cx="1343880" cy="895680"/>
          </a:xfrm>
          <a:prstGeom prst="roundRect">
            <a:avLst>
              <a:gd name="adj" fmla="val 16667"/>
            </a:avLst>
          </a:prstGeom>
          <a:solidFill>
            <a:srgbClr val="102636"/>
          </a:solidFill>
          <a:ln w="15875">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57" name="Text 15"/>
          <p:cNvSpPr/>
          <p:nvPr/>
        </p:nvSpPr>
        <p:spPr>
          <a:xfrm>
            <a:off x="547740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Route</a:t>
            </a:r>
            <a:endParaRPr b="0" lang="en-US" sz="1600" spc="-1" strike="noStrike">
              <a:solidFill>
                <a:srgbClr val="ffffff"/>
              </a:solidFill>
              <a:latin typeface="Arial"/>
            </a:endParaRPr>
          </a:p>
        </p:txBody>
      </p:sp>
      <p:sp>
        <p:nvSpPr>
          <p:cNvPr id="258" name="Text 16"/>
          <p:cNvSpPr/>
          <p:nvPr/>
        </p:nvSpPr>
        <p:spPr>
          <a:xfrm>
            <a:off x="547740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selection</a:t>
            </a:r>
            <a:endParaRPr b="0" lang="en-US" sz="1600" spc="-1" strike="noStrike">
              <a:solidFill>
                <a:srgbClr val="ffffff"/>
              </a:solidFill>
              <a:latin typeface="Arial"/>
            </a:endParaRPr>
          </a:p>
        </p:txBody>
      </p:sp>
      <p:sp>
        <p:nvSpPr>
          <p:cNvPr id="259" name="Shape 17"/>
          <p:cNvSpPr/>
          <p:nvPr/>
        </p:nvSpPr>
        <p:spPr>
          <a:xfrm>
            <a:off x="6729840" y="2322360"/>
            <a:ext cx="25596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60" name="Shape 18"/>
          <p:cNvSpPr/>
          <p:nvPr/>
        </p:nvSpPr>
        <p:spPr>
          <a:xfrm>
            <a:off x="7013520" y="1874520"/>
            <a:ext cx="1343880" cy="895680"/>
          </a:xfrm>
          <a:prstGeom prst="roundRect">
            <a:avLst>
              <a:gd name="adj" fmla="val 16667"/>
            </a:avLst>
          </a:prstGeom>
          <a:solidFill>
            <a:srgbClr val="102636"/>
          </a:solidFill>
          <a:ln w="15875">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61" name="Text 19"/>
          <p:cNvSpPr/>
          <p:nvPr/>
        </p:nvSpPr>
        <p:spPr>
          <a:xfrm>
            <a:off x="710496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Queue</a:t>
            </a:r>
            <a:endParaRPr b="0" lang="en-US" sz="1600" spc="-1" strike="noStrike">
              <a:solidFill>
                <a:srgbClr val="ffffff"/>
              </a:solidFill>
              <a:latin typeface="Arial"/>
            </a:endParaRPr>
          </a:p>
        </p:txBody>
      </p:sp>
      <p:sp>
        <p:nvSpPr>
          <p:cNvPr id="262" name="Text 20"/>
          <p:cNvSpPr/>
          <p:nvPr/>
        </p:nvSpPr>
        <p:spPr>
          <a:xfrm>
            <a:off x="710496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wait</a:t>
            </a:r>
            <a:endParaRPr b="0" lang="en-US" sz="1600" spc="-1" strike="noStrike">
              <a:solidFill>
                <a:srgbClr val="ffffff"/>
              </a:solidFill>
              <a:latin typeface="Arial"/>
            </a:endParaRPr>
          </a:p>
        </p:txBody>
      </p:sp>
      <p:sp>
        <p:nvSpPr>
          <p:cNvPr id="263" name="Shape 21"/>
          <p:cNvSpPr/>
          <p:nvPr/>
        </p:nvSpPr>
        <p:spPr>
          <a:xfrm>
            <a:off x="8357400" y="2322360"/>
            <a:ext cx="25596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64" name="Shape 22"/>
          <p:cNvSpPr/>
          <p:nvPr/>
        </p:nvSpPr>
        <p:spPr>
          <a:xfrm>
            <a:off x="8641080" y="1874520"/>
            <a:ext cx="1343880" cy="895680"/>
          </a:xfrm>
          <a:prstGeom prst="roundRect">
            <a:avLst>
              <a:gd name="adj" fmla="val 16667"/>
            </a:avLst>
          </a:prstGeom>
          <a:solidFill>
            <a:srgbClr val="102636"/>
          </a:solidFill>
          <a:ln w="15875">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65" name="Text 23"/>
          <p:cNvSpPr/>
          <p:nvPr/>
        </p:nvSpPr>
        <p:spPr>
          <a:xfrm>
            <a:off x="873252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GSM</a:t>
            </a:r>
            <a:endParaRPr b="0" lang="en-US" sz="1600" spc="-1" strike="noStrike">
              <a:solidFill>
                <a:srgbClr val="ffffff"/>
              </a:solidFill>
              <a:latin typeface="Arial"/>
            </a:endParaRPr>
          </a:p>
        </p:txBody>
      </p:sp>
      <p:sp>
        <p:nvSpPr>
          <p:cNvPr id="266" name="Text 24"/>
          <p:cNvSpPr/>
          <p:nvPr/>
        </p:nvSpPr>
        <p:spPr>
          <a:xfrm>
            <a:off x="873252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submit</a:t>
            </a:r>
            <a:endParaRPr b="0" lang="en-US" sz="1600" spc="-1" strike="noStrike">
              <a:solidFill>
                <a:srgbClr val="ffffff"/>
              </a:solidFill>
              <a:latin typeface="Arial"/>
            </a:endParaRPr>
          </a:p>
        </p:txBody>
      </p:sp>
      <p:sp>
        <p:nvSpPr>
          <p:cNvPr id="267" name="Shape 25"/>
          <p:cNvSpPr/>
          <p:nvPr/>
        </p:nvSpPr>
        <p:spPr>
          <a:xfrm>
            <a:off x="9984960" y="2322360"/>
            <a:ext cx="256320" cy="360"/>
          </a:xfrm>
          <a:prstGeom prst="line">
            <a:avLst/>
          </a:prstGeom>
          <a:ln w="21590">
            <a:solidFill>
              <a:srgbClr val="678296"/>
            </a:solidFill>
            <a:round/>
            <a:tailEnd len="med" type="triangle" w="med"/>
          </a:ln>
        </p:spPr>
        <p:style>
          <a:lnRef idx="0"/>
          <a:fillRef idx="0"/>
          <a:effectRef idx="0"/>
          <a:fontRef idx="minor"/>
        </p:style>
        <p:txBody>
          <a:bodyPr lIns="88920" rIns="88920" tIns="-44640" bIns="-44640" anchor="t">
            <a:noAutofit/>
          </a:bodyPr>
          <a:p>
            <a:endParaRPr b="0" lang="en-US" sz="1800" spc="-1" strike="noStrike">
              <a:solidFill>
                <a:schemeClr val="dk1"/>
              </a:solidFill>
              <a:latin typeface="Aptos"/>
            </a:endParaRPr>
          </a:p>
        </p:txBody>
      </p:sp>
      <p:sp>
        <p:nvSpPr>
          <p:cNvPr id="268" name="Shape 26"/>
          <p:cNvSpPr/>
          <p:nvPr/>
        </p:nvSpPr>
        <p:spPr>
          <a:xfrm>
            <a:off x="10268640" y="1874520"/>
            <a:ext cx="1343880" cy="895680"/>
          </a:xfrm>
          <a:prstGeom prst="roundRect">
            <a:avLst>
              <a:gd name="adj" fmla="val 16667"/>
            </a:avLst>
          </a:prstGeom>
          <a:solidFill>
            <a:srgbClr val="102636"/>
          </a:solidFill>
          <a:ln w="15875">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69" name="Text 27"/>
          <p:cNvSpPr/>
          <p:nvPr/>
        </p:nvSpPr>
        <p:spPr>
          <a:xfrm>
            <a:off x="10360080" y="1993320"/>
            <a:ext cx="11610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pc="-1" strike="noStrike">
                <a:solidFill>
                  <a:srgbClr val="f3f8fb"/>
                </a:solidFill>
                <a:latin typeface="Aptos"/>
              </a:rPr>
              <a:t>Carrier</a:t>
            </a:r>
            <a:endParaRPr b="0" lang="en-US" sz="1600" spc="-1" strike="noStrike">
              <a:solidFill>
                <a:srgbClr val="ffffff"/>
              </a:solidFill>
              <a:latin typeface="Arial"/>
            </a:endParaRPr>
          </a:p>
        </p:txBody>
      </p:sp>
      <p:sp>
        <p:nvSpPr>
          <p:cNvPr id="270" name="Text 28"/>
          <p:cNvSpPr/>
          <p:nvPr/>
        </p:nvSpPr>
        <p:spPr>
          <a:xfrm>
            <a:off x="10360080" y="2240280"/>
            <a:ext cx="1161000" cy="4752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600" spc="-1" strike="noStrike">
                <a:solidFill>
                  <a:srgbClr val="9ab0be"/>
                </a:solidFill>
                <a:latin typeface="Aptos"/>
              </a:rPr>
              <a:t>delivery</a:t>
            </a:r>
            <a:endParaRPr b="0" lang="en-US" sz="1600" spc="-1" strike="noStrike">
              <a:solidFill>
                <a:srgbClr val="ffffff"/>
              </a:solidFill>
              <a:latin typeface="Arial"/>
            </a:endParaRPr>
          </a:p>
        </p:txBody>
      </p:sp>
      <p:sp>
        <p:nvSpPr>
          <p:cNvPr id="271" name="Shape 29"/>
          <p:cNvSpPr/>
          <p:nvPr/>
        </p:nvSpPr>
        <p:spPr>
          <a:xfrm>
            <a:off x="731520" y="3401640"/>
            <a:ext cx="338292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72" name="Shape 30"/>
          <p:cNvSpPr/>
          <p:nvPr/>
        </p:nvSpPr>
        <p:spPr>
          <a:xfrm>
            <a:off x="731520" y="3401640"/>
            <a:ext cx="50040" cy="201132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73" name="Text 31"/>
          <p:cNvSpPr/>
          <p:nvPr/>
        </p:nvSpPr>
        <p:spPr>
          <a:xfrm>
            <a:off x="932760" y="3566160"/>
            <a:ext cx="3017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Metrics view</a:t>
            </a:r>
            <a:endParaRPr b="0" lang="en-US" sz="1600" spc="-1" strike="noStrike">
              <a:solidFill>
                <a:srgbClr val="ffffff"/>
              </a:solidFill>
              <a:latin typeface="Arial"/>
            </a:endParaRPr>
          </a:p>
        </p:txBody>
      </p:sp>
      <p:sp>
        <p:nvSpPr>
          <p:cNvPr id="274" name="Text 32"/>
          <p:cNvSpPr/>
          <p:nvPr/>
        </p:nvSpPr>
        <p:spPr>
          <a:xfrm>
            <a:off x="951120" y="3931920"/>
            <a:ext cx="296244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Per-stage p95 + error ratio</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Queue depth / delivery receipt</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Country • provider • channel filters</a:t>
            </a:r>
            <a:endParaRPr b="0" lang="en-US" sz="1400" spc="-1" strike="noStrike">
              <a:solidFill>
                <a:srgbClr val="ffffff"/>
              </a:solidFill>
              <a:latin typeface="Arial"/>
            </a:endParaRPr>
          </a:p>
        </p:txBody>
      </p:sp>
      <p:sp>
        <p:nvSpPr>
          <p:cNvPr id="275" name="Shape 33"/>
          <p:cNvSpPr/>
          <p:nvPr/>
        </p:nvSpPr>
        <p:spPr>
          <a:xfrm>
            <a:off x="4407480" y="3401640"/>
            <a:ext cx="338292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76" name="Shape 34"/>
          <p:cNvSpPr/>
          <p:nvPr/>
        </p:nvSpPr>
        <p:spPr>
          <a:xfrm>
            <a:off x="4407480" y="3401640"/>
            <a:ext cx="50040" cy="201132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77" name="Text 35"/>
          <p:cNvSpPr/>
          <p:nvPr/>
        </p:nvSpPr>
        <p:spPr>
          <a:xfrm>
            <a:off x="4608720" y="3566160"/>
            <a:ext cx="3017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Tracing view</a:t>
            </a:r>
            <a:endParaRPr b="0" lang="en-US" sz="1600" spc="-1" strike="noStrike">
              <a:solidFill>
                <a:srgbClr val="ffffff"/>
              </a:solidFill>
              <a:latin typeface="Arial"/>
            </a:endParaRPr>
          </a:p>
        </p:txBody>
      </p:sp>
      <p:sp>
        <p:nvSpPr>
          <p:cNvPr id="278" name="Text 36"/>
          <p:cNvSpPr/>
          <p:nvPr/>
        </p:nvSpPr>
        <p:spPr>
          <a:xfrm>
            <a:off x="4626720" y="3931920"/>
            <a:ext cx="296244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~10% synthetic journey sampled</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Histogram exemplar carries trace_id</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Grafana opens Tempo waterfall</a:t>
            </a:r>
            <a:endParaRPr b="0" lang="en-US" sz="1400" spc="-1" strike="noStrike">
              <a:solidFill>
                <a:srgbClr val="ffffff"/>
              </a:solidFill>
              <a:latin typeface="Arial"/>
            </a:endParaRPr>
          </a:p>
        </p:txBody>
      </p:sp>
      <p:sp>
        <p:nvSpPr>
          <p:cNvPr id="279" name="Shape 37"/>
          <p:cNvSpPr/>
          <p:nvPr/>
        </p:nvSpPr>
        <p:spPr>
          <a:xfrm>
            <a:off x="8083440" y="3401640"/>
            <a:ext cx="338292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80" name="Shape 38"/>
          <p:cNvSpPr/>
          <p:nvPr/>
        </p:nvSpPr>
        <p:spPr>
          <a:xfrm>
            <a:off x="8083440" y="3401640"/>
            <a:ext cx="50040" cy="2011320"/>
          </a:xfrm>
          <a:prstGeom prst="rect">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81" name="Text 39"/>
          <p:cNvSpPr/>
          <p:nvPr/>
        </p:nvSpPr>
        <p:spPr>
          <a:xfrm>
            <a:off x="8284320" y="3566160"/>
            <a:ext cx="3017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Triage rule</a:t>
            </a:r>
            <a:endParaRPr b="0" lang="en-US" sz="1600" spc="-1" strike="noStrike">
              <a:solidFill>
                <a:srgbClr val="ffffff"/>
              </a:solidFill>
              <a:latin typeface="Arial"/>
            </a:endParaRPr>
          </a:p>
        </p:txBody>
      </p:sp>
      <p:sp>
        <p:nvSpPr>
          <p:cNvPr id="282" name="Text 40"/>
          <p:cNvSpPr/>
          <p:nvPr/>
        </p:nvSpPr>
        <p:spPr>
          <a:xfrm>
            <a:off x="8302680" y="3931920"/>
            <a:ext cx="296244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Tìm stage đầu tiên lệch baseline</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Cần ≥2 tín hiệu đồng thuận</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Không kết luận từ một trace đơn lẻ</a:t>
            </a:r>
            <a:endParaRPr b="0" lang="en-US" sz="1400" spc="-1" strike="noStrike">
              <a:solidFill>
                <a:srgbClr val="ffffff"/>
              </a:solidFill>
              <a:latin typeface="Arial"/>
            </a:endParaRPr>
          </a:p>
        </p:txBody>
      </p:sp>
      <p:sp>
        <p:nvSpPr>
          <p:cNvPr id="283" name="PlaceHolder 1"/>
          <p:cNvSpPr>
            <a:spLocks noGrp="1"/>
          </p:cNvSpPr>
          <p:nvPr>
            <p:ph type="sldNum" idx="11"/>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EF9D3CCB-8A80-4F33-A2FD-3388179983F7}" type="slidenum">
              <a:rPr b="0" lang="en-US" sz="800" spc="-1" strike="noStrike">
                <a:solidFill>
                  <a:srgbClr val="678296"/>
                </a:solidFill>
                <a:latin typeface="Aptos"/>
                <a:ea typeface="Aptos"/>
              </a:rPr>
              <a:t>8</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08 — Ví dụ: carrier delivery là bottleneck</a:t>
            </a:r>
            <a:endParaRPr b="0" lang="en-US" sz="2800" spc="-1" strike="noStrike">
              <a:solidFill>
                <a:srgbClr val="ffffff"/>
              </a:solidFill>
              <a:latin typeface="Arial"/>
            </a:endParaRPr>
          </a:p>
        </p:txBody>
      </p:sp>
      <p:sp>
        <p:nvSpPr>
          <p:cNvPr id="285"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Cùng một “OTP mất 12.4s”, nhưng waterfall giúp tránh đổ lỗi nhầm cho V-ID synchronous path.</a:t>
            </a:r>
            <a:endParaRPr b="0" lang="en-US" sz="1500" spc="-1" strike="noStrike">
              <a:solidFill>
                <a:srgbClr val="ffffff"/>
              </a:solidFill>
              <a:latin typeface="Arial"/>
            </a:endParaRPr>
          </a:p>
        </p:txBody>
      </p:sp>
      <p:sp>
        <p:nvSpPr>
          <p:cNvPr id="286" name="Text 2"/>
          <p:cNvSpPr/>
          <p:nvPr/>
        </p:nvSpPr>
        <p:spPr>
          <a:xfrm>
            <a:off x="777240" y="141732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edge→kong</a:t>
            </a:r>
            <a:endParaRPr b="0" lang="en-US" sz="1600" spc="-1" strike="noStrike">
              <a:solidFill>
                <a:srgbClr val="ffffff"/>
              </a:solidFill>
              <a:latin typeface="Arial"/>
            </a:endParaRPr>
          </a:p>
        </p:txBody>
      </p:sp>
      <p:sp>
        <p:nvSpPr>
          <p:cNvPr id="287" name="Shape 3"/>
          <p:cNvSpPr/>
          <p:nvPr/>
        </p:nvSpPr>
        <p:spPr>
          <a:xfrm>
            <a:off x="2651760" y="141732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88" name="Text 4"/>
          <p:cNvSpPr/>
          <p:nvPr/>
        </p:nvSpPr>
        <p:spPr>
          <a:xfrm>
            <a:off x="9966960" y="141732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0.02 s</a:t>
            </a:r>
            <a:endParaRPr b="0" lang="en-US" sz="1600" spc="-1" strike="noStrike">
              <a:solidFill>
                <a:srgbClr val="ffffff"/>
              </a:solidFill>
              <a:latin typeface="Arial"/>
            </a:endParaRPr>
          </a:p>
        </p:txBody>
      </p:sp>
      <p:sp>
        <p:nvSpPr>
          <p:cNvPr id="289" name="Text 5"/>
          <p:cNvSpPr/>
          <p:nvPr/>
        </p:nvSpPr>
        <p:spPr>
          <a:xfrm>
            <a:off x="777240" y="198432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kong→idp</a:t>
            </a:r>
            <a:endParaRPr b="0" lang="en-US" sz="1600" spc="-1" strike="noStrike">
              <a:solidFill>
                <a:srgbClr val="ffffff"/>
              </a:solidFill>
              <a:latin typeface="Arial"/>
            </a:endParaRPr>
          </a:p>
        </p:txBody>
      </p:sp>
      <p:sp>
        <p:nvSpPr>
          <p:cNvPr id="290" name="Shape 6"/>
          <p:cNvSpPr/>
          <p:nvPr/>
        </p:nvSpPr>
        <p:spPr>
          <a:xfrm>
            <a:off x="2651760" y="198432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91" name="Text 7"/>
          <p:cNvSpPr/>
          <p:nvPr/>
        </p:nvSpPr>
        <p:spPr>
          <a:xfrm>
            <a:off x="9966960" y="198432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0.05 s</a:t>
            </a:r>
            <a:endParaRPr b="0" lang="en-US" sz="1600" spc="-1" strike="noStrike">
              <a:solidFill>
                <a:srgbClr val="ffffff"/>
              </a:solidFill>
              <a:latin typeface="Arial"/>
            </a:endParaRPr>
          </a:p>
        </p:txBody>
      </p:sp>
      <p:sp>
        <p:nvSpPr>
          <p:cNvPr id="292" name="Text 8"/>
          <p:cNvSpPr/>
          <p:nvPr/>
        </p:nvSpPr>
        <p:spPr>
          <a:xfrm>
            <a:off x="777240" y="255132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redis</a:t>
            </a:r>
            <a:endParaRPr b="0" lang="en-US" sz="1600" spc="-1" strike="noStrike">
              <a:solidFill>
                <a:srgbClr val="ffffff"/>
              </a:solidFill>
              <a:latin typeface="Arial"/>
            </a:endParaRPr>
          </a:p>
        </p:txBody>
      </p:sp>
      <p:sp>
        <p:nvSpPr>
          <p:cNvPr id="293" name="Shape 9"/>
          <p:cNvSpPr/>
          <p:nvPr/>
        </p:nvSpPr>
        <p:spPr>
          <a:xfrm>
            <a:off x="2651760" y="255132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94" name="Text 10"/>
          <p:cNvSpPr/>
          <p:nvPr/>
        </p:nvSpPr>
        <p:spPr>
          <a:xfrm>
            <a:off x="9966960" y="255132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0.01 s</a:t>
            </a:r>
            <a:endParaRPr b="0" lang="en-US" sz="1600" spc="-1" strike="noStrike">
              <a:solidFill>
                <a:srgbClr val="ffffff"/>
              </a:solidFill>
              <a:latin typeface="Arial"/>
            </a:endParaRPr>
          </a:p>
        </p:txBody>
      </p:sp>
      <p:sp>
        <p:nvSpPr>
          <p:cNvPr id="295" name="Text 11"/>
          <p:cNvSpPr/>
          <p:nvPr/>
        </p:nvSpPr>
        <p:spPr>
          <a:xfrm>
            <a:off x="777240" y="311796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routing</a:t>
            </a:r>
            <a:endParaRPr b="0" lang="en-US" sz="1600" spc="-1" strike="noStrike">
              <a:solidFill>
                <a:srgbClr val="ffffff"/>
              </a:solidFill>
              <a:latin typeface="Arial"/>
            </a:endParaRPr>
          </a:p>
        </p:txBody>
      </p:sp>
      <p:sp>
        <p:nvSpPr>
          <p:cNvPr id="296" name="Shape 12"/>
          <p:cNvSpPr/>
          <p:nvPr/>
        </p:nvSpPr>
        <p:spPr>
          <a:xfrm>
            <a:off x="2651760" y="311796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297" name="Text 13"/>
          <p:cNvSpPr/>
          <p:nvPr/>
        </p:nvSpPr>
        <p:spPr>
          <a:xfrm>
            <a:off x="9966960" y="311796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0.004 s</a:t>
            </a:r>
            <a:endParaRPr b="0" lang="en-US" sz="1600" spc="-1" strike="noStrike">
              <a:solidFill>
                <a:srgbClr val="ffffff"/>
              </a:solidFill>
              <a:latin typeface="Arial"/>
            </a:endParaRPr>
          </a:p>
        </p:txBody>
      </p:sp>
      <p:sp>
        <p:nvSpPr>
          <p:cNvPr id="298" name="Text 14"/>
          <p:cNvSpPr/>
          <p:nvPr/>
        </p:nvSpPr>
        <p:spPr>
          <a:xfrm>
            <a:off x="777240" y="368496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queue</a:t>
            </a:r>
            <a:endParaRPr b="0" lang="en-US" sz="1600" spc="-1" strike="noStrike">
              <a:solidFill>
                <a:srgbClr val="ffffff"/>
              </a:solidFill>
              <a:latin typeface="Arial"/>
            </a:endParaRPr>
          </a:p>
        </p:txBody>
      </p:sp>
      <p:sp>
        <p:nvSpPr>
          <p:cNvPr id="299" name="Shape 15"/>
          <p:cNvSpPr/>
          <p:nvPr/>
        </p:nvSpPr>
        <p:spPr>
          <a:xfrm>
            <a:off x="2651760" y="3684960"/>
            <a:ext cx="6372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00" name="Text 16"/>
          <p:cNvSpPr/>
          <p:nvPr/>
        </p:nvSpPr>
        <p:spPr>
          <a:xfrm>
            <a:off x="9966960" y="368496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0.07 s</a:t>
            </a:r>
            <a:endParaRPr b="0" lang="en-US" sz="1600" spc="-1" strike="noStrike">
              <a:solidFill>
                <a:srgbClr val="ffffff"/>
              </a:solidFill>
              <a:latin typeface="Arial"/>
            </a:endParaRPr>
          </a:p>
        </p:txBody>
      </p:sp>
      <p:sp>
        <p:nvSpPr>
          <p:cNvPr id="301" name="Text 17"/>
          <p:cNvSpPr/>
          <p:nvPr/>
        </p:nvSpPr>
        <p:spPr>
          <a:xfrm>
            <a:off x="777240" y="425196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gsm_submit</a:t>
            </a:r>
            <a:endParaRPr b="0" lang="en-US" sz="1600" spc="-1" strike="noStrike">
              <a:solidFill>
                <a:srgbClr val="ffffff"/>
              </a:solidFill>
              <a:latin typeface="Arial"/>
            </a:endParaRPr>
          </a:p>
        </p:txBody>
      </p:sp>
      <p:sp>
        <p:nvSpPr>
          <p:cNvPr id="302" name="Shape 18"/>
          <p:cNvSpPr/>
          <p:nvPr/>
        </p:nvSpPr>
        <p:spPr>
          <a:xfrm>
            <a:off x="2651760" y="4251960"/>
            <a:ext cx="201600" cy="255600"/>
          </a:xfrm>
          <a:prstGeom prst="roundRect">
            <a:avLst>
              <a:gd name="adj" fmla="val 16667"/>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03" name="Text 19"/>
          <p:cNvSpPr/>
          <p:nvPr/>
        </p:nvSpPr>
        <p:spPr>
          <a:xfrm>
            <a:off x="9966960" y="425196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0.34 s</a:t>
            </a:r>
            <a:endParaRPr b="0" lang="en-US" sz="1600" spc="-1" strike="noStrike">
              <a:solidFill>
                <a:srgbClr val="ffffff"/>
              </a:solidFill>
              <a:latin typeface="Arial"/>
            </a:endParaRPr>
          </a:p>
        </p:txBody>
      </p:sp>
      <p:sp>
        <p:nvSpPr>
          <p:cNvPr id="304" name="Text 20"/>
          <p:cNvSpPr/>
          <p:nvPr/>
        </p:nvSpPr>
        <p:spPr>
          <a:xfrm>
            <a:off x="777240" y="4818960"/>
            <a:ext cx="1645560" cy="200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1600" spc="-1" strike="noStrike">
                <a:solidFill>
                  <a:srgbClr val="9ab0be"/>
                </a:solidFill>
                <a:latin typeface="Aptos"/>
              </a:rPr>
              <a:t>carrier_delivery</a:t>
            </a:r>
            <a:endParaRPr b="0" lang="en-US" sz="1600" spc="-1" strike="noStrike">
              <a:solidFill>
                <a:srgbClr val="ffffff"/>
              </a:solidFill>
              <a:latin typeface="Arial"/>
            </a:endParaRPr>
          </a:p>
        </p:txBody>
      </p:sp>
      <p:sp>
        <p:nvSpPr>
          <p:cNvPr id="305" name="Shape 21"/>
          <p:cNvSpPr/>
          <p:nvPr/>
        </p:nvSpPr>
        <p:spPr>
          <a:xfrm>
            <a:off x="2651760" y="4818960"/>
            <a:ext cx="7078320" cy="255600"/>
          </a:xfrm>
          <a:prstGeom prst="roundRect">
            <a:avLst>
              <a:gd name="adj" fmla="val 16667"/>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06" name="Text 22"/>
          <p:cNvSpPr/>
          <p:nvPr/>
        </p:nvSpPr>
        <p:spPr>
          <a:xfrm>
            <a:off x="9966960" y="4818960"/>
            <a:ext cx="10969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f6b6b"/>
                </a:solidFill>
                <a:latin typeface="Aptos"/>
              </a:rPr>
              <a:t>11.91 s</a:t>
            </a:r>
            <a:endParaRPr b="0" lang="en-US" sz="1600" spc="-1" strike="noStrike">
              <a:solidFill>
                <a:srgbClr val="ffffff"/>
              </a:solidFill>
              <a:latin typeface="Arial"/>
            </a:endParaRPr>
          </a:p>
        </p:txBody>
      </p:sp>
      <p:sp>
        <p:nvSpPr>
          <p:cNvPr id="307" name="Shape 23"/>
          <p:cNvSpPr/>
          <p:nvPr/>
        </p:nvSpPr>
        <p:spPr>
          <a:xfrm>
            <a:off x="822960" y="5486400"/>
            <a:ext cx="2559960" cy="749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08" name="Text 24"/>
          <p:cNvSpPr/>
          <p:nvPr/>
        </p:nvSpPr>
        <p:spPr>
          <a:xfrm>
            <a:off x="987480" y="5650920"/>
            <a:ext cx="223092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f3f8fb"/>
                </a:solidFill>
                <a:latin typeface="Aptos"/>
              </a:rPr>
              <a:t>12.40 s</a:t>
            </a:r>
            <a:endParaRPr b="0" lang="en-US" sz="2700" spc="-1" strike="noStrike">
              <a:solidFill>
                <a:srgbClr val="ffffff"/>
              </a:solidFill>
              <a:latin typeface="Arial"/>
            </a:endParaRPr>
          </a:p>
        </p:txBody>
      </p:sp>
      <p:sp>
        <p:nvSpPr>
          <p:cNvPr id="309" name="Text 25"/>
          <p:cNvSpPr/>
          <p:nvPr/>
        </p:nvSpPr>
        <p:spPr>
          <a:xfrm>
            <a:off x="987480" y="6145200"/>
            <a:ext cx="2230920" cy="18000"/>
          </a:xfrm>
          <a:prstGeom prst="rect">
            <a:avLst/>
          </a:prstGeom>
          <a:noFill/>
          <a:ln w="0">
            <a:noFill/>
          </a:ln>
        </p:spPr>
        <p:style>
          <a:lnRef idx="0"/>
          <a:fillRef idx="0"/>
          <a:effectRef idx="0"/>
          <a:fontRef idx="minor"/>
        </p:style>
        <p:txBody>
          <a:bodyPr lIns="0" rIns="0" tIns="0" bIns="0" anchor="ctr">
            <a:normAutofit fontScale="12222"/>
          </a:bodyPr>
          <a:p>
            <a:pPr defTabSz="914400">
              <a:lnSpc>
                <a:spcPct val="100000"/>
              </a:lnSpc>
              <a:tabLst>
                <a:tab algn="l" pos="0"/>
              </a:tabLst>
            </a:pPr>
            <a:r>
              <a:rPr b="0" lang="en-US" sz="1600" spc="-1" strike="noStrike">
                <a:solidFill>
                  <a:srgbClr val="9ab0be"/>
                </a:solidFill>
                <a:latin typeface="Aptos"/>
              </a:rPr>
              <a:t>End-to-end OTP journey</a:t>
            </a:r>
            <a:endParaRPr b="0" lang="en-US" sz="1600" spc="-1" strike="noStrike">
              <a:solidFill>
                <a:srgbClr val="ffffff"/>
              </a:solidFill>
              <a:latin typeface="Arial"/>
            </a:endParaRPr>
          </a:p>
        </p:txBody>
      </p:sp>
      <p:sp>
        <p:nvSpPr>
          <p:cNvPr id="310" name="Shape 26"/>
          <p:cNvSpPr/>
          <p:nvPr/>
        </p:nvSpPr>
        <p:spPr>
          <a:xfrm>
            <a:off x="3657600" y="5486400"/>
            <a:ext cx="2559960" cy="749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11" name="Text 27"/>
          <p:cNvSpPr/>
          <p:nvPr/>
        </p:nvSpPr>
        <p:spPr>
          <a:xfrm>
            <a:off x="3822120" y="5650920"/>
            <a:ext cx="223092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2b4e6"/>
                </a:solidFill>
                <a:latin typeface="Aptos"/>
              </a:rPr>
              <a:t>0.34 s</a:t>
            </a:r>
            <a:endParaRPr b="0" lang="en-US" sz="2700" spc="-1" strike="noStrike">
              <a:solidFill>
                <a:srgbClr val="ffffff"/>
              </a:solidFill>
              <a:latin typeface="Arial"/>
            </a:endParaRPr>
          </a:p>
        </p:txBody>
      </p:sp>
      <p:sp>
        <p:nvSpPr>
          <p:cNvPr id="312" name="Text 28"/>
          <p:cNvSpPr/>
          <p:nvPr/>
        </p:nvSpPr>
        <p:spPr>
          <a:xfrm>
            <a:off x="3822120" y="6145200"/>
            <a:ext cx="2230920" cy="18000"/>
          </a:xfrm>
          <a:prstGeom prst="rect">
            <a:avLst/>
          </a:prstGeom>
          <a:noFill/>
          <a:ln w="0">
            <a:noFill/>
          </a:ln>
        </p:spPr>
        <p:style>
          <a:lnRef idx="0"/>
          <a:fillRef idx="0"/>
          <a:effectRef idx="0"/>
          <a:fontRef idx="minor"/>
        </p:style>
        <p:txBody>
          <a:bodyPr lIns="0" rIns="0" tIns="0" bIns="0" anchor="ctr">
            <a:normAutofit fontScale="12222"/>
          </a:bodyPr>
          <a:p>
            <a:pPr defTabSz="914400">
              <a:lnSpc>
                <a:spcPct val="100000"/>
              </a:lnSpc>
              <a:tabLst>
                <a:tab algn="l" pos="0"/>
              </a:tabLst>
            </a:pPr>
            <a:r>
              <a:rPr b="0" lang="en-US" sz="1600" spc="-1" strike="noStrike">
                <a:solidFill>
                  <a:srgbClr val="9ab0be"/>
                </a:solidFill>
                <a:latin typeface="Aptos"/>
              </a:rPr>
              <a:t>Provider submit</a:t>
            </a:r>
            <a:endParaRPr b="0" lang="en-US" sz="1600" spc="-1" strike="noStrike">
              <a:solidFill>
                <a:srgbClr val="ffffff"/>
              </a:solidFill>
              <a:latin typeface="Arial"/>
            </a:endParaRPr>
          </a:p>
        </p:txBody>
      </p:sp>
      <p:sp>
        <p:nvSpPr>
          <p:cNvPr id="313" name="Shape 29"/>
          <p:cNvSpPr/>
          <p:nvPr/>
        </p:nvSpPr>
        <p:spPr>
          <a:xfrm>
            <a:off x="6492240" y="5486400"/>
            <a:ext cx="2559960" cy="749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14" name="Text 30"/>
          <p:cNvSpPr/>
          <p:nvPr/>
        </p:nvSpPr>
        <p:spPr>
          <a:xfrm>
            <a:off x="6656760" y="5650920"/>
            <a:ext cx="223092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ff6b6b"/>
                </a:solidFill>
                <a:latin typeface="Aptos"/>
              </a:rPr>
              <a:t>11.91 s</a:t>
            </a:r>
            <a:endParaRPr b="0" lang="en-US" sz="2700" spc="-1" strike="noStrike">
              <a:solidFill>
                <a:srgbClr val="ffffff"/>
              </a:solidFill>
              <a:latin typeface="Arial"/>
            </a:endParaRPr>
          </a:p>
        </p:txBody>
      </p:sp>
      <p:sp>
        <p:nvSpPr>
          <p:cNvPr id="315" name="Text 31"/>
          <p:cNvSpPr/>
          <p:nvPr/>
        </p:nvSpPr>
        <p:spPr>
          <a:xfrm>
            <a:off x="6656760" y="6145200"/>
            <a:ext cx="2230920" cy="18000"/>
          </a:xfrm>
          <a:prstGeom prst="rect">
            <a:avLst/>
          </a:prstGeom>
          <a:noFill/>
          <a:ln w="0">
            <a:noFill/>
          </a:ln>
        </p:spPr>
        <p:style>
          <a:lnRef idx="0"/>
          <a:fillRef idx="0"/>
          <a:effectRef idx="0"/>
          <a:fontRef idx="minor"/>
        </p:style>
        <p:txBody>
          <a:bodyPr lIns="0" rIns="0" tIns="0" bIns="0" anchor="ctr">
            <a:normAutofit fontScale="12222"/>
          </a:bodyPr>
          <a:p>
            <a:pPr defTabSz="914400">
              <a:lnSpc>
                <a:spcPct val="100000"/>
              </a:lnSpc>
              <a:tabLst>
                <a:tab algn="l" pos="0"/>
              </a:tabLst>
            </a:pPr>
            <a:r>
              <a:rPr b="0" lang="en-US" sz="1600" spc="-1" strike="noStrike">
                <a:solidFill>
                  <a:srgbClr val="9ab0be"/>
                </a:solidFill>
                <a:latin typeface="Aptos"/>
              </a:rPr>
              <a:t>Carrier delivery</a:t>
            </a:r>
            <a:endParaRPr b="0" lang="en-US" sz="1600" spc="-1" strike="noStrike">
              <a:solidFill>
                <a:srgbClr val="ffffff"/>
              </a:solidFill>
              <a:latin typeface="Arial"/>
            </a:endParaRPr>
          </a:p>
        </p:txBody>
      </p:sp>
      <p:sp>
        <p:nvSpPr>
          <p:cNvPr id="316" name="Shape 32"/>
          <p:cNvSpPr/>
          <p:nvPr/>
        </p:nvSpPr>
        <p:spPr>
          <a:xfrm>
            <a:off x="9235440" y="5276160"/>
            <a:ext cx="2239920" cy="9871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17" name="Shape 33"/>
          <p:cNvSpPr/>
          <p:nvPr/>
        </p:nvSpPr>
        <p:spPr>
          <a:xfrm>
            <a:off x="9235440" y="5276160"/>
            <a:ext cx="50040" cy="987120"/>
          </a:xfrm>
          <a:prstGeom prst="rect">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18" name="Text 34"/>
          <p:cNvSpPr/>
          <p:nvPr/>
        </p:nvSpPr>
        <p:spPr>
          <a:xfrm>
            <a:off x="9436680" y="5440680"/>
            <a:ext cx="18741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Kết luận</a:t>
            </a:r>
            <a:endParaRPr b="0" lang="en-US" sz="1600" spc="-1" strike="noStrike">
              <a:solidFill>
                <a:srgbClr val="ffffff"/>
              </a:solidFill>
              <a:latin typeface="Arial"/>
            </a:endParaRPr>
          </a:p>
        </p:txBody>
      </p:sp>
      <p:sp>
        <p:nvSpPr>
          <p:cNvPr id="319" name="Text 35"/>
          <p:cNvSpPr/>
          <p:nvPr/>
        </p:nvSpPr>
        <p:spPr>
          <a:xfrm>
            <a:off x="9455040" y="5806440"/>
            <a:ext cx="1819440" cy="328680"/>
          </a:xfrm>
          <a:prstGeom prst="rect">
            <a:avLst/>
          </a:prstGeom>
          <a:noFill/>
          <a:ln w="0">
            <a:noFill/>
          </a:ln>
        </p:spPr>
        <p:style>
          <a:lnRef idx="0"/>
          <a:fillRef idx="0"/>
          <a:effectRef idx="0"/>
          <a:fontRef idx="minor"/>
        </p:style>
        <p:txBody>
          <a:bodyPr lIns="360" rIns="360" tIns="360" bIns="360" anchor="t">
            <a:normAutofit fontScale="62222" lnSpcReduction="20000"/>
          </a:bodyPr>
          <a:p>
            <a:pPr defTabSz="914400">
              <a:lnSpc>
                <a:spcPct val="100000"/>
              </a:lnSpc>
              <a:tabLst>
                <a:tab algn="l" pos="0"/>
              </a:tabLst>
            </a:pPr>
            <a:r>
              <a:rPr b="0" lang="en-US" sz="1400" spc="-1" strike="noStrike">
                <a:solidFill>
                  <a:srgbClr val="9ab0be"/>
                </a:solidFill>
                <a:latin typeface="Aptos"/>
              </a:rPr>
              <a:t>Carrier chiếm ~96% tổng latency → nghi ngờ downstream provider/carrier.</a:t>
            </a:r>
            <a:endParaRPr b="0" lang="en-US" sz="1400" spc="-1" strike="noStrike">
              <a:solidFill>
                <a:srgbClr val="ffffff"/>
              </a:solidFill>
              <a:latin typeface="Arial"/>
            </a:endParaRPr>
          </a:p>
        </p:txBody>
      </p:sp>
      <p:sp>
        <p:nvSpPr>
          <p:cNvPr id="320" name="PlaceHolder 1"/>
          <p:cNvSpPr>
            <a:spLocks noGrp="1"/>
          </p:cNvSpPr>
          <p:nvPr>
            <p:ph type="sldNum" idx="12"/>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25D2FDBB-EC8B-4CFF-947D-86E905CF0E4A}" type="slidenum">
              <a:rPr b="0" lang="en-US" sz="800" spc="-1" strike="noStrike">
                <a:solidFill>
                  <a:srgbClr val="678296"/>
                </a:solidFill>
                <a:latin typeface="Aptos"/>
                <a:ea typeface="Aptos"/>
              </a:rPr>
              <a:t>9</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Rectangle 1"/>
          <p:cNvSpPr/>
          <p:nvPr/>
        </p:nvSpPr>
        <p:spPr>
          <a:xfrm>
            <a:off x="0" y="0"/>
            <a:ext cx="12191760" cy="6857640"/>
          </a:xfrm>
          <a:prstGeom prst="rect">
            <a:avLst/>
          </a:prstGeom>
          <a:solidFill>
            <a:srgbClr val="0a111d"/>
          </a:solidFill>
          <a:ln>
            <a:no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22" name="TextBox 2"/>
          <p:cNvSpPr/>
          <p:nvPr/>
        </p:nvSpPr>
        <p:spPr>
          <a:xfrm>
            <a:off x="685800" y="411480"/>
            <a:ext cx="10789560" cy="4856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2600" spc="-1" strike="noStrike">
                <a:solidFill>
                  <a:srgbClr val="f2f6fc"/>
                </a:solidFill>
                <a:latin typeface="Aptos"/>
              </a:rPr>
              <a:t>09 — Synthetic traffic &amp; incident simulation</a:t>
            </a:r>
            <a:endParaRPr b="0" lang="en-US" sz="2600" spc="-1" strike="noStrike">
              <a:solidFill>
                <a:srgbClr val="ffffff"/>
              </a:solidFill>
              <a:latin typeface="Arial"/>
            </a:endParaRPr>
          </a:p>
        </p:txBody>
      </p:sp>
      <p:sp>
        <p:nvSpPr>
          <p:cNvPr id="323" name="TextBox 3"/>
          <p:cNvSpPr/>
          <p:nvPr/>
        </p:nvSpPr>
        <p:spPr>
          <a:xfrm>
            <a:off x="685800" y="987480"/>
            <a:ext cx="10698120" cy="5468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0" lang="en-US" sz="1500" spc="-1" strike="noStrike">
                <a:solidFill>
                  <a:srgbClr val="a6b4c8"/>
                </a:solidFill>
                <a:latin typeface="Aptos"/>
              </a:rPr>
              <a:t>Khi chưa có telemetry UAT thật, simulator tạo traffic có kiểm soát để kiểm thử KPI, dashboard, alert và quy trình triage.</a:t>
            </a:r>
            <a:endParaRPr b="0" lang="en-US" sz="1500" spc="-1" strike="noStrike">
              <a:solidFill>
                <a:srgbClr val="ffffff"/>
              </a:solidFill>
              <a:latin typeface="Arial"/>
            </a:endParaRPr>
          </a:p>
        </p:txBody>
      </p:sp>
      <p:sp>
        <p:nvSpPr>
          <p:cNvPr id="324" name="Rounded Rectangle 4"/>
          <p:cNvSpPr/>
          <p:nvPr/>
        </p:nvSpPr>
        <p:spPr>
          <a:xfrm>
            <a:off x="685800" y="1828800"/>
            <a:ext cx="2422800" cy="297144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25" name="TextBox 5"/>
          <p:cNvSpPr/>
          <p:nvPr/>
        </p:nvSpPr>
        <p:spPr>
          <a:xfrm>
            <a:off x="868680" y="2011680"/>
            <a:ext cx="205704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Traffic profiles</a:t>
            </a:r>
            <a:endParaRPr b="0" lang="en-US" sz="1600" spc="-1" strike="noStrike">
              <a:solidFill>
                <a:srgbClr val="ffffff"/>
              </a:solidFill>
              <a:latin typeface="Arial"/>
            </a:endParaRPr>
          </a:p>
        </p:txBody>
      </p:sp>
      <p:sp>
        <p:nvSpPr>
          <p:cNvPr id="326" name="TextBox 6"/>
          <p:cNvSpPr/>
          <p:nvPr/>
        </p:nvSpPr>
        <p:spPr>
          <a:xfrm>
            <a:off x="868680" y="2578680"/>
            <a:ext cx="2057040" cy="138600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Development 20 TPS</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UAT 100 TPS</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Production-like 500 TPS</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Peak 2000 TPS</a:t>
            </a:r>
            <a:endParaRPr b="0" lang="en-US" sz="1300" spc="-1" strike="noStrike">
              <a:solidFill>
                <a:srgbClr val="ffffff"/>
              </a:solidFill>
              <a:latin typeface="Arial"/>
            </a:endParaRPr>
          </a:p>
        </p:txBody>
      </p:sp>
      <p:sp>
        <p:nvSpPr>
          <p:cNvPr id="327" name="Rounded Rectangle 7"/>
          <p:cNvSpPr/>
          <p:nvPr/>
        </p:nvSpPr>
        <p:spPr>
          <a:xfrm>
            <a:off x="3566160" y="1828800"/>
            <a:ext cx="2422800" cy="297144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28" name="TextBox 8"/>
          <p:cNvSpPr/>
          <p:nvPr/>
        </p:nvSpPr>
        <p:spPr>
          <a:xfrm>
            <a:off x="3749040" y="2011680"/>
            <a:ext cx="205704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Workload signals</a:t>
            </a:r>
            <a:endParaRPr b="0" lang="en-US" sz="1600" spc="-1" strike="noStrike">
              <a:solidFill>
                <a:srgbClr val="ffffff"/>
              </a:solidFill>
              <a:latin typeface="Arial"/>
            </a:endParaRPr>
          </a:p>
        </p:txBody>
      </p:sp>
      <p:sp>
        <p:nvSpPr>
          <p:cNvPr id="329" name="TextBox 9"/>
          <p:cNvSpPr/>
          <p:nvPr/>
        </p:nvSpPr>
        <p:spPr>
          <a:xfrm>
            <a:off x="3749040" y="2578680"/>
            <a:ext cx="2057040" cy="138600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Authentication</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OTP send / delivery / verify</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Token issuance</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HTTP + dependencies</a:t>
            </a:r>
            <a:endParaRPr b="0" lang="en-US" sz="1300" spc="-1" strike="noStrike">
              <a:solidFill>
                <a:srgbClr val="ffffff"/>
              </a:solidFill>
              <a:latin typeface="Arial"/>
            </a:endParaRPr>
          </a:p>
        </p:txBody>
      </p:sp>
      <p:sp>
        <p:nvSpPr>
          <p:cNvPr id="330" name="Rounded Rectangle 10"/>
          <p:cNvSpPr/>
          <p:nvPr/>
        </p:nvSpPr>
        <p:spPr>
          <a:xfrm>
            <a:off x="6446520" y="1828800"/>
            <a:ext cx="2422800" cy="297144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31" name="TextBox 11"/>
          <p:cNvSpPr/>
          <p:nvPr/>
        </p:nvSpPr>
        <p:spPr>
          <a:xfrm>
            <a:off x="6629400" y="2011680"/>
            <a:ext cx="205704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Failure scenarios</a:t>
            </a:r>
            <a:endParaRPr b="0" lang="en-US" sz="1600" spc="-1" strike="noStrike">
              <a:solidFill>
                <a:srgbClr val="ffffff"/>
              </a:solidFill>
              <a:latin typeface="Arial"/>
            </a:endParaRPr>
          </a:p>
        </p:txBody>
      </p:sp>
      <p:sp>
        <p:nvSpPr>
          <p:cNvPr id="332" name="TextBox 12"/>
          <p:cNvSpPr/>
          <p:nvPr/>
        </p:nvSpPr>
        <p:spPr>
          <a:xfrm>
            <a:off x="6629400" y="2578680"/>
            <a:ext cx="2057040" cy="138600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Latency degradation</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Error-rate increase</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Queue backlog</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Provider / delivery delay</a:t>
            </a:r>
            <a:endParaRPr b="0" lang="en-US" sz="1300" spc="-1" strike="noStrike">
              <a:solidFill>
                <a:srgbClr val="ffffff"/>
              </a:solidFill>
              <a:latin typeface="Arial"/>
            </a:endParaRPr>
          </a:p>
        </p:txBody>
      </p:sp>
      <p:sp>
        <p:nvSpPr>
          <p:cNvPr id="333" name="Rounded Rectangle 13"/>
          <p:cNvSpPr/>
          <p:nvPr/>
        </p:nvSpPr>
        <p:spPr>
          <a:xfrm>
            <a:off x="9326880" y="1828800"/>
            <a:ext cx="2422800" cy="2971440"/>
          </a:xfrm>
          <a:prstGeom prst="roundRect">
            <a:avLst>
              <a:gd name="adj" fmla="val 16667"/>
            </a:avLst>
          </a:prstGeom>
          <a:solidFill>
            <a:srgbClr val="141f30"/>
          </a:solidFill>
          <a:ln>
            <a:solidFill>
              <a:srgbClr val="2d425c"/>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34" name="TextBox 14"/>
          <p:cNvSpPr/>
          <p:nvPr/>
        </p:nvSpPr>
        <p:spPr>
          <a:xfrm>
            <a:off x="9509760" y="2011680"/>
            <a:ext cx="2057040" cy="33336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pPr>
            <a:r>
              <a:rPr b="1" lang="en-US" sz="1600" spc="-1" strike="noStrike">
                <a:solidFill>
                  <a:srgbClr val="56a6ff"/>
                </a:solidFill>
                <a:latin typeface="Aptos"/>
              </a:rPr>
              <a:t>What we validate</a:t>
            </a:r>
            <a:endParaRPr b="0" lang="en-US" sz="1600" spc="-1" strike="noStrike">
              <a:solidFill>
                <a:srgbClr val="ffffff"/>
              </a:solidFill>
              <a:latin typeface="Arial"/>
            </a:endParaRPr>
          </a:p>
        </p:txBody>
      </p:sp>
      <p:sp>
        <p:nvSpPr>
          <p:cNvPr id="335" name="TextBox 15"/>
          <p:cNvSpPr/>
          <p:nvPr/>
        </p:nvSpPr>
        <p:spPr>
          <a:xfrm>
            <a:off x="9509760" y="2578680"/>
            <a:ext cx="2057040" cy="1187640"/>
          </a:xfrm>
          <a:prstGeom prst="rect">
            <a:avLst/>
          </a:prstGeom>
          <a:noFill/>
          <a:ln w="0">
            <a:noFill/>
          </a:ln>
        </p:spPr>
        <p:style>
          <a:lnRef idx="0"/>
          <a:fillRef idx="0"/>
          <a:effectRef idx="0"/>
          <a:fontRef idx="minor"/>
        </p:style>
        <p:txBody>
          <a:bodyPr lIns="88920" rIns="88920" tIns="45000" bIns="45000" anchor="t">
            <a:spAutoFit/>
          </a:bodyPr>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Recording rules</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SLO / burn rate</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Grafana behavior</a:t>
            </a:r>
            <a:endParaRPr b="0" lang="en-US" sz="1300" spc="-1" strike="noStrike">
              <a:solidFill>
                <a:srgbClr val="ffffff"/>
              </a:solidFill>
              <a:latin typeface="Arial"/>
            </a:endParaRPr>
          </a:p>
          <a:p>
            <a:pPr defTabSz="914400">
              <a:lnSpc>
                <a:spcPct val="100000"/>
              </a:lnSpc>
              <a:spcAft>
                <a:spcPts val="799"/>
              </a:spcAft>
            </a:pPr>
            <a:r>
              <a:rPr b="0" lang="en-US" sz="1300" spc="-1" strike="noStrike">
                <a:solidFill>
                  <a:srgbClr val="f2f6fc"/>
                </a:solidFill>
                <a:latin typeface="Aptos"/>
              </a:rPr>
              <a:t>• </a:t>
            </a:r>
            <a:r>
              <a:rPr b="0" lang="en-US" sz="1300" spc="-1" strike="noStrike">
                <a:solidFill>
                  <a:srgbClr val="f2f6fc"/>
                </a:solidFill>
                <a:latin typeface="Aptos"/>
              </a:rPr>
              <a:t>Alert + runbook flow</a:t>
            </a:r>
            <a:endParaRPr b="0" lang="en-US" sz="1300" spc="-1" strike="noStrike">
              <a:solidFill>
                <a:srgbClr val="ffffff"/>
              </a:solidFill>
              <a:latin typeface="Arial"/>
            </a:endParaRPr>
          </a:p>
        </p:txBody>
      </p:sp>
      <p:sp>
        <p:nvSpPr>
          <p:cNvPr id="336" name="Rounded Rectangle 16"/>
          <p:cNvSpPr/>
          <p:nvPr/>
        </p:nvSpPr>
        <p:spPr>
          <a:xfrm>
            <a:off x="685800" y="5166360"/>
            <a:ext cx="11063880" cy="959760"/>
          </a:xfrm>
          <a:prstGeom prst="roundRect">
            <a:avLst>
              <a:gd name="adj" fmla="val 16667"/>
            </a:avLst>
          </a:prstGeom>
          <a:solidFill>
            <a:srgbClr val="0f2c2a"/>
          </a:solidFill>
          <a:ln>
            <a:solidFill>
              <a:srgbClr val="5bcd9a"/>
            </a:solidFill>
          </a:ln>
        </p:spPr>
        <p:style>
          <a:lnRef idx="1">
            <a:schemeClr val="accent1"/>
          </a:lnRef>
          <a:fillRef idx="3">
            <a:schemeClr val="accent1"/>
          </a:fillRef>
          <a:effectRef idx="2">
            <a:schemeClr val="accent1"/>
          </a:effectRef>
          <a:fontRef idx="minor"/>
        </p:style>
        <p:txBody>
          <a:bodyPr lIns="88920" rIns="88920" tIns="45000" bIns="45000" anchor="ctr">
            <a:noAutofit/>
          </a:bodyPr>
          <a:p>
            <a:pPr algn="ctr" defTabSz="914400">
              <a:lnSpc>
                <a:spcPct val="100000"/>
              </a:lnSpc>
            </a:pPr>
            <a:endParaRPr b="0" lang="en-US" sz="1800" spc="-1" strike="noStrike">
              <a:solidFill>
                <a:schemeClr val="lt1"/>
              </a:solidFill>
              <a:latin typeface="Aptos"/>
            </a:endParaRPr>
          </a:p>
        </p:txBody>
      </p:sp>
      <p:sp>
        <p:nvSpPr>
          <p:cNvPr id="337" name="TextBox 17"/>
          <p:cNvSpPr/>
          <p:nvPr/>
        </p:nvSpPr>
        <p:spPr>
          <a:xfrm>
            <a:off x="914400" y="5394960"/>
            <a:ext cx="10606680" cy="577080"/>
          </a:xfrm>
          <a:prstGeom prst="rect">
            <a:avLst/>
          </a:prstGeom>
          <a:noFill/>
          <a:ln w="0">
            <a:noFill/>
          </a:ln>
        </p:spPr>
        <p:style>
          <a:lnRef idx="0"/>
          <a:fillRef idx="0"/>
          <a:effectRef idx="0"/>
          <a:fontRef idx="minor"/>
        </p:style>
        <p:txBody>
          <a:bodyPr lIns="88920" rIns="88920" tIns="45000" bIns="45000" anchor="t">
            <a:spAutoFit/>
          </a:bodyPr>
          <a:p>
            <a:pPr algn="ctr" defTabSz="914400">
              <a:lnSpc>
                <a:spcPct val="100000"/>
              </a:lnSpc>
            </a:pPr>
            <a:r>
              <a:rPr b="1" lang="en-US" sz="1600" spc="-1" strike="noStrike">
                <a:solidFill>
                  <a:srgbClr val="f2f6fc"/>
                </a:solidFill>
                <a:latin typeface="Aptos"/>
              </a:rPr>
              <a:t>Mục tiêu: kiểm thử observability contract trước UAT — synthetic data không được dùng để suy ra production baseline hoặc capacity.</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10 — SLO, error budget &amp; burn rate</a:t>
            </a:r>
            <a:endParaRPr b="0" lang="en-US" sz="2800" spc="-1" strike="noStrike">
              <a:solidFill>
                <a:srgbClr val="ffffff"/>
              </a:solidFill>
              <a:latin typeface="Arial"/>
            </a:endParaRPr>
          </a:p>
        </p:txBody>
      </p:sp>
      <p:sp>
        <p:nvSpPr>
          <p:cNvPr id="339"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Alert dựa trên user impact / budget burn, thay vì page chỉ vì CPU hoặc pod tăng.</a:t>
            </a:r>
            <a:endParaRPr b="0" lang="en-US" sz="1500" spc="-1" strike="noStrike">
              <a:solidFill>
                <a:srgbClr val="ffffff"/>
              </a:solidFill>
              <a:latin typeface="Arial"/>
            </a:endParaRPr>
          </a:p>
        </p:txBody>
      </p:sp>
      <p:sp>
        <p:nvSpPr>
          <p:cNvPr id="340" name="Shape 2"/>
          <p:cNvSpPr/>
          <p:nvPr/>
        </p:nvSpPr>
        <p:spPr>
          <a:xfrm>
            <a:off x="822960" y="1417320"/>
            <a:ext cx="4571640" cy="42058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41" name="Text 3"/>
          <p:cNvSpPr/>
          <p:nvPr/>
        </p:nvSpPr>
        <p:spPr>
          <a:xfrm>
            <a:off x="1097280" y="1737360"/>
            <a:ext cx="201132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pc="-1" strike="noStrike">
                <a:solidFill>
                  <a:srgbClr val="f3f8fb"/>
                </a:solidFill>
                <a:latin typeface="Aptos"/>
              </a:rPr>
              <a:t>SLO math</a:t>
            </a:r>
            <a:endParaRPr b="0" lang="en-US" sz="1700" spc="-1" strike="noStrike">
              <a:solidFill>
                <a:srgbClr val="ffffff"/>
              </a:solidFill>
              <a:latin typeface="Arial"/>
            </a:endParaRPr>
          </a:p>
        </p:txBody>
      </p:sp>
      <p:sp>
        <p:nvSpPr>
          <p:cNvPr id="342" name="Text 4"/>
          <p:cNvSpPr/>
          <p:nvPr/>
        </p:nvSpPr>
        <p:spPr>
          <a:xfrm>
            <a:off x="1097280" y="2331720"/>
            <a:ext cx="3885840" cy="1325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700" spc="-1" strike="noStrike">
                <a:solidFill>
                  <a:srgbClr val="a9e6de"/>
                </a:solidFill>
                <a:latin typeface="Courier New"/>
                <a:ea typeface="Courier New"/>
              </a:rPr>
              <a:t>allowed_bad_ratio = 1 − SLO</a:t>
            </a:r>
            <a:endParaRPr b="0" lang="en-US" sz="1700" spc="-1" strike="noStrike">
              <a:solidFill>
                <a:srgbClr val="ffffff"/>
              </a:solidFill>
              <a:latin typeface="Arial"/>
            </a:endParaRPr>
          </a:p>
          <a:p>
            <a:pPr defTabSz="914400">
              <a:lnSpc>
                <a:spcPct val="100000"/>
              </a:lnSpc>
              <a:tabLst>
                <a:tab algn="l" pos="0"/>
              </a:tabLst>
            </a:pPr>
            <a:endParaRPr b="0" lang="en-US" sz="1700" spc="-1" strike="noStrike">
              <a:solidFill>
                <a:srgbClr val="ffffff"/>
              </a:solidFill>
              <a:latin typeface="Arial"/>
            </a:endParaRPr>
          </a:p>
          <a:p>
            <a:pPr defTabSz="914400">
              <a:lnSpc>
                <a:spcPct val="100000"/>
              </a:lnSpc>
              <a:tabLst>
                <a:tab algn="l" pos="0"/>
              </a:tabLst>
            </a:pPr>
            <a:r>
              <a:rPr b="0" lang="en-US" sz="1700" spc="-1" strike="noStrike">
                <a:solidFill>
                  <a:srgbClr val="a9e6de"/>
                </a:solidFill>
                <a:latin typeface="Courier New"/>
                <a:ea typeface="Courier New"/>
              </a:rPr>
              <a:t>burn_rate = observed_bad_ratio / allowed_bad_ratio</a:t>
            </a:r>
            <a:endParaRPr b="0" lang="en-US" sz="1700" spc="-1" strike="noStrike">
              <a:solidFill>
                <a:srgbClr val="ffffff"/>
              </a:solidFill>
              <a:latin typeface="Arial"/>
            </a:endParaRPr>
          </a:p>
        </p:txBody>
      </p:sp>
      <p:sp>
        <p:nvSpPr>
          <p:cNvPr id="343" name="Text 5"/>
          <p:cNvSpPr/>
          <p:nvPr/>
        </p:nvSpPr>
        <p:spPr>
          <a:xfrm>
            <a:off x="1097280" y="4160520"/>
            <a:ext cx="3840120" cy="77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Ví dụ SLO 99.9% → error budget 0.1%. Burn rate &gt; 1 nghĩa là đang tiêu budget nhanh hơn tốc độ cho phép.</a:t>
            </a:r>
            <a:endParaRPr b="0" lang="en-US" sz="1400" spc="-1" strike="noStrike">
              <a:solidFill>
                <a:srgbClr val="ffffff"/>
              </a:solidFill>
              <a:latin typeface="Arial"/>
            </a:endParaRPr>
          </a:p>
        </p:txBody>
      </p:sp>
      <p:sp>
        <p:nvSpPr>
          <p:cNvPr id="344" name="Shape 6"/>
          <p:cNvSpPr/>
          <p:nvPr/>
        </p:nvSpPr>
        <p:spPr>
          <a:xfrm>
            <a:off x="5760720" y="1417320"/>
            <a:ext cx="5440320" cy="118836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45" name="Shape 7"/>
          <p:cNvSpPr/>
          <p:nvPr/>
        </p:nvSpPr>
        <p:spPr>
          <a:xfrm>
            <a:off x="5760720" y="1417320"/>
            <a:ext cx="50040" cy="1188360"/>
          </a:xfrm>
          <a:prstGeom prst="rect">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46" name="Text 8"/>
          <p:cNvSpPr/>
          <p:nvPr/>
        </p:nvSpPr>
        <p:spPr>
          <a:xfrm>
            <a:off x="5961960" y="1581840"/>
            <a:ext cx="50745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Multi-window burn rate</a:t>
            </a:r>
            <a:endParaRPr b="0" lang="en-US" sz="1600" spc="-1" strike="noStrike">
              <a:solidFill>
                <a:srgbClr val="ffffff"/>
              </a:solidFill>
              <a:latin typeface="Arial"/>
            </a:endParaRPr>
          </a:p>
        </p:txBody>
      </p:sp>
      <p:sp>
        <p:nvSpPr>
          <p:cNvPr id="347" name="Text 9"/>
          <p:cNvSpPr/>
          <p:nvPr/>
        </p:nvSpPr>
        <p:spPr>
          <a:xfrm>
            <a:off x="5980320" y="1947600"/>
            <a:ext cx="5019840" cy="5299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Page khi đủ traffic và các window đồng thuận; no-data ≠ 0% error ≠ 100% success.</a:t>
            </a:r>
            <a:endParaRPr b="0" lang="en-US" sz="1400" spc="-1" strike="noStrike">
              <a:solidFill>
                <a:srgbClr val="ffffff"/>
              </a:solidFill>
              <a:latin typeface="Arial"/>
            </a:endParaRPr>
          </a:p>
        </p:txBody>
      </p:sp>
      <p:sp>
        <p:nvSpPr>
          <p:cNvPr id="348" name="Shape 10"/>
          <p:cNvSpPr/>
          <p:nvPr/>
        </p:nvSpPr>
        <p:spPr>
          <a:xfrm>
            <a:off x="5760720" y="2816280"/>
            <a:ext cx="5440320" cy="118836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49" name="Shape 11"/>
          <p:cNvSpPr/>
          <p:nvPr/>
        </p:nvSpPr>
        <p:spPr>
          <a:xfrm>
            <a:off x="5760720" y="2816280"/>
            <a:ext cx="50040" cy="1188360"/>
          </a:xfrm>
          <a:prstGeom prst="rect">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50" name="Text 12"/>
          <p:cNvSpPr/>
          <p:nvPr/>
        </p:nvSpPr>
        <p:spPr>
          <a:xfrm>
            <a:off x="5961960" y="2980800"/>
            <a:ext cx="50745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Business outcome ≠ outage</a:t>
            </a:r>
            <a:endParaRPr b="0" lang="en-US" sz="1600" spc="-1" strike="noStrike">
              <a:solidFill>
                <a:srgbClr val="ffffff"/>
              </a:solidFill>
              <a:latin typeface="Arial"/>
            </a:endParaRPr>
          </a:p>
        </p:txBody>
      </p:sp>
      <p:sp>
        <p:nvSpPr>
          <p:cNvPr id="351" name="Text 13"/>
          <p:cNvSpPr/>
          <p:nvPr/>
        </p:nvSpPr>
        <p:spPr>
          <a:xfrm>
            <a:off x="5980320" y="3346560"/>
            <a:ext cx="5019840" cy="5299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Invalid credential, wrong/expired OTP và policy denial không mặc định tính là platform failure.</a:t>
            </a:r>
            <a:endParaRPr b="0" lang="en-US" sz="1400" spc="-1" strike="noStrike">
              <a:solidFill>
                <a:srgbClr val="ffffff"/>
              </a:solidFill>
              <a:latin typeface="Arial"/>
            </a:endParaRPr>
          </a:p>
        </p:txBody>
      </p:sp>
      <p:sp>
        <p:nvSpPr>
          <p:cNvPr id="352" name="Shape 14"/>
          <p:cNvSpPr/>
          <p:nvPr/>
        </p:nvSpPr>
        <p:spPr>
          <a:xfrm>
            <a:off x="5760720" y="4215240"/>
            <a:ext cx="5440320" cy="118836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53" name="Shape 15"/>
          <p:cNvSpPr/>
          <p:nvPr/>
        </p:nvSpPr>
        <p:spPr>
          <a:xfrm>
            <a:off x="5760720" y="4215240"/>
            <a:ext cx="50040" cy="118836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54" name="Text 16"/>
          <p:cNvSpPr/>
          <p:nvPr/>
        </p:nvSpPr>
        <p:spPr>
          <a:xfrm>
            <a:off x="5961960" y="4380120"/>
            <a:ext cx="50745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KPI-04 có chủ ý chưa page</a:t>
            </a:r>
            <a:endParaRPr b="0" lang="en-US" sz="1600" spc="-1" strike="noStrike">
              <a:solidFill>
                <a:srgbClr val="ffffff"/>
              </a:solidFill>
              <a:latin typeface="Arial"/>
            </a:endParaRPr>
          </a:p>
        </p:txBody>
      </p:sp>
      <p:sp>
        <p:nvSpPr>
          <p:cNvPr id="355" name="Text 17"/>
          <p:cNvSpPr/>
          <p:nvPr/>
        </p:nvSpPr>
        <p:spPr>
          <a:xfrm>
            <a:off x="5980320" y="4745880"/>
            <a:ext cx="5019840" cy="52992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OTP verification hiện baseline để thu dữ liệu trước khi owner duyệt SLO/threshold.</a:t>
            </a:r>
            <a:endParaRPr b="0" lang="en-US" sz="1400" spc="-1" strike="noStrike">
              <a:solidFill>
                <a:srgbClr val="ffffff"/>
              </a:solidFill>
              <a:latin typeface="Arial"/>
            </a:endParaRPr>
          </a:p>
        </p:txBody>
      </p:sp>
      <p:sp>
        <p:nvSpPr>
          <p:cNvPr id="356" name="PlaceHolder 1"/>
          <p:cNvSpPr>
            <a:spLocks noGrp="1"/>
          </p:cNvSpPr>
          <p:nvPr>
            <p:ph type="sldNum" idx="13"/>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CDFA6286-9A9F-435E-8CBC-0A3911B208AE}" type="slidenum">
              <a:rPr b="0" lang="en-US" sz="800" spc="-1" strike="noStrike">
                <a:solidFill>
                  <a:srgbClr val="678296"/>
                </a:solidFill>
                <a:latin typeface="Aptos"/>
                <a:ea typeface="Aptos"/>
              </a:rPr>
              <a:t>11</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11 — Alerting &amp; runbook</a:t>
            </a:r>
            <a:endParaRPr b="0" lang="en-US" sz="2800" spc="-1" strike="noStrike">
              <a:solidFill>
                <a:srgbClr val="ffffff"/>
              </a:solidFill>
              <a:latin typeface="Arial"/>
            </a:endParaRPr>
          </a:p>
        </p:txBody>
      </p:sp>
      <p:sp>
        <p:nvSpPr>
          <p:cNvPr id="358"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17 alert rules + Alertmanager routing + quy trình triage thống nhất.</a:t>
            </a:r>
            <a:endParaRPr b="0" lang="en-US" sz="1500" spc="-1" strike="noStrike">
              <a:solidFill>
                <a:srgbClr val="ffffff"/>
              </a:solidFill>
              <a:latin typeface="Arial"/>
            </a:endParaRPr>
          </a:p>
        </p:txBody>
      </p:sp>
      <p:sp>
        <p:nvSpPr>
          <p:cNvPr id="359" name="Shape 2"/>
          <p:cNvSpPr/>
          <p:nvPr/>
        </p:nvSpPr>
        <p:spPr>
          <a:xfrm>
            <a:off x="731520" y="1325880"/>
            <a:ext cx="2377080" cy="11426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60" name="Text 3"/>
          <p:cNvSpPr/>
          <p:nvPr/>
        </p:nvSpPr>
        <p:spPr>
          <a:xfrm>
            <a:off x="896040" y="149040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f5c451"/>
                </a:solidFill>
                <a:latin typeface="Aptos"/>
              </a:rPr>
              <a:t>17</a:t>
            </a:r>
            <a:endParaRPr b="0" lang="en-US" sz="2700" spc="-1" strike="noStrike">
              <a:solidFill>
                <a:srgbClr val="ffffff"/>
              </a:solidFill>
              <a:latin typeface="Arial"/>
            </a:endParaRPr>
          </a:p>
        </p:txBody>
      </p:sp>
      <p:sp>
        <p:nvSpPr>
          <p:cNvPr id="361" name="Text 4"/>
          <p:cNvSpPr/>
          <p:nvPr/>
        </p:nvSpPr>
        <p:spPr>
          <a:xfrm>
            <a:off x="896040" y="2002680"/>
            <a:ext cx="2048040" cy="374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alert rules</a:t>
            </a:r>
            <a:endParaRPr b="0" lang="en-US" sz="1600" spc="-1" strike="noStrike">
              <a:solidFill>
                <a:srgbClr val="ffffff"/>
              </a:solidFill>
              <a:latin typeface="Arial"/>
            </a:endParaRPr>
          </a:p>
        </p:txBody>
      </p:sp>
      <p:sp>
        <p:nvSpPr>
          <p:cNvPr id="362" name="Shape 5"/>
          <p:cNvSpPr/>
          <p:nvPr/>
        </p:nvSpPr>
        <p:spPr>
          <a:xfrm>
            <a:off x="3337560" y="1325880"/>
            <a:ext cx="2377080" cy="11426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63" name="Text 6"/>
          <p:cNvSpPr/>
          <p:nvPr/>
        </p:nvSpPr>
        <p:spPr>
          <a:xfrm>
            <a:off x="3502080" y="149040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8d597"/>
                </a:solidFill>
                <a:latin typeface="Aptos"/>
              </a:rPr>
              <a:t>1</a:t>
            </a:r>
            <a:endParaRPr b="0" lang="en-US" sz="2700" spc="-1" strike="noStrike">
              <a:solidFill>
                <a:srgbClr val="ffffff"/>
              </a:solidFill>
              <a:latin typeface="Arial"/>
            </a:endParaRPr>
          </a:p>
        </p:txBody>
      </p:sp>
      <p:sp>
        <p:nvSpPr>
          <p:cNvPr id="364" name="Text 7"/>
          <p:cNvSpPr/>
          <p:nvPr/>
        </p:nvSpPr>
        <p:spPr>
          <a:xfrm>
            <a:off x="3502080" y="2002680"/>
            <a:ext cx="2048040" cy="374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runbook entrypoint</a:t>
            </a:r>
            <a:endParaRPr b="0" lang="en-US" sz="1600" spc="-1" strike="noStrike">
              <a:solidFill>
                <a:srgbClr val="ffffff"/>
              </a:solidFill>
              <a:latin typeface="Arial"/>
            </a:endParaRPr>
          </a:p>
        </p:txBody>
      </p:sp>
      <p:sp>
        <p:nvSpPr>
          <p:cNvPr id="365" name="Shape 8"/>
          <p:cNvSpPr/>
          <p:nvPr/>
        </p:nvSpPr>
        <p:spPr>
          <a:xfrm>
            <a:off x="5943600" y="1325880"/>
            <a:ext cx="2377080" cy="11426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66" name="Text 9"/>
          <p:cNvSpPr/>
          <p:nvPr/>
        </p:nvSpPr>
        <p:spPr>
          <a:xfrm>
            <a:off x="6108120" y="149040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2b4e6"/>
                </a:solidFill>
                <a:latin typeface="Aptos"/>
              </a:rPr>
              <a:t>≥</a:t>
            </a:r>
            <a:r>
              <a:rPr b="1" lang="en-US" sz="2700" spc="-1" strike="noStrike">
                <a:solidFill>
                  <a:srgbClr val="42b4e6"/>
                </a:solidFill>
                <a:latin typeface="Aptos"/>
              </a:rPr>
              <a:t>2</a:t>
            </a:r>
            <a:endParaRPr b="0" lang="en-US" sz="2700" spc="-1" strike="noStrike">
              <a:solidFill>
                <a:srgbClr val="ffffff"/>
              </a:solidFill>
              <a:latin typeface="Arial"/>
            </a:endParaRPr>
          </a:p>
        </p:txBody>
      </p:sp>
      <p:sp>
        <p:nvSpPr>
          <p:cNvPr id="367" name="Text 10"/>
          <p:cNvSpPr/>
          <p:nvPr/>
        </p:nvSpPr>
        <p:spPr>
          <a:xfrm>
            <a:off x="6108120" y="2002680"/>
            <a:ext cx="2048040" cy="374400"/>
          </a:xfrm>
          <a:prstGeom prst="rect">
            <a:avLst/>
          </a:prstGeom>
          <a:noFill/>
          <a:ln w="0">
            <a:noFill/>
          </a:ln>
        </p:spPr>
        <p:style>
          <a:lnRef idx="0"/>
          <a:fillRef idx="0"/>
          <a:effectRef idx="0"/>
          <a:fontRef idx="minor"/>
        </p:style>
        <p:txBody>
          <a:bodyPr lIns="0" rIns="0" tIns="0" bIns="0" anchor="ctr">
            <a:normAutofit fontScale="87222" lnSpcReduction="10000"/>
          </a:bodyPr>
          <a:p>
            <a:pPr defTabSz="914400">
              <a:lnSpc>
                <a:spcPct val="100000"/>
              </a:lnSpc>
              <a:tabLst>
                <a:tab algn="l" pos="0"/>
              </a:tabLst>
            </a:pPr>
            <a:r>
              <a:rPr b="0" lang="en-US" sz="1600" spc="-1" strike="noStrike">
                <a:solidFill>
                  <a:srgbClr val="9ab0be"/>
                </a:solidFill>
                <a:latin typeface="Aptos"/>
              </a:rPr>
              <a:t>signals before bottleneck conclusion</a:t>
            </a:r>
            <a:endParaRPr b="0" lang="en-US" sz="1600" spc="-1" strike="noStrike">
              <a:solidFill>
                <a:srgbClr val="ffffff"/>
              </a:solidFill>
              <a:latin typeface="Arial"/>
            </a:endParaRPr>
          </a:p>
        </p:txBody>
      </p:sp>
      <p:sp>
        <p:nvSpPr>
          <p:cNvPr id="368" name="Shape 11"/>
          <p:cNvSpPr/>
          <p:nvPr/>
        </p:nvSpPr>
        <p:spPr>
          <a:xfrm>
            <a:off x="8549640" y="1325880"/>
            <a:ext cx="2377080" cy="114264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69" name="Text 12"/>
          <p:cNvSpPr/>
          <p:nvPr/>
        </p:nvSpPr>
        <p:spPr>
          <a:xfrm>
            <a:off x="8714160" y="149040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19c3b1"/>
                </a:solidFill>
                <a:latin typeface="Aptos"/>
              </a:rPr>
              <a:t>0</a:t>
            </a:r>
            <a:endParaRPr b="0" lang="en-US" sz="2700" spc="-1" strike="noStrike">
              <a:solidFill>
                <a:srgbClr val="ffffff"/>
              </a:solidFill>
              <a:latin typeface="Arial"/>
            </a:endParaRPr>
          </a:p>
        </p:txBody>
      </p:sp>
      <p:sp>
        <p:nvSpPr>
          <p:cNvPr id="370" name="Text 13"/>
          <p:cNvSpPr/>
          <p:nvPr/>
        </p:nvSpPr>
        <p:spPr>
          <a:xfrm>
            <a:off x="8714160" y="2002680"/>
            <a:ext cx="2048040" cy="374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PII in alert labels</a:t>
            </a:r>
            <a:endParaRPr b="0" lang="en-US" sz="1600" spc="-1" strike="noStrike">
              <a:solidFill>
                <a:srgbClr val="ffffff"/>
              </a:solidFill>
              <a:latin typeface="Arial"/>
            </a:endParaRPr>
          </a:p>
        </p:txBody>
      </p:sp>
      <p:sp>
        <p:nvSpPr>
          <p:cNvPr id="371" name="Shape 14"/>
          <p:cNvSpPr/>
          <p:nvPr/>
        </p:nvSpPr>
        <p:spPr>
          <a:xfrm>
            <a:off x="914400" y="2834640"/>
            <a:ext cx="255600" cy="255600"/>
          </a:xfrm>
          <a:prstGeom prst="ellipse">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72" name="Text 15"/>
          <p:cNvSpPr/>
          <p:nvPr/>
        </p:nvSpPr>
        <p:spPr>
          <a:xfrm>
            <a:off x="914400" y="288504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1</a:t>
            </a:r>
            <a:endParaRPr b="0" lang="en-US" sz="1600" spc="-1" strike="noStrike">
              <a:solidFill>
                <a:srgbClr val="ffffff"/>
              </a:solidFill>
              <a:latin typeface="Arial"/>
            </a:endParaRPr>
          </a:p>
        </p:txBody>
      </p:sp>
      <p:sp>
        <p:nvSpPr>
          <p:cNvPr id="373" name="Text 16"/>
          <p:cNvSpPr/>
          <p:nvPr/>
        </p:nvSpPr>
        <p:spPr>
          <a:xfrm>
            <a:off x="1371600" y="283464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Confirm environment / time / client / flow</a:t>
            </a:r>
            <a:endParaRPr b="0" lang="en-US" sz="1600" spc="-1" strike="noStrike">
              <a:solidFill>
                <a:srgbClr val="ffffff"/>
              </a:solidFill>
              <a:latin typeface="Arial"/>
            </a:endParaRPr>
          </a:p>
        </p:txBody>
      </p:sp>
      <p:sp>
        <p:nvSpPr>
          <p:cNvPr id="374" name="Shape 17"/>
          <p:cNvSpPr/>
          <p:nvPr/>
        </p:nvSpPr>
        <p:spPr>
          <a:xfrm>
            <a:off x="1042200" y="3090600"/>
            <a:ext cx="360" cy="25596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75" name="Shape 18"/>
          <p:cNvSpPr/>
          <p:nvPr/>
        </p:nvSpPr>
        <p:spPr>
          <a:xfrm>
            <a:off x="914400" y="3346560"/>
            <a:ext cx="255600" cy="255600"/>
          </a:xfrm>
          <a:prstGeom prst="ellipse">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76" name="Text 19"/>
          <p:cNvSpPr/>
          <p:nvPr/>
        </p:nvSpPr>
        <p:spPr>
          <a:xfrm>
            <a:off x="914400" y="339696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2</a:t>
            </a:r>
            <a:endParaRPr b="0" lang="en-US" sz="1600" spc="-1" strike="noStrike">
              <a:solidFill>
                <a:srgbClr val="ffffff"/>
              </a:solidFill>
              <a:latin typeface="Arial"/>
            </a:endParaRPr>
          </a:p>
        </p:txBody>
      </p:sp>
      <p:sp>
        <p:nvSpPr>
          <p:cNvPr id="377" name="Text 20"/>
          <p:cNvSpPr/>
          <p:nvPr/>
        </p:nvSpPr>
        <p:spPr>
          <a:xfrm>
            <a:off x="1371600" y="334656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Open Overview → detail dashboard</a:t>
            </a:r>
            <a:endParaRPr b="0" lang="en-US" sz="1600" spc="-1" strike="noStrike">
              <a:solidFill>
                <a:srgbClr val="ffffff"/>
              </a:solidFill>
              <a:latin typeface="Arial"/>
            </a:endParaRPr>
          </a:p>
        </p:txBody>
      </p:sp>
      <p:sp>
        <p:nvSpPr>
          <p:cNvPr id="378" name="Shape 21"/>
          <p:cNvSpPr/>
          <p:nvPr/>
        </p:nvSpPr>
        <p:spPr>
          <a:xfrm>
            <a:off x="1042200" y="3602520"/>
            <a:ext cx="360" cy="25596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79" name="Shape 22"/>
          <p:cNvSpPr/>
          <p:nvPr/>
        </p:nvSpPr>
        <p:spPr>
          <a:xfrm>
            <a:off x="914400" y="3858840"/>
            <a:ext cx="255600" cy="255600"/>
          </a:xfrm>
          <a:prstGeom prst="ellipse">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80" name="Text 23"/>
          <p:cNvSpPr/>
          <p:nvPr/>
        </p:nvSpPr>
        <p:spPr>
          <a:xfrm>
            <a:off x="914400" y="390924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3</a:t>
            </a:r>
            <a:endParaRPr b="0" lang="en-US" sz="1600" spc="-1" strike="noStrike">
              <a:solidFill>
                <a:srgbClr val="ffffff"/>
              </a:solidFill>
              <a:latin typeface="Arial"/>
            </a:endParaRPr>
          </a:p>
        </p:txBody>
      </p:sp>
      <p:sp>
        <p:nvSpPr>
          <p:cNvPr id="381" name="Text 24"/>
          <p:cNvSpPr/>
          <p:nvPr/>
        </p:nvSpPr>
        <p:spPr>
          <a:xfrm>
            <a:off x="1371600" y="385884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Find first degraded service/stage</a:t>
            </a:r>
            <a:endParaRPr b="0" lang="en-US" sz="1600" spc="-1" strike="noStrike">
              <a:solidFill>
                <a:srgbClr val="ffffff"/>
              </a:solidFill>
              <a:latin typeface="Arial"/>
            </a:endParaRPr>
          </a:p>
        </p:txBody>
      </p:sp>
      <p:sp>
        <p:nvSpPr>
          <p:cNvPr id="382" name="Shape 25"/>
          <p:cNvSpPr/>
          <p:nvPr/>
        </p:nvSpPr>
        <p:spPr>
          <a:xfrm>
            <a:off x="1042200" y="4114800"/>
            <a:ext cx="360" cy="25596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83" name="Shape 26"/>
          <p:cNvSpPr/>
          <p:nvPr/>
        </p:nvSpPr>
        <p:spPr>
          <a:xfrm>
            <a:off x="914400" y="4370760"/>
            <a:ext cx="255600" cy="255600"/>
          </a:xfrm>
          <a:prstGeom prst="ellipse">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84" name="Text 27"/>
          <p:cNvSpPr/>
          <p:nvPr/>
        </p:nvSpPr>
        <p:spPr>
          <a:xfrm>
            <a:off x="914400" y="442116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4</a:t>
            </a:r>
            <a:endParaRPr b="0" lang="en-US" sz="1600" spc="-1" strike="noStrike">
              <a:solidFill>
                <a:srgbClr val="ffffff"/>
              </a:solidFill>
              <a:latin typeface="Arial"/>
            </a:endParaRPr>
          </a:p>
        </p:txBody>
      </p:sp>
      <p:sp>
        <p:nvSpPr>
          <p:cNvPr id="385" name="Text 28"/>
          <p:cNvSpPr/>
          <p:nvPr/>
        </p:nvSpPr>
        <p:spPr>
          <a:xfrm>
            <a:off x="1371600" y="437076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Open Tempo exemplar &amp; correlate changes</a:t>
            </a:r>
            <a:endParaRPr b="0" lang="en-US" sz="1600" spc="-1" strike="noStrike">
              <a:solidFill>
                <a:srgbClr val="ffffff"/>
              </a:solidFill>
              <a:latin typeface="Arial"/>
            </a:endParaRPr>
          </a:p>
        </p:txBody>
      </p:sp>
      <p:sp>
        <p:nvSpPr>
          <p:cNvPr id="386" name="Shape 29"/>
          <p:cNvSpPr/>
          <p:nvPr/>
        </p:nvSpPr>
        <p:spPr>
          <a:xfrm>
            <a:off x="1042200" y="4626720"/>
            <a:ext cx="360" cy="25596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87" name="Shape 30"/>
          <p:cNvSpPr/>
          <p:nvPr/>
        </p:nvSpPr>
        <p:spPr>
          <a:xfrm>
            <a:off x="914400" y="4883040"/>
            <a:ext cx="255600" cy="255600"/>
          </a:xfrm>
          <a:prstGeom prst="ellipse">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88" name="Text 31"/>
          <p:cNvSpPr/>
          <p:nvPr/>
        </p:nvSpPr>
        <p:spPr>
          <a:xfrm>
            <a:off x="914400" y="493308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5</a:t>
            </a:r>
            <a:endParaRPr b="0" lang="en-US" sz="1600" spc="-1" strike="noStrike">
              <a:solidFill>
                <a:srgbClr val="ffffff"/>
              </a:solidFill>
              <a:latin typeface="Arial"/>
            </a:endParaRPr>
          </a:p>
        </p:txBody>
      </p:sp>
      <p:sp>
        <p:nvSpPr>
          <p:cNvPr id="389" name="Text 32"/>
          <p:cNvSpPr/>
          <p:nvPr/>
        </p:nvSpPr>
        <p:spPr>
          <a:xfrm>
            <a:off x="1371600" y="488304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Mitigate within owner-approved procedure</a:t>
            </a:r>
            <a:endParaRPr b="0" lang="en-US" sz="1600" spc="-1" strike="noStrike">
              <a:solidFill>
                <a:srgbClr val="ffffff"/>
              </a:solidFill>
              <a:latin typeface="Arial"/>
            </a:endParaRPr>
          </a:p>
        </p:txBody>
      </p:sp>
      <p:sp>
        <p:nvSpPr>
          <p:cNvPr id="390" name="Shape 33"/>
          <p:cNvSpPr/>
          <p:nvPr/>
        </p:nvSpPr>
        <p:spPr>
          <a:xfrm>
            <a:off x="1042200" y="5138640"/>
            <a:ext cx="360" cy="256320"/>
          </a:xfrm>
          <a:prstGeom prst="line">
            <a:avLst/>
          </a:prstGeom>
          <a:ln w="19050">
            <a:solidFill>
              <a:srgbClr val="1b3445"/>
            </a:solidFill>
            <a:round/>
          </a:ln>
        </p:spPr>
        <p:style>
          <a:lnRef idx="0"/>
          <a:fillRef idx="0"/>
          <a:effectRef idx="0"/>
          <a:fontRef idx="minor"/>
        </p:style>
        <p:txBody>
          <a:bodyPr lIns="88920" rIns="88920" tIns="45000" bIns="45000" anchor="t">
            <a:noAutofit/>
          </a:bodyPr>
          <a:p>
            <a:endParaRPr b="0" lang="en-US" sz="1800" spc="-1" strike="noStrike">
              <a:solidFill>
                <a:schemeClr val="dk1"/>
              </a:solidFill>
              <a:latin typeface="Aptos"/>
            </a:endParaRPr>
          </a:p>
        </p:txBody>
      </p:sp>
      <p:sp>
        <p:nvSpPr>
          <p:cNvPr id="391" name="Shape 34"/>
          <p:cNvSpPr/>
          <p:nvPr/>
        </p:nvSpPr>
        <p:spPr>
          <a:xfrm>
            <a:off x="914400" y="5394960"/>
            <a:ext cx="255600" cy="255600"/>
          </a:xfrm>
          <a:prstGeom prst="ellipse">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92" name="Text 35"/>
          <p:cNvSpPr/>
          <p:nvPr/>
        </p:nvSpPr>
        <p:spPr>
          <a:xfrm>
            <a:off x="914400" y="5445360"/>
            <a:ext cx="25560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6</a:t>
            </a:r>
            <a:endParaRPr b="0" lang="en-US" sz="1600" spc="-1" strike="noStrike">
              <a:solidFill>
                <a:srgbClr val="ffffff"/>
              </a:solidFill>
              <a:latin typeface="Arial"/>
            </a:endParaRPr>
          </a:p>
        </p:txBody>
      </p:sp>
      <p:sp>
        <p:nvSpPr>
          <p:cNvPr id="393" name="Text 36"/>
          <p:cNvSpPr/>
          <p:nvPr/>
        </p:nvSpPr>
        <p:spPr>
          <a:xfrm>
            <a:off x="1371600" y="5394960"/>
            <a:ext cx="96008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600" spc="-1" strike="noStrike">
                <a:solidFill>
                  <a:srgbClr val="f3f8fb"/>
                </a:solidFill>
                <a:latin typeface="Aptos"/>
              </a:rPr>
              <a:t>Verify SLI recovery + no retry/backlog wave</a:t>
            </a:r>
            <a:endParaRPr b="0" lang="en-US" sz="1600" spc="-1" strike="noStrike">
              <a:solidFill>
                <a:srgbClr val="ffffff"/>
              </a:solidFill>
              <a:latin typeface="Arial"/>
            </a:endParaRPr>
          </a:p>
        </p:txBody>
      </p:sp>
      <p:sp>
        <p:nvSpPr>
          <p:cNvPr id="394" name="PlaceHolder 1"/>
          <p:cNvSpPr>
            <a:spLocks noGrp="1"/>
          </p:cNvSpPr>
          <p:nvPr>
            <p:ph type="sldNum" idx="14"/>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6EF709BB-EE8A-4949-ABAB-DBCCBDF289E8}" type="slidenum">
              <a:rPr b="0" lang="en-US" sz="800" spc="-1" strike="noStrike">
                <a:solidFill>
                  <a:srgbClr val="678296"/>
                </a:solidFill>
                <a:latin typeface="Aptos"/>
                <a:ea typeface="Aptos"/>
              </a:rPr>
              <a:t>12</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12 — Deployment profiles &amp; validation gates</a:t>
            </a:r>
            <a:endParaRPr b="0" lang="en-US" sz="2800" spc="-1" strike="noStrike">
              <a:solidFill>
                <a:srgbClr val="ffffff"/>
              </a:solidFill>
              <a:latin typeface="Arial"/>
            </a:endParaRPr>
          </a:p>
        </p:txBody>
      </p:sp>
      <p:sp>
        <p:nvSpPr>
          <p:cNvPr id="396"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500" spc="-1" strike="noStrike">
                <a:solidFill>
                  <a:srgbClr val="9ab0be"/>
                </a:solidFill>
                <a:latin typeface="Aptos"/>
              </a:rPr>
              <a:t>Config được render theo environment; generated artifacts không phải source of truth.</a:t>
            </a:r>
            <a:endParaRPr b="0" lang="en-US" sz="1500" spc="-1" strike="noStrike">
              <a:solidFill>
                <a:srgbClr val="ffffff"/>
              </a:solidFill>
              <a:latin typeface="Arial"/>
            </a:endParaRPr>
          </a:p>
        </p:txBody>
      </p:sp>
      <p:sp>
        <p:nvSpPr>
          <p:cNvPr id="397" name="Shape 2"/>
          <p:cNvSpPr/>
          <p:nvPr/>
        </p:nvSpPr>
        <p:spPr>
          <a:xfrm>
            <a:off x="685800" y="1371600"/>
            <a:ext cx="333720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98" name="Shape 3"/>
          <p:cNvSpPr/>
          <p:nvPr/>
        </p:nvSpPr>
        <p:spPr>
          <a:xfrm>
            <a:off x="685800" y="1371600"/>
            <a:ext cx="50040" cy="201132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399" name="Text 4"/>
          <p:cNvSpPr/>
          <p:nvPr/>
        </p:nvSpPr>
        <p:spPr>
          <a:xfrm>
            <a:off x="887040" y="1536120"/>
            <a:ext cx="2971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Profiles</a:t>
            </a:r>
            <a:endParaRPr b="0" lang="en-US" sz="1600" spc="-1" strike="noStrike">
              <a:solidFill>
                <a:srgbClr val="ffffff"/>
              </a:solidFill>
              <a:latin typeface="Arial"/>
            </a:endParaRPr>
          </a:p>
        </p:txBody>
      </p:sp>
      <p:sp>
        <p:nvSpPr>
          <p:cNvPr id="400" name="Text 5"/>
          <p:cNvSpPr/>
          <p:nvPr/>
        </p:nvSpPr>
        <p:spPr>
          <a:xfrm>
            <a:off x="905400" y="1901880"/>
            <a:ext cx="291672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local / UAT / production renderer</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Traffic profiles: 20 / 100 / 500 / 2000 TPS</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Peak có thể nén 1 ngày synthetic vào 1 giờ</a:t>
            </a:r>
            <a:endParaRPr b="0" lang="en-US" sz="1400" spc="-1" strike="noStrike">
              <a:solidFill>
                <a:srgbClr val="ffffff"/>
              </a:solidFill>
              <a:latin typeface="Arial"/>
            </a:endParaRPr>
          </a:p>
        </p:txBody>
      </p:sp>
      <p:sp>
        <p:nvSpPr>
          <p:cNvPr id="401" name="Shape 6"/>
          <p:cNvSpPr/>
          <p:nvPr/>
        </p:nvSpPr>
        <p:spPr>
          <a:xfrm>
            <a:off x="4407480" y="1371600"/>
            <a:ext cx="333720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02" name="Shape 7"/>
          <p:cNvSpPr/>
          <p:nvPr/>
        </p:nvSpPr>
        <p:spPr>
          <a:xfrm>
            <a:off x="4407480" y="1371600"/>
            <a:ext cx="50040" cy="201132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03" name="Text 8"/>
          <p:cNvSpPr/>
          <p:nvPr/>
        </p:nvSpPr>
        <p:spPr>
          <a:xfrm>
            <a:off x="4608720" y="1536120"/>
            <a:ext cx="2971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Generated stack</a:t>
            </a:r>
            <a:endParaRPr b="0" lang="en-US" sz="1600" spc="-1" strike="noStrike">
              <a:solidFill>
                <a:srgbClr val="ffffff"/>
              </a:solidFill>
              <a:latin typeface="Arial"/>
            </a:endParaRPr>
          </a:p>
        </p:txBody>
      </p:sp>
      <p:sp>
        <p:nvSpPr>
          <p:cNvPr id="404" name="Text 9"/>
          <p:cNvSpPr/>
          <p:nvPr/>
        </p:nvSpPr>
        <p:spPr>
          <a:xfrm>
            <a:off x="4626720" y="1901880"/>
            <a:ext cx="291672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Docker Compose</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Prometheus config/rules</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Alertmanager config</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Grafana datasource</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resolved environment config</a:t>
            </a:r>
            <a:endParaRPr b="0" lang="en-US" sz="1400" spc="-1" strike="noStrike">
              <a:solidFill>
                <a:srgbClr val="ffffff"/>
              </a:solidFill>
              <a:latin typeface="Arial"/>
            </a:endParaRPr>
          </a:p>
        </p:txBody>
      </p:sp>
      <p:sp>
        <p:nvSpPr>
          <p:cNvPr id="405" name="Shape 10"/>
          <p:cNvSpPr/>
          <p:nvPr/>
        </p:nvSpPr>
        <p:spPr>
          <a:xfrm>
            <a:off x="8129160" y="1371600"/>
            <a:ext cx="333720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06" name="Shape 11"/>
          <p:cNvSpPr/>
          <p:nvPr/>
        </p:nvSpPr>
        <p:spPr>
          <a:xfrm>
            <a:off x="8129160" y="1371600"/>
            <a:ext cx="50040" cy="2011320"/>
          </a:xfrm>
          <a:prstGeom prst="rect">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07" name="Text 12"/>
          <p:cNvSpPr/>
          <p:nvPr/>
        </p:nvSpPr>
        <p:spPr>
          <a:xfrm>
            <a:off x="8330040" y="1536120"/>
            <a:ext cx="297144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Secrets &amp; promotion</a:t>
            </a:r>
            <a:endParaRPr b="0" lang="en-US" sz="1600" spc="-1" strike="noStrike">
              <a:solidFill>
                <a:srgbClr val="ffffff"/>
              </a:solidFill>
              <a:latin typeface="Arial"/>
            </a:endParaRPr>
          </a:p>
        </p:txBody>
      </p:sp>
      <p:sp>
        <p:nvSpPr>
          <p:cNvPr id="408" name="Text 13"/>
          <p:cNvSpPr/>
          <p:nvPr/>
        </p:nvSpPr>
        <p:spPr>
          <a:xfrm>
            <a:off x="8348400" y="1901880"/>
            <a:ext cx="2916720" cy="1352880"/>
          </a:xfrm>
          <a:prstGeom prst="rect">
            <a:avLst/>
          </a:prstGeom>
          <a:noFill/>
          <a:ln w="0">
            <a:noFill/>
          </a:ln>
        </p:spPr>
        <p:style>
          <a:lnRef idx="0"/>
          <a:fillRef idx="0"/>
          <a:effectRef idx="0"/>
          <a:fontRef idx="minor"/>
        </p:style>
        <p:txBody>
          <a:bodyPr lIns="360" rIns="360" tIns="360" bIns="360" anchor="ctr">
            <a:normAutofit/>
          </a:bodyPr>
          <a:p>
            <a:pPr marL="152280" indent="-152280" defTabSz="914400">
              <a:lnSpc>
                <a:spcPct val="100000"/>
              </a:lnSpc>
              <a:buClr>
                <a:srgbClr val="9ab0be"/>
              </a:buClr>
              <a:buFont typeface="Symbol" charset="2"/>
              <a:buChar char=""/>
            </a:pPr>
            <a:r>
              <a:rPr b="0" lang="en-US" sz="1400" spc="-1" strike="noStrike">
                <a:solidFill>
                  <a:srgbClr val="9ab0be"/>
                </a:solidFill>
                <a:latin typeface="Aptos"/>
              </a:rPr>
              <a:t>Secret không nằm trong config JSON</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Production dùng Secret manager / K8s Secret</a:t>
            </a:r>
            <a:endParaRPr b="0" lang="en-US" sz="1400" spc="-1" strike="noStrike">
              <a:solidFill>
                <a:srgbClr val="ffffff"/>
              </a:solidFill>
              <a:latin typeface="Arial"/>
            </a:endParaRPr>
          </a:p>
          <a:p>
            <a:pPr marL="152280" indent="-152280" defTabSz="914400">
              <a:lnSpc>
                <a:spcPct val="100000"/>
              </a:lnSpc>
              <a:buClr>
                <a:srgbClr val="9ab0be"/>
              </a:buClr>
              <a:buFont typeface="Symbol" charset="2"/>
              <a:buChar char=""/>
            </a:pPr>
            <a:r>
              <a:rPr b="0" lang="en-US" sz="1400" spc="-1" strike="noStrike">
                <a:solidFill>
                  <a:srgbClr val="9ab0be"/>
                </a:solidFill>
                <a:latin typeface="Aptos"/>
              </a:rPr>
              <a:t>Không chỉnh generated/* thủ công</a:t>
            </a:r>
            <a:endParaRPr b="0" lang="en-US" sz="1400" spc="-1" strike="noStrike">
              <a:solidFill>
                <a:srgbClr val="ffffff"/>
              </a:solidFill>
              <a:latin typeface="Arial"/>
            </a:endParaRPr>
          </a:p>
        </p:txBody>
      </p:sp>
      <p:sp>
        <p:nvSpPr>
          <p:cNvPr id="409" name="Shape 14"/>
          <p:cNvSpPr/>
          <p:nvPr/>
        </p:nvSpPr>
        <p:spPr>
          <a:xfrm>
            <a:off x="685800" y="3703320"/>
            <a:ext cx="10789560" cy="16639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10" name="Shape 15"/>
          <p:cNvSpPr/>
          <p:nvPr/>
        </p:nvSpPr>
        <p:spPr>
          <a:xfrm>
            <a:off x="685800" y="3703320"/>
            <a:ext cx="50040" cy="166392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11" name="Text 16"/>
          <p:cNvSpPr/>
          <p:nvPr/>
        </p:nvSpPr>
        <p:spPr>
          <a:xfrm>
            <a:off x="887040" y="3867840"/>
            <a:ext cx="104238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Quality gate</a:t>
            </a:r>
            <a:endParaRPr b="0" lang="en-US" sz="1600" spc="-1" strike="noStrike">
              <a:solidFill>
                <a:srgbClr val="ffffff"/>
              </a:solidFill>
              <a:latin typeface="Arial"/>
            </a:endParaRPr>
          </a:p>
        </p:txBody>
      </p:sp>
      <p:sp>
        <p:nvSpPr>
          <p:cNvPr id="412" name="Text 17"/>
          <p:cNvSpPr/>
          <p:nvPr/>
        </p:nvSpPr>
        <p:spPr>
          <a:xfrm>
            <a:off x="905400" y="4233600"/>
            <a:ext cx="10369080" cy="10054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250" spc="-1" strike="noStrike">
                <a:solidFill>
                  <a:srgbClr val="9ab0be"/>
                </a:solidFill>
                <a:latin typeface="Aptos"/>
              </a:rPr>
              <a:t>Python syntax/tests • dashboard JSON contract • Prometheus config/rules • 6 KPI rule tests • Alertmanager config • Docker Compose • smoke test. Không merge nếu validation fail.</a:t>
            </a:r>
            <a:endParaRPr b="0" lang="en-US" sz="1250" spc="-1" strike="noStrike">
              <a:solidFill>
                <a:srgbClr val="ffffff"/>
              </a:solidFill>
              <a:latin typeface="Arial"/>
            </a:endParaRPr>
          </a:p>
        </p:txBody>
      </p:sp>
      <p:sp>
        <p:nvSpPr>
          <p:cNvPr id="413" name="PlaceHolder 1"/>
          <p:cNvSpPr>
            <a:spLocks noGrp="1"/>
          </p:cNvSpPr>
          <p:nvPr>
            <p:ph type="sldNum" idx="15"/>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E04844A4-D6E6-4673-875F-915C1C7D1A1C}" type="slidenum">
              <a:rPr b="0" lang="en-US" sz="800" spc="-1" strike="noStrike">
                <a:solidFill>
                  <a:srgbClr val="678296"/>
                </a:solidFill>
                <a:latin typeface="Aptos"/>
                <a:ea typeface="Aptos"/>
              </a:rPr>
              <a:t>13</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13 — Những gì project đã hoàn thành</a:t>
            </a:r>
            <a:endParaRPr b="0" lang="en-US" sz="2800" spc="-1" strike="noStrike">
              <a:solidFill>
                <a:srgbClr val="ffffff"/>
              </a:solidFill>
              <a:latin typeface="Arial"/>
            </a:endParaRPr>
          </a:p>
        </p:txBody>
      </p:sp>
      <p:sp>
        <p:nvSpPr>
          <p:cNvPr id="415"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9ab0be"/>
                </a:solidFill>
                <a:latin typeface="Aptos"/>
              </a:rPr>
              <a:t>Các con số dưới đây là artifact version-controlled trong repo — không đồng nghĩa production readiness.</a:t>
            </a:r>
            <a:endParaRPr b="0" lang="en-US" sz="1400" spc="-1" strike="noStrike">
              <a:solidFill>
                <a:srgbClr val="ffffff"/>
              </a:solidFill>
              <a:latin typeface="Arial"/>
            </a:endParaRPr>
          </a:p>
        </p:txBody>
      </p:sp>
      <p:sp>
        <p:nvSpPr>
          <p:cNvPr id="416" name="Shape 2"/>
          <p:cNvSpPr/>
          <p:nvPr/>
        </p:nvSpPr>
        <p:spPr>
          <a:xfrm>
            <a:off x="777240" y="1417320"/>
            <a:ext cx="2377080" cy="1325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17" name="Text 3"/>
          <p:cNvSpPr/>
          <p:nvPr/>
        </p:nvSpPr>
        <p:spPr>
          <a:xfrm>
            <a:off x="941760" y="158184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2b4e6"/>
                </a:solidFill>
                <a:latin typeface="Aptos"/>
              </a:rPr>
              <a:t>9</a:t>
            </a:r>
            <a:endParaRPr b="0" lang="en-US" sz="2700" spc="-1" strike="noStrike">
              <a:solidFill>
                <a:srgbClr val="ffffff"/>
              </a:solidFill>
              <a:latin typeface="Arial"/>
            </a:endParaRPr>
          </a:p>
        </p:txBody>
      </p:sp>
      <p:sp>
        <p:nvSpPr>
          <p:cNvPr id="418" name="Text 4"/>
          <p:cNvSpPr/>
          <p:nvPr/>
        </p:nvSpPr>
        <p:spPr>
          <a:xfrm>
            <a:off x="941760" y="2094120"/>
            <a:ext cx="2048040" cy="557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Grafana dashboards</a:t>
            </a:r>
            <a:endParaRPr b="0" lang="en-US" sz="1600" spc="-1" strike="noStrike">
              <a:solidFill>
                <a:srgbClr val="ffffff"/>
              </a:solidFill>
              <a:latin typeface="Arial"/>
            </a:endParaRPr>
          </a:p>
        </p:txBody>
      </p:sp>
      <p:sp>
        <p:nvSpPr>
          <p:cNvPr id="419" name="Shape 5"/>
          <p:cNvSpPr/>
          <p:nvPr/>
        </p:nvSpPr>
        <p:spPr>
          <a:xfrm>
            <a:off x="3337560" y="1417320"/>
            <a:ext cx="2377080" cy="1325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20" name="Text 6"/>
          <p:cNvSpPr/>
          <p:nvPr/>
        </p:nvSpPr>
        <p:spPr>
          <a:xfrm>
            <a:off x="3502080" y="158184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19c3b1"/>
                </a:solidFill>
                <a:latin typeface="Aptos"/>
              </a:rPr>
              <a:t>83</a:t>
            </a:r>
            <a:endParaRPr b="0" lang="en-US" sz="2700" spc="-1" strike="noStrike">
              <a:solidFill>
                <a:srgbClr val="ffffff"/>
              </a:solidFill>
              <a:latin typeface="Arial"/>
            </a:endParaRPr>
          </a:p>
        </p:txBody>
      </p:sp>
      <p:sp>
        <p:nvSpPr>
          <p:cNvPr id="421" name="Text 7"/>
          <p:cNvSpPr/>
          <p:nvPr/>
        </p:nvSpPr>
        <p:spPr>
          <a:xfrm>
            <a:off x="3502080" y="2094120"/>
            <a:ext cx="2048040" cy="557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dashboard panels</a:t>
            </a:r>
            <a:endParaRPr b="0" lang="en-US" sz="1600" spc="-1" strike="noStrike">
              <a:solidFill>
                <a:srgbClr val="ffffff"/>
              </a:solidFill>
              <a:latin typeface="Arial"/>
            </a:endParaRPr>
          </a:p>
        </p:txBody>
      </p:sp>
      <p:sp>
        <p:nvSpPr>
          <p:cNvPr id="422" name="Shape 8"/>
          <p:cNvSpPr/>
          <p:nvPr/>
        </p:nvSpPr>
        <p:spPr>
          <a:xfrm>
            <a:off x="5897880" y="1417320"/>
            <a:ext cx="2377080" cy="1325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23" name="Text 9"/>
          <p:cNvSpPr/>
          <p:nvPr/>
        </p:nvSpPr>
        <p:spPr>
          <a:xfrm>
            <a:off x="6062400" y="158184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48d597"/>
                </a:solidFill>
                <a:latin typeface="Aptos"/>
              </a:rPr>
              <a:t>62</a:t>
            </a:r>
            <a:endParaRPr b="0" lang="en-US" sz="2700" spc="-1" strike="noStrike">
              <a:solidFill>
                <a:srgbClr val="ffffff"/>
              </a:solidFill>
              <a:latin typeface="Arial"/>
            </a:endParaRPr>
          </a:p>
        </p:txBody>
      </p:sp>
      <p:sp>
        <p:nvSpPr>
          <p:cNvPr id="424" name="Text 10"/>
          <p:cNvSpPr/>
          <p:nvPr/>
        </p:nvSpPr>
        <p:spPr>
          <a:xfrm>
            <a:off x="6062400" y="2094120"/>
            <a:ext cx="2048040" cy="557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recording rules</a:t>
            </a:r>
            <a:endParaRPr b="0" lang="en-US" sz="1600" spc="-1" strike="noStrike">
              <a:solidFill>
                <a:srgbClr val="ffffff"/>
              </a:solidFill>
              <a:latin typeface="Arial"/>
            </a:endParaRPr>
          </a:p>
        </p:txBody>
      </p:sp>
      <p:sp>
        <p:nvSpPr>
          <p:cNvPr id="425" name="Shape 11"/>
          <p:cNvSpPr/>
          <p:nvPr/>
        </p:nvSpPr>
        <p:spPr>
          <a:xfrm>
            <a:off x="8458200" y="1417320"/>
            <a:ext cx="2377080" cy="132552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26" name="Text 12"/>
          <p:cNvSpPr/>
          <p:nvPr/>
        </p:nvSpPr>
        <p:spPr>
          <a:xfrm>
            <a:off x="8622720" y="1581840"/>
            <a:ext cx="204804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700" spc="-1" strike="noStrike">
                <a:solidFill>
                  <a:srgbClr val="f5c451"/>
                </a:solidFill>
                <a:latin typeface="Aptos"/>
              </a:rPr>
              <a:t>17</a:t>
            </a:r>
            <a:endParaRPr b="0" lang="en-US" sz="2700" spc="-1" strike="noStrike">
              <a:solidFill>
                <a:srgbClr val="ffffff"/>
              </a:solidFill>
              <a:latin typeface="Arial"/>
            </a:endParaRPr>
          </a:p>
        </p:txBody>
      </p:sp>
      <p:sp>
        <p:nvSpPr>
          <p:cNvPr id="427" name="Text 13"/>
          <p:cNvSpPr/>
          <p:nvPr/>
        </p:nvSpPr>
        <p:spPr>
          <a:xfrm>
            <a:off x="8622720" y="2094120"/>
            <a:ext cx="2048040" cy="557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alert rules</a:t>
            </a:r>
            <a:endParaRPr b="0" lang="en-US" sz="1600" spc="-1" strike="noStrike">
              <a:solidFill>
                <a:srgbClr val="ffffff"/>
              </a:solidFill>
              <a:latin typeface="Arial"/>
            </a:endParaRPr>
          </a:p>
        </p:txBody>
      </p:sp>
      <p:sp>
        <p:nvSpPr>
          <p:cNvPr id="428" name="Shape 14"/>
          <p:cNvSpPr/>
          <p:nvPr/>
        </p:nvSpPr>
        <p:spPr>
          <a:xfrm>
            <a:off x="777240" y="3127320"/>
            <a:ext cx="324576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29" name="Shape 15"/>
          <p:cNvSpPr/>
          <p:nvPr/>
        </p:nvSpPr>
        <p:spPr>
          <a:xfrm>
            <a:off x="777240" y="3127320"/>
            <a:ext cx="50040" cy="2011320"/>
          </a:xfrm>
          <a:prstGeom prst="rect">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0" name="Text 16"/>
          <p:cNvSpPr/>
          <p:nvPr/>
        </p:nvSpPr>
        <p:spPr>
          <a:xfrm>
            <a:off x="978480" y="3291840"/>
            <a:ext cx="28800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Synthetic simulator</a:t>
            </a:r>
            <a:endParaRPr b="0" lang="en-US" sz="1600" spc="-1" strike="noStrike">
              <a:solidFill>
                <a:srgbClr val="ffffff"/>
              </a:solidFill>
              <a:latin typeface="Arial"/>
            </a:endParaRPr>
          </a:p>
        </p:txBody>
      </p:sp>
      <p:sp>
        <p:nvSpPr>
          <p:cNvPr id="431" name="Text 17"/>
          <p:cNvSpPr/>
          <p:nvPr/>
        </p:nvSpPr>
        <p:spPr>
          <a:xfrm>
            <a:off x="996840" y="3657600"/>
            <a:ext cx="2825280" cy="13528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AuthN • OTP • token • AuthZ • HTTP • dependencies • sampled OTP traces</a:t>
            </a:r>
            <a:endParaRPr b="0" lang="en-US" sz="1400" spc="-1" strike="noStrike">
              <a:solidFill>
                <a:srgbClr val="ffffff"/>
              </a:solidFill>
              <a:latin typeface="Arial"/>
            </a:endParaRPr>
          </a:p>
        </p:txBody>
      </p:sp>
      <p:sp>
        <p:nvSpPr>
          <p:cNvPr id="432" name="Shape 18"/>
          <p:cNvSpPr/>
          <p:nvPr/>
        </p:nvSpPr>
        <p:spPr>
          <a:xfrm>
            <a:off x="4407480" y="3127320"/>
            <a:ext cx="324576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3" name="Shape 19"/>
          <p:cNvSpPr/>
          <p:nvPr/>
        </p:nvSpPr>
        <p:spPr>
          <a:xfrm>
            <a:off x="4407480" y="3127320"/>
            <a:ext cx="50040" cy="2011320"/>
          </a:xfrm>
          <a:prstGeom prst="rect">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4" name="Text 20"/>
          <p:cNvSpPr/>
          <p:nvPr/>
        </p:nvSpPr>
        <p:spPr>
          <a:xfrm>
            <a:off x="4608720" y="3291840"/>
            <a:ext cx="28800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Observability stack</a:t>
            </a:r>
            <a:endParaRPr b="0" lang="en-US" sz="1600" spc="-1" strike="noStrike">
              <a:solidFill>
                <a:srgbClr val="ffffff"/>
              </a:solidFill>
              <a:latin typeface="Arial"/>
            </a:endParaRPr>
          </a:p>
        </p:txBody>
      </p:sp>
      <p:sp>
        <p:nvSpPr>
          <p:cNvPr id="435" name="Text 21"/>
          <p:cNvSpPr/>
          <p:nvPr/>
        </p:nvSpPr>
        <p:spPr>
          <a:xfrm>
            <a:off x="4626720" y="3657600"/>
            <a:ext cx="2825280" cy="13528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Prometheus • Grafana • Alertmanager • OpenTelemetry Collector • Tempo</a:t>
            </a:r>
            <a:endParaRPr b="0" lang="en-US" sz="1400" spc="-1" strike="noStrike">
              <a:solidFill>
                <a:srgbClr val="ffffff"/>
              </a:solidFill>
              <a:latin typeface="Arial"/>
            </a:endParaRPr>
          </a:p>
        </p:txBody>
      </p:sp>
      <p:sp>
        <p:nvSpPr>
          <p:cNvPr id="436" name="Shape 22"/>
          <p:cNvSpPr/>
          <p:nvPr/>
        </p:nvSpPr>
        <p:spPr>
          <a:xfrm>
            <a:off x="8037720" y="3127320"/>
            <a:ext cx="3245760" cy="2011320"/>
          </a:xfrm>
          <a:prstGeom prst="roundRect">
            <a:avLst>
              <a:gd name="adj" fmla="val 16667"/>
            </a:avLst>
          </a:prstGeom>
          <a:solidFill>
            <a:srgbClr val="0d1e2b"/>
          </a:solidFill>
          <a:ln w="12700">
            <a:solidFill>
              <a:srgbClr val="1b3445"/>
            </a:solidFill>
            <a:round/>
          </a:ln>
          <a:effectLst>
            <a:outerShdw algn="bl" blurRad="12600" dir="2700000" dist="50402" kx="0" ky="0" rotWithShape="0" sx="100000" sy="100000">
              <a:srgbClr val="000000">
                <a:alpha val="15000"/>
              </a:srgbClr>
            </a:outerShdw>
          </a:effectLst>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7" name="Shape 23"/>
          <p:cNvSpPr/>
          <p:nvPr/>
        </p:nvSpPr>
        <p:spPr>
          <a:xfrm>
            <a:off x="8037720" y="3127320"/>
            <a:ext cx="50040" cy="2011320"/>
          </a:xfrm>
          <a:prstGeom prst="rect">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38" name="Text 24"/>
          <p:cNvSpPr/>
          <p:nvPr/>
        </p:nvSpPr>
        <p:spPr>
          <a:xfrm>
            <a:off x="8238600" y="3291840"/>
            <a:ext cx="288000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Operational artifacts</a:t>
            </a:r>
            <a:endParaRPr b="0" lang="en-US" sz="1600" spc="-1" strike="noStrike">
              <a:solidFill>
                <a:srgbClr val="ffffff"/>
              </a:solidFill>
              <a:latin typeface="Arial"/>
            </a:endParaRPr>
          </a:p>
        </p:txBody>
      </p:sp>
      <p:sp>
        <p:nvSpPr>
          <p:cNvPr id="439" name="Text 25"/>
          <p:cNvSpPr/>
          <p:nvPr/>
        </p:nvSpPr>
        <p:spPr>
          <a:xfrm>
            <a:off x="8256960" y="3657600"/>
            <a:ext cx="2825280" cy="1352880"/>
          </a:xfrm>
          <a:prstGeom prst="rect">
            <a:avLst/>
          </a:prstGeom>
          <a:noFill/>
          <a:ln w="0">
            <a:noFill/>
          </a:ln>
        </p:spPr>
        <p:style>
          <a:lnRef idx="0"/>
          <a:fillRef idx="0"/>
          <a:effectRef idx="0"/>
          <a:fontRef idx="minor"/>
        </p:style>
        <p:txBody>
          <a:bodyPr lIns="360" rIns="360" tIns="360" bIns="360" anchor="t">
            <a:normAutofit/>
          </a:bodyPr>
          <a:p>
            <a:pPr defTabSz="914400">
              <a:lnSpc>
                <a:spcPct val="100000"/>
              </a:lnSpc>
              <a:tabLst>
                <a:tab algn="l" pos="0"/>
              </a:tabLst>
            </a:pPr>
            <a:r>
              <a:rPr b="0" lang="en-US" sz="1400" spc="-1" strike="noStrike">
                <a:solidFill>
                  <a:srgbClr val="9ab0be"/>
                </a:solidFill>
                <a:latin typeface="Aptos"/>
              </a:rPr>
              <a:t>KPI contract • runbook • environment renderer • rule tests • smoke scripts</a:t>
            </a:r>
            <a:endParaRPr b="0" lang="en-US" sz="1400" spc="-1" strike="noStrike">
              <a:solidFill>
                <a:srgbClr val="ffffff"/>
              </a:solidFill>
              <a:latin typeface="Arial"/>
            </a:endParaRPr>
          </a:p>
        </p:txBody>
      </p:sp>
      <p:sp>
        <p:nvSpPr>
          <p:cNvPr id="440" name="Text 26"/>
          <p:cNvSpPr/>
          <p:nvPr/>
        </p:nvSpPr>
        <p:spPr>
          <a:xfrm>
            <a:off x="914400" y="5650920"/>
            <a:ext cx="1033236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400" spc="-1" strike="noStrike">
                <a:solidFill>
                  <a:srgbClr val="9ab0be"/>
                </a:solidFill>
                <a:latin typeface="Aptos"/>
              </a:rPr>
              <a:t>Repo hiện là một baseline local/UAT theo hướng production — đủ để review contract, demo failure scenarios và chuẩn bị instrumentation thật.</a:t>
            </a:r>
            <a:endParaRPr b="0" lang="en-US" sz="1400" spc="-1" strike="noStrike">
              <a:solidFill>
                <a:srgbClr val="ffffff"/>
              </a:solidFill>
              <a:latin typeface="Arial"/>
            </a:endParaRPr>
          </a:p>
        </p:txBody>
      </p:sp>
      <p:sp>
        <p:nvSpPr>
          <p:cNvPr id="441" name="PlaceHolder 1"/>
          <p:cNvSpPr>
            <a:spLocks noGrp="1"/>
          </p:cNvSpPr>
          <p:nvPr>
            <p:ph type="sldNum" idx="16"/>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87DD4412-0E49-471C-985E-3E16EB13893B}" type="slidenum">
              <a:rPr b="0" lang="en-US" sz="800" spc="-1" strike="noStrike">
                <a:solidFill>
                  <a:srgbClr val="678296"/>
                </a:solidFill>
                <a:latin typeface="Aptos"/>
                <a:ea typeface="Aptos"/>
              </a:rPr>
              <a:t>14</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Text 0"/>
          <p:cNvSpPr/>
          <p:nvPr/>
        </p:nvSpPr>
        <p:spPr>
          <a:xfrm>
            <a:off x="548640" y="347400"/>
            <a:ext cx="11063880" cy="475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3f8fb"/>
                </a:solidFill>
                <a:latin typeface="Aptos Display"/>
                <a:ea typeface="Aptos Display"/>
              </a:rPr>
              <a:t>14 — Roadmap tới UAT / Production</a:t>
            </a:r>
            <a:endParaRPr b="0" lang="en-US" sz="2800" spc="-1" strike="noStrike">
              <a:solidFill>
                <a:srgbClr val="ffffff"/>
              </a:solidFill>
              <a:latin typeface="Arial"/>
            </a:endParaRPr>
          </a:p>
        </p:txBody>
      </p:sp>
      <p:sp>
        <p:nvSpPr>
          <p:cNvPr id="443" name="Text 1"/>
          <p:cNvSpPr/>
          <p:nvPr/>
        </p:nvSpPr>
        <p:spPr>
          <a:xfrm>
            <a:off x="567000" y="896040"/>
            <a:ext cx="10789560" cy="310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pc="-1" strike="noStrike">
                <a:solidFill>
                  <a:srgbClr val="9ab0be"/>
                </a:solidFill>
                <a:latin typeface="Aptos"/>
              </a:rPr>
              <a:t>Bước tiếp theo không phải thêm nhiều dashboard hơn, mà là thay synthetic assumptions bằng evidence và ownership thật.</a:t>
            </a:r>
            <a:endParaRPr b="0" lang="en-US" sz="1400" spc="-1" strike="noStrike">
              <a:solidFill>
                <a:srgbClr val="ffffff"/>
              </a:solidFill>
              <a:latin typeface="Arial"/>
            </a:endParaRPr>
          </a:p>
        </p:txBody>
      </p:sp>
      <p:sp>
        <p:nvSpPr>
          <p:cNvPr id="444" name="Shape 2"/>
          <p:cNvSpPr/>
          <p:nvPr/>
        </p:nvSpPr>
        <p:spPr>
          <a:xfrm>
            <a:off x="822960" y="141732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45" name="Shape 3"/>
          <p:cNvSpPr/>
          <p:nvPr/>
        </p:nvSpPr>
        <p:spPr>
          <a:xfrm>
            <a:off x="1005840" y="1563480"/>
            <a:ext cx="347040" cy="347040"/>
          </a:xfrm>
          <a:prstGeom prst="ellipse">
            <a:avLst/>
          </a:prstGeom>
          <a:solidFill>
            <a:srgbClr val="19c3b1"/>
          </a:solidFill>
          <a:ln w="12700">
            <a:solidFill>
              <a:srgbClr val="19c3b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46" name="Text 4"/>
          <p:cNvSpPr/>
          <p:nvPr/>
        </p:nvSpPr>
        <p:spPr>
          <a:xfrm>
            <a:off x="1005840" y="164124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1</a:t>
            </a:r>
            <a:endParaRPr b="0" lang="en-US" sz="1600" spc="-1" strike="noStrike">
              <a:solidFill>
                <a:srgbClr val="ffffff"/>
              </a:solidFill>
              <a:latin typeface="Arial"/>
            </a:endParaRPr>
          </a:p>
        </p:txBody>
      </p:sp>
      <p:sp>
        <p:nvSpPr>
          <p:cNvPr id="447" name="Text 5"/>
          <p:cNvSpPr/>
          <p:nvPr/>
        </p:nvSpPr>
        <p:spPr>
          <a:xfrm>
            <a:off x="1572840" y="155448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Owner approval</a:t>
            </a:r>
            <a:endParaRPr b="0" lang="en-US" sz="1600" spc="-1" strike="noStrike">
              <a:solidFill>
                <a:srgbClr val="ffffff"/>
              </a:solidFill>
              <a:latin typeface="Arial"/>
            </a:endParaRPr>
          </a:p>
        </p:txBody>
      </p:sp>
      <p:sp>
        <p:nvSpPr>
          <p:cNvPr id="448" name="Text 6"/>
          <p:cNvSpPr/>
          <p:nvPr/>
        </p:nvSpPr>
        <p:spPr>
          <a:xfrm>
            <a:off x="3749040" y="157284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KPI boundaries • exclusions • target/window • notification route</a:t>
            </a:r>
            <a:endParaRPr b="0" lang="en-US" sz="1400" spc="-1" strike="noStrike">
              <a:solidFill>
                <a:srgbClr val="ffffff"/>
              </a:solidFill>
              <a:latin typeface="Arial"/>
            </a:endParaRPr>
          </a:p>
        </p:txBody>
      </p:sp>
      <p:sp>
        <p:nvSpPr>
          <p:cNvPr id="449" name="Shape 7"/>
          <p:cNvSpPr/>
          <p:nvPr/>
        </p:nvSpPr>
        <p:spPr>
          <a:xfrm>
            <a:off x="822960" y="229500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50" name="Shape 8"/>
          <p:cNvSpPr/>
          <p:nvPr/>
        </p:nvSpPr>
        <p:spPr>
          <a:xfrm>
            <a:off x="1005840" y="2441520"/>
            <a:ext cx="347040" cy="347040"/>
          </a:xfrm>
          <a:prstGeom prst="ellipse">
            <a:avLst/>
          </a:prstGeom>
          <a:solidFill>
            <a:srgbClr val="42b4e6"/>
          </a:solidFill>
          <a:ln w="12700">
            <a:solidFill>
              <a:srgbClr val="42b4e6"/>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51" name="Text 9"/>
          <p:cNvSpPr/>
          <p:nvPr/>
        </p:nvSpPr>
        <p:spPr>
          <a:xfrm>
            <a:off x="1005840" y="251928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2</a:t>
            </a:r>
            <a:endParaRPr b="0" lang="en-US" sz="1600" spc="-1" strike="noStrike">
              <a:solidFill>
                <a:srgbClr val="ffffff"/>
              </a:solidFill>
              <a:latin typeface="Arial"/>
            </a:endParaRPr>
          </a:p>
        </p:txBody>
      </p:sp>
      <p:sp>
        <p:nvSpPr>
          <p:cNvPr id="452" name="Text 10"/>
          <p:cNvSpPr/>
          <p:nvPr/>
        </p:nvSpPr>
        <p:spPr>
          <a:xfrm>
            <a:off x="1572840" y="243216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Real instrumentation</a:t>
            </a:r>
            <a:endParaRPr b="0" lang="en-US" sz="1600" spc="-1" strike="noStrike">
              <a:solidFill>
                <a:srgbClr val="ffffff"/>
              </a:solidFill>
              <a:latin typeface="Arial"/>
            </a:endParaRPr>
          </a:p>
        </p:txBody>
      </p:sp>
      <p:sp>
        <p:nvSpPr>
          <p:cNvPr id="453" name="Text 11"/>
          <p:cNvSpPr/>
          <p:nvPr/>
        </p:nvSpPr>
        <p:spPr>
          <a:xfrm>
            <a:off x="3749040" y="245052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ServiceMonitor/PodMonitor • OTel middleware • trace propagation</a:t>
            </a:r>
            <a:endParaRPr b="0" lang="en-US" sz="1400" spc="-1" strike="noStrike">
              <a:solidFill>
                <a:srgbClr val="ffffff"/>
              </a:solidFill>
              <a:latin typeface="Arial"/>
            </a:endParaRPr>
          </a:p>
        </p:txBody>
      </p:sp>
      <p:sp>
        <p:nvSpPr>
          <p:cNvPr id="454" name="Shape 12"/>
          <p:cNvSpPr/>
          <p:nvPr/>
        </p:nvSpPr>
        <p:spPr>
          <a:xfrm>
            <a:off x="822960" y="317304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55" name="Shape 13"/>
          <p:cNvSpPr/>
          <p:nvPr/>
        </p:nvSpPr>
        <p:spPr>
          <a:xfrm>
            <a:off x="1005840" y="3319200"/>
            <a:ext cx="347040" cy="347040"/>
          </a:xfrm>
          <a:prstGeom prst="ellipse">
            <a:avLst/>
          </a:prstGeom>
          <a:solidFill>
            <a:srgbClr val="f5c451"/>
          </a:solidFill>
          <a:ln w="12700">
            <a:solidFill>
              <a:srgbClr val="f5c451"/>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56" name="Text 14"/>
          <p:cNvSpPr/>
          <p:nvPr/>
        </p:nvSpPr>
        <p:spPr>
          <a:xfrm>
            <a:off x="1005840" y="339696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3</a:t>
            </a:r>
            <a:endParaRPr b="0" lang="en-US" sz="1600" spc="-1" strike="noStrike">
              <a:solidFill>
                <a:srgbClr val="ffffff"/>
              </a:solidFill>
              <a:latin typeface="Arial"/>
            </a:endParaRPr>
          </a:p>
        </p:txBody>
      </p:sp>
      <p:sp>
        <p:nvSpPr>
          <p:cNvPr id="457" name="Text 15"/>
          <p:cNvSpPr/>
          <p:nvPr/>
        </p:nvSpPr>
        <p:spPr>
          <a:xfrm>
            <a:off x="1572840" y="331020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Production controls</a:t>
            </a:r>
            <a:endParaRPr b="0" lang="en-US" sz="1600" spc="-1" strike="noStrike">
              <a:solidFill>
                <a:srgbClr val="ffffff"/>
              </a:solidFill>
              <a:latin typeface="Arial"/>
            </a:endParaRPr>
          </a:p>
        </p:txBody>
      </p:sp>
      <p:sp>
        <p:nvSpPr>
          <p:cNvPr id="458" name="Text 16"/>
          <p:cNvSpPr/>
          <p:nvPr/>
        </p:nvSpPr>
        <p:spPr>
          <a:xfrm>
            <a:off x="3749040" y="332856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SSO/RBAC/TLS • secret manager • HA • storage • retention</a:t>
            </a:r>
            <a:endParaRPr b="0" lang="en-US" sz="1400" spc="-1" strike="noStrike">
              <a:solidFill>
                <a:srgbClr val="ffffff"/>
              </a:solidFill>
              <a:latin typeface="Arial"/>
            </a:endParaRPr>
          </a:p>
        </p:txBody>
      </p:sp>
      <p:sp>
        <p:nvSpPr>
          <p:cNvPr id="459" name="Shape 17"/>
          <p:cNvSpPr/>
          <p:nvPr/>
        </p:nvSpPr>
        <p:spPr>
          <a:xfrm>
            <a:off x="822960" y="405072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60" name="Shape 18"/>
          <p:cNvSpPr/>
          <p:nvPr/>
        </p:nvSpPr>
        <p:spPr>
          <a:xfrm>
            <a:off x="1005840" y="4197240"/>
            <a:ext cx="347040" cy="347040"/>
          </a:xfrm>
          <a:prstGeom prst="ellipse">
            <a:avLst/>
          </a:prstGeom>
          <a:solidFill>
            <a:srgbClr val="48d597"/>
          </a:solidFill>
          <a:ln w="12700">
            <a:solidFill>
              <a:srgbClr val="48d597"/>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61" name="Text 19"/>
          <p:cNvSpPr/>
          <p:nvPr/>
        </p:nvSpPr>
        <p:spPr>
          <a:xfrm>
            <a:off x="1005840" y="427500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4</a:t>
            </a:r>
            <a:endParaRPr b="0" lang="en-US" sz="1600" spc="-1" strike="noStrike">
              <a:solidFill>
                <a:srgbClr val="ffffff"/>
              </a:solidFill>
              <a:latin typeface="Arial"/>
            </a:endParaRPr>
          </a:p>
        </p:txBody>
      </p:sp>
      <p:sp>
        <p:nvSpPr>
          <p:cNvPr id="462" name="Text 20"/>
          <p:cNvSpPr/>
          <p:nvPr/>
        </p:nvSpPr>
        <p:spPr>
          <a:xfrm>
            <a:off x="1572840" y="418788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UAT evidence</a:t>
            </a:r>
            <a:endParaRPr b="0" lang="en-US" sz="1600" spc="-1" strike="noStrike">
              <a:solidFill>
                <a:srgbClr val="ffffff"/>
              </a:solidFill>
              <a:latin typeface="Arial"/>
            </a:endParaRPr>
          </a:p>
        </p:txBody>
      </p:sp>
      <p:sp>
        <p:nvSpPr>
          <p:cNvPr id="463" name="Text 21"/>
          <p:cNvSpPr/>
          <p:nvPr/>
        </p:nvSpPr>
        <p:spPr>
          <a:xfrm>
            <a:off x="3749040" y="420624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9ab0be"/>
                </a:solidFill>
                <a:latin typeface="Aptos"/>
              </a:rPr>
              <a:t>normal/degradation/no-data/low-traffic tests • threshold tuning</a:t>
            </a:r>
            <a:endParaRPr b="0" lang="en-US" sz="1400" spc="-1" strike="noStrike">
              <a:solidFill>
                <a:srgbClr val="ffffff"/>
              </a:solidFill>
              <a:latin typeface="Arial"/>
            </a:endParaRPr>
          </a:p>
        </p:txBody>
      </p:sp>
      <p:sp>
        <p:nvSpPr>
          <p:cNvPr id="464" name="Shape 22"/>
          <p:cNvSpPr/>
          <p:nvPr/>
        </p:nvSpPr>
        <p:spPr>
          <a:xfrm>
            <a:off x="822960" y="4928760"/>
            <a:ext cx="10515240" cy="658080"/>
          </a:xfrm>
          <a:prstGeom prst="roundRect">
            <a:avLst>
              <a:gd name="adj" fmla="val 16667"/>
            </a:avLst>
          </a:prstGeom>
          <a:solidFill>
            <a:srgbClr val="0d1e2b"/>
          </a:solidFill>
          <a:ln w="12700">
            <a:solidFill>
              <a:srgbClr val="1b3445"/>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65" name="Shape 23"/>
          <p:cNvSpPr/>
          <p:nvPr/>
        </p:nvSpPr>
        <p:spPr>
          <a:xfrm>
            <a:off x="1005840" y="5074920"/>
            <a:ext cx="347040" cy="347040"/>
          </a:xfrm>
          <a:prstGeom prst="ellipse">
            <a:avLst/>
          </a:prstGeom>
          <a:solidFill>
            <a:srgbClr val="ff6b6b"/>
          </a:solidFill>
          <a:ln w="12700">
            <a:solidFill>
              <a:srgbClr val="ff6b6b"/>
            </a:solidFill>
            <a:round/>
          </a:ln>
        </p:spPr>
        <p:style>
          <a:lnRef idx="0"/>
          <a:fillRef idx="0"/>
          <a:effectRef idx="0"/>
          <a:fontRef idx="minor"/>
        </p:style>
        <p:txBody>
          <a:bodyPr lIns="88920" rIns="88920" tIns="45000" bIns="45000" anchor="t">
            <a:noAutofit/>
          </a:bodyPr>
          <a:p>
            <a:pPr defTabSz="914400">
              <a:lnSpc>
                <a:spcPct val="100000"/>
              </a:lnSpc>
            </a:pPr>
            <a:endParaRPr b="0" lang="en-US" sz="1800" spc="-1" strike="noStrike">
              <a:solidFill>
                <a:schemeClr val="dk1"/>
              </a:solidFill>
              <a:latin typeface="Aptos"/>
            </a:endParaRPr>
          </a:p>
        </p:txBody>
      </p:sp>
      <p:sp>
        <p:nvSpPr>
          <p:cNvPr id="466" name="Text 24"/>
          <p:cNvSpPr/>
          <p:nvPr/>
        </p:nvSpPr>
        <p:spPr>
          <a:xfrm>
            <a:off x="1005840" y="5152680"/>
            <a:ext cx="347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pc="-1" strike="noStrike">
                <a:solidFill>
                  <a:srgbClr val="07131f"/>
                </a:solidFill>
                <a:latin typeface="Aptos"/>
              </a:rPr>
              <a:t>5</a:t>
            </a:r>
            <a:endParaRPr b="0" lang="en-US" sz="1600" spc="-1" strike="noStrike">
              <a:solidFill>
                <a:srgbClr val="ffffff"/>
              </a:solidFill>
              <a:latin typeface="Arial"/>
            </a:endParaRPr>
          </a:p>
        </p:txBody>
      </p:sp>
      <p:sp>
        <p:nvSpPr>
          <p:cNvPr id="467" name="Text 25"/>
          <p:cNvSpPr/>
          <p:nvPr/>
        </p:nvSpPr>
        <p:spPr>
          <a:xfrm>
            <a:off x="1572840" y="5065920"/>
            <a:ext cx="2102760" cy="255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f3f8fb"/>
                </a:solidFill>
                <a:latin typeface="Aptos"/>
              </a:rPr>
              <a:t>Promote / rollback</a:t>
            </a:r>
            <a:endParaRPr b="0" lang="en-US" sz="1600" spc="-1" strike="noStrike">
              <a:solidFill>
                <a:srgbClr val="ffffff"/>
              </a:solidFill>
              <a:latin typeface="Arial"/>
            </a:endParaRPr>
          </a:p>
        </p:txBody>
      </p:sp>
      <p:sp>
        <p:nvSpPr>
          <p:cNvPr id="468" name="Text 26"/>
          <p:cNvSpPr/>
          <p:nvPr/>
        </p:nvSpPr>
        <p:spPr>
          <a:xfrm>
            <a:off x="3749040" y="5083920"/>
            <a:ext cx="713196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600" spc="-1" strike="noStrike">
                <a:solidFill>
                  <a:srgbClr val="9ab0be"/>
                </a:solidFill>
                <a:latin typeface="Aptos"/>
              </a:rPr>
              <a:t>review evidence • controlled rollout • rollback plan</a:t>
            </a:r>
            <a:endParaRPr b="0" lang="en-US" sz="1600" spc="-1" strike="noStrike">
              <a:solidFill>
                <a:srgbClr val="ffffff"/>
              </a:solidFill>
              <a:latin typeface="Arial"/>
            </a:endParaRPr>
          </a:p>
        </p:txBody>
      </p:sp>
      <p:sp>
        <p:nvSpPr>
          <p:cNvPr id="469" name="Text 27"/>
          <p:cNvSpPr/>
          <p:nvPr/>
        </p:nvSpPr>
        <p:spPr>
          <a:xfrm>
            <a:off x="457200" y="5943600"/>
            <a:ext cx="1554120" cy="237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pc="-1" strike="noStrike">
                <a:solidFill>
                  <a:srgbClr val="19c3b1"/>
                </a:solidFill>
                <a:latin typeface="Aptos"/>
              </a:rPr>
              <a:t>Key takeaway</a:t>
            </a:r>
            <a:endParaRPr b="0" lang="en-US" sz="1600" spc="-1" strike="noStrike">
              <a:solidFill>
                <a:srgbClr val="ffffff"/>
              </a:solidFill>
              <a:latin typeface="Arial"/>
            </a:endParaRPr>
          </a:p>
        </p:txBody>
      </p:sp>
      <p:sp>
        <p:nvSpPr>
          <p:cNvPr id="470" name="Text 28"/>
          <p:cNvSpPr/>
          <p:nvPr/>
        </p:nvSpPr>
        <p:spPr>
          <a:xfrm>
            <a:off x="2240280" y="5852160"/>
            <a:ext cx="8823600" cy="502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pc="-1" strike="noStrike">
                <a:solidFill>
                  <a:srgbClr val="f3f8fb"/>
                </a:solidFill>
                <a:latin typeface="Aptos"/>
              </a:rPr>
              <a:t>Project đã xây được observability contract có thể demo và review; giá trị lớn nhất là biến “hệ thống có vấn đề” thành “flow nào, KPI nào, stage nào, owner nào”.</a:t>
            </a:r>
            <a:endParaRPr b="0" lang="en-US" sz="1400" spc="-1" strike="noStrike">
              <a:solidFill>
                <a:srgbClr val="ffffff"/>
              </a:solidFill>
              <a:latin typeface="Arial"/>
            </a:endParaRPr>
          </a:p>
        </p:txBody>
      </p:sp>
      <p:sp>
        <p:nvSpPr>
          <p:cNvPr id="471" name="PlaceHolder 1"/>
          <p:cNvSpPr>
            <a:spLocks noGrp="1"/>
          </p:cNvSpPr>
          <p:nvPr>
            <p:ph type="sldNum" idx="17"/>
          </p:nvPr>
        </p:nvSpPr>
        <p:spPr>
          <a:xfrm>
            <a:off x="11777400" y="6473880"/>
            <a:ext cx="414000" cy="299520"/>
          </a:xfrm>
          <a:prstGeom prst="rect">
            <a:avLst/>
          </a:prstGeom>
          <a:noFill/>
          <a:ln w="0">
            <a:noFill/>
          </a:ln>
        </p:spPr>
        <p:txBody>
          <a:bodyPr lIns="88920" rIns="88920" tIns="45000" bIns="45000" anchor="t">
            <a:noAutofit/>
          </a:bodyPr>
          <a:lstStyle>
            <a:lvl1pPr indent="0" defTabSz="914400">
              <a:lnSpc>
                <a:spcPct val="100000"/>
              </a:lnSpc>
              <a:buNone/>
              <a:defRPr b="0" lang="en-US" sz="800" spc="-1" strike="noStrike">
                <a:solidFill>
                  <a:srgbClr val="678296"/>
                </a:solidFill>
                <a:latin typeface="Aptos"/>
                <a:ea typeface="Aptos"/>
              </a:defRPr>
            </a:lvl1pPr>
          </a:lstStyle>
          <a:p>
            <a:pPr indent="0" defTabSz="914400">
              <a:lnSpc>
                <a:spcPct val="100000"/>
              </a:lnSpc>
              <a:buNone/>
            </a:pPr>
            <a:fld id="{BEB98F8A-62E1-4BA0-9A79-0801DC802383}" type="slidenum">
              <a:rPr b="0" lang="en-US" sz="800" spc="-1" strike="noStrike">
                <a:solidFill>
                  <a:srgbClr val="678296"/>
                </a:solidFill>
                <a:latin typeface="Aptos"/>
                <a:ea typeface="Aptos"/>
              </a:rPr>
              <a:t>15</a:t>
            </a:fld>
            <a:endParaRPr b="0" lang="en-US" sz="800" spc="-1" strike="noStrike">
              <a:solidFill>
                <a:srgbClr val="ffffff"/>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LibreOffice/24.2.7.2$Linux_X86_64 LibreOffice_project/420$Build-2</Application>
  <AppVersion>15.0000</AppVersion>
  <Words>0</Words>
  <Paragraphs>0</Paragraphs>
  <Company>OpenAI</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2026-08-20T23:21:23Z</dcterms:created>
  <dc:creator>OpenAI</dc:creator>
  <dc:description/>
  <dc:language>en-US</dc:language>
  <cp:lastModifiedBy/>
  <dcterms:modified xsi:type="dcterms:W3CDTF">2026-08-21T06:50:45Z</dcterms:modified>
  <cp:revision>2</cp:revision>
  <dc:subject>V-ID Grafana Monitoring System</dc:subject>
  <dc:title>V-ID Grafana Monitoring System — Observability Lab</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