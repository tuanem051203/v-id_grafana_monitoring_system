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9.xml.rels" ContentType="application/vnd.openxmlformats-package.relationships+xml"/>
  <Override PartName="/ppt/slides/_rels/slide1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_rels/notesSlide9.xml.rels" ContentType="application/vnd.openxmlformats-package.relationships+xml"/>
  <Override PartName="/ppt/notesSlides/_rels/notesSlide6.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_rels/notesSlide4.xml.rels" ContentType="application/vnd.openxmlformats-package.relationships+xml"/>
  <Override PartName="/ppt/notesSlides/_rels/notesSlide1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Aptos"/>
              </a:rPr>
              <a:t>Click to move the slide</a:t>
            </a:r>
            <a:endParaRPr b="0" lang="en-US" sz="1800" spc="-1" strike="noStrike">
              <a:solidFill>
                <a:schemeClr val="dk1"/>
              </a:solidFill>
              <a:latin typeface="Aptos"/>
            </a:endParaRPr>
          </a:p>
        </p:txBody>
      </p:sp>
      <p:sp>
        <p:nvSpPr>
          <p:cNvPr id="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8"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9" name="PlaceHolder 4"/>
          <p:cNvSpPr>
            <a:spLocks noGrp="1"/>
          </p:cNvSpPr>
          <p:nvPr>
            <p:ph type="dt" idx="2"/>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0" name="PlaceHolder 5"/>
          <p:cNvSpPr>
            <a:spLocks noGrp="1"/>
          </p:cNvSpPr>
          <p:nvPr>
            <p:ph type="ftr" idx="3"/>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 name="PlaceHolder 6"/>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470DAC07-A00F-4269-943F-86E364860C29}"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sldImg"/>
          </p:nvPr>
        </p:nvSpPr>
        <p:spPr>
          <a:xfrm>
            <a:off x="685800" y="1143000"/>
            <a:ext cx="5486040" cy="3085920"/>
          </a:xfrm>
          <a:prstGeom prst="rect">
            <a:avLst/>
          </a:prstGeom>
          <a:ln w="0">
            <a:noFill/>
          </a:ln>
        </p:spPr>
      </p:sp>
      <p:sp>
        <p:nvSpPr>
          <p:cNvPr id="47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Mở đầu: </a:t>
            </a:r>
            <a:r>
              <a:rPr b="0" lang="en-US" sz="2000" spc="-1" strike="noStrike">
                <a:solidFill>
                  <a:srgbClr val="000000"/>
                </a:solidFill>
                <a:latin typeface="Arial"/>
              </a:rPr>
              <a:t>Đây không </a:t>
            </a:r>
            <a:r>
              <a:rPr b="0" lang="en-US" sz="2000" spc="-1" strike="noStrike">
                <a:solidFill>
                  <a:srgbClr val="000000"/>
                </a:solidFill>
                <a:latin typeface="Arial"/>
              </a:rPr>
              <a:t>phải một </a:t>
            </a:r>
            <a:r>
              <a:rPr b="0" lang="en-US" sz="2000" spc="-1" strike="noStrike">
                <a:solidFill>
                  <a:srgbClr val="000000"/>
                </a:solidFill>
                <a:latin typeface="Arial"/>
              </a:rPr>
              <a:t>dashboard </a:t>
            </a:r>
            <a:r>
              <a:rPr b="0" lang="en-US" sz="2000" spc="-1" strike="noStrike">
                <a:solidFill>
                  <a:srgbClr val="000000"/>
                </a:solidFill>
                <a:latin typeface="Arial"/>
              </a:rPr>
              <a:t>đơn lẻ. Đây </a:t>
            </a:r>
            <a:r>
              <a:rPr b="0" lang="en-US" sz="2000" spc="-1" strike="noStrike">
                <a:solidFill>
                  <a:srgbClr val="000000"/>
                </a:solidFill>
                <a:latin typeface="Arial"/>
              </a:rPr>
              <a:t>là một </a:t>
            </a:r>
            <a:r>
              <a:rPr b="0" lang="en-US" sz="2000" spc="-1" strike="noStrike">
                <a:solidFill>
                  <a:srgbClr val="000000"/>
                </a:solidFill>
                <a:latin typeface="Arial"/>
              </a:rPr>
              <a:t>observability </a:t>
            </a:r>
            <a:r>
              <a:rPr b="0" lang="en-US" sz="2000" spc="-1" strike="noStrike">
                <a:solidFill>
                  <a:srgbClr val="000000"/>
                </a:solidFill>
                <a:latin typeface="Arial"/>
              </a:rPr>
              <a:t>lab giúp mô </a:t>
            </a:r>
            <a:r>
              <a:rPr b="0" lang="en-US" sz="2000" spc="-1" strike="noStrike">
                <a:solidFill>
                  <a:srgbClr val="000000"/>
                </a:solidFill>
                <a:latin typeface="Arial"/>
              </a:rPr>
              <a:t>hình hóa </a:t>
            </a:r>
            <a:r>
              <a:rPr b="0" lang="en-US" sz="2000" spc="-1" strike="noStrike">
                <a:solidFill>
                  <a:srgbClr val="000000"/>
                </a:solidFill>
                <a:latin typeface="Arial"/>
              </a:rPr>
              <a:t>telemetry </a:t>
            </a:r>
            <a:r>
              <a:rPr b="0" lang="en-US" sz="2000" spc="-1" strike="noStrike">
                <a:solidFill>
                  <a:srgbClr val="000000"/>
                </a:solidFill>
                <a:latin typeface="Arial"/>
              </a:rPr>
              <a:t>contract, </a:t>
            </a:r>
            <a:r>
              <a:rPr b="0" lang="en-US" sz="2000" spc="-1" strike="noStrike">
                <a:solidFill>
                  <a:srgbClr val="000000"/>
                </a:solidFill>
                <a:latin typeface="Arial"/>
              </a:rPr>
              <a:t>KPI/SLO, </a:t>
            </a:r>
            <a:r>
              <a:rPr b="0" lang="en-US" sz="2000" spc="-1" strike="noStrike">
                <a:solidFill>
                  <a:srgbClr val="000000"/>
                </a:solidFill>
                <a:latin typeface="Arial"/>
              </a:rPr>
              <a:t>alerting và </a:t>
            </a:r>
            <a:r>
              <a:rPr b="0" lang="en-US" sz="2000" spc="-1" strike="noStrike">
                <a:solidFill>
                  <a:srgbClr val="000000"/>
                </a:solidFill>
                <a:latin typeface="Arial"/>
              </a:rPr>
              <a:t>tracing </a:t>
            </a:r>
            <a:r>
              <a:rPr b="0" lang="en-US" sz="2000" spc="-1" strike="noStrike">
                <a:solidFill>
                  <a:srgbClr val="000000"/>
                </a:solidFill>
                <a:latin typeface="Arial"/>
              </a:rPr>
              <a:t>trước khi </a:t>
            </a:r>
            <a:r>
              <a:rPr b="0" lang="en-US" sz="2000" spc="-1" strike="noStrike">
                <a:solidFill>
                  <a:srgbClr val="000000"/>
                </a:solidFill>
                <a:latin typeface="Arial"/>
              </a:rPr>
              <a:t>kết nối UAT </a:t>
            </a:r>
            <a:r>
              <a:rPr b="0" lang="en-US" sz="2000" spc="-1" strike="noStrike">
                <a:solidFill>
                  <a:srgbClr val="000000"/>
                </a:solidFill>
                <a:latin typeface="Arial"/>
              </a:rPr>
              <a:t>thật.</a:t>
            </a:r>
            <a:endParaRPr b="0" lang="en-US" sz="2000" spc="-1" strike="noStrike">
              <a:solidFill>
                <a:srgbClr val="000000"/>
              </a:solidFill>
              <a:latin typeface="Arial"/>
            </a:endParaRPr>
          </a:p>
        </p:txBody>
      </p:sp>
      <p:sp>
        <p:nvSpPr>
          <p:cNvPr id="474"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D2AB389-966A-4763-9B6C-30181AA81144}"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PlaceHolder 1"/>
          <p:cNvSpPr>
            <a:spLocks noGrp="1"/>
          </p:cNvSpPr>
          <p:nvPr>
            <p:ph type="sldImg"/>
          </p:nvPr>
        </p:nvSpPr>
        <p:spPr>
          <a:xfrm>
            <a:off x="685800" y="1143000"/>
            <a:ext cx="5486040" cy="3085920"/>
          </a:xfrm>
          <a:prstGeom prst="rect">
            <a:avLst/>
          </a:prstGeom>
          <a:ln w="0">
            <a:noFill/>
          </a:ln>
        </p:spPr>
      </p:sp>
      <p:sp>
        <p:nvSpPr>
          <p:cNvPr id="47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Thông điệp: mục tiêu của dự án là chuẩn bị một telemetry contract production-oriented, không </a:t>
            </a:r>
            <a:r>
              <a:rPr b="0" lang="en-US" sz="2000" spc="-1" strike="noStrike">
                <a:solidFill>
                  <a:srgbClr val="000000"/>
                </a:solidFill>
                <a:latin typeface="Arial"/>
              </a:rPr>
              <a:t>giả định dữ liệu mock chính là production baseline.</a:t>
            </a:r>
            <a:endParaRPr b="0" lang="en-US" sz="2000" spc="-1" strike="noStrike">
              <a:solidFill>
                <a:srgbClr val="000000"/>
              </a:solidFill>
              <a:latin typeface="Arial"/>
            </a:endParaRPr>
          </a:p>
        </p:txBody>
      </p:sp>
      <p:sp>
        <p:nvSpPr>
          <p:cNvPr id="477" name="PlaceHolder 3"/>
          <p:cNvSpPr>
            <a:spLocks noGrp="1"/>
          </p:cNvSpPr>
          <p:nvPr>
            <p:ph type="sldNum" idx="1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FA3C4E7-2B85-49DC-8B46-525D6E80BB59}"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PlaceHolder 1"/>
          <p:cNvSpPr>
            <a:spLocks noGrp="1"/>
          </p:cNvSpPr>
          <p:nvPr>
            <p:ph type="sldImg"/>
          </p:nvPr>
        </p:nvSpPr>
        <p:spPr>
          <a:xfrm>
            <a:off x="685800" y="1143000"/>
            <a:ext cx="5486040" cy="3085920"/>
          </a:xfrm>
          <a:prstGeom prst="rect">
            <a:avLst/>
          </a:prstGeom>
          <a:ln w="0">
            <a:noFill/>
          </a:ln>
        </p:spPr>
      </p:sp>
      <p:sp>
        <p:nvSpPr>
          <p:cNvPr id="47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80" name="PlaceHolder 3"/>
          <p:cNvSpPr>
            <a:spLocks noGrp="1"/>
          </p:cNvSpPr>
          <p:nvPr>
            <p:ph type="sldNum" idx="2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070819D-3360-4C29-A414-51310300602B}"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PlaceHolder 1"/>
          <p:cNvSpPr>
            <a:spLocks noGrp="1"/>
          </p:cNvSpPr>
          <p:nvPr>
            <p:ph type="sldImg"/>
          </p:nvPr>
        </p:nvSpPr>
        <p:spPr>
          <a:xfrm>
            <a:off x="685800" y="1143000"/>
            <a:ext cx="5486040" cy="3085920"/>
          </a:xfrm>
          <a:prstGeom prst="rect">
            <a:avLst/>
          </a:prstGeom>
          <a:ln w="0">
            <a:noFill/>
          </a:ln>
        </p:spPr>
      </p:sp>
      <p:sp>
        <p:nvSpPr>
          <p:cNvPr id="48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83" name="PlaceHolder 3"/>
          <p:cNvSpPr>
            <a:spLocks noGrp="1"/>
          </p:cNvSpPr>
          <p:nvPr>
            <p:ph type="sldNum" idx="2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76DEA2F-AAED-4B6D-AFFB-4CC32E4F0A06}"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PlaceHolder 1"/>
          <p:cNvSpPr>
            <a:spLocks noGrp="1"/>
          </p:cNvSpPr>
          <p:nvPr>
            <p:ph type="sldImg"/>
          </p:nvPr>
        </p:nvSpPr>
        <p:spPr>
          <a:xfrm>
            <a:off x="685800" y="1143000"/>
            <a:ext cx="5486040" cy="3085920"/>
          </a:xfrm>
          <a:prstGeom prst="rect">
            <a:avLst/>
          </a:prstGeom>
          <a:ln w="0">
            <a:noFill/>
          </a:ln>
        </p:spPr>
      </p:sp>
      <p:sp>
        <p:nvSpPr>
          <p:cNvPr id="48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86" name="PlaceHolder 3"/>
          <p:cNvSpPr>
            <a:spLocks noGrp="1"/>
          </p:cNvSpPr>
          <p:nvPr>
            <p:ph type="sldNum" idx="2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C712DD0-5B8C-420F-B965-184FAD48353D}"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PlaceHolder 1"/>
          <p:cNvSpPr>
            <a:spLocks noGrp="1"/>
          </p:cNvSpPr>
          <p:nvPr>
            <p:ph type="sldImg"/>
          </p:nvPr>
        </p:nvSpPr>
        <p:spPr>
          <a:xfrm>
            <a:off x="685800" y="1143000"/>
            <a:ext cx="5486040" cy="3085920"/>
          </a:xfrm>
          <a:prstGeom prst="rect">
            <a:avLst/>
          </a:prstGeom>
          <a:ln w="0">
            <a:noFill/>
          </a:ln>
        </p:spPr>
      </p:sp>
      <p:sp>
        <p:nvSpPr>
          <p:cNvPr id="48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89" name="PlaceHolder 3"/>
          <p:cNvSpPr>
            <a:spLocks noGrp="1"/>
          </p:cNvSpPr>
          <p:nvPr>
            <p:ph type="sldNum" idx="2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A1DB0A7-5D47-4B89-A1B6-DD9872516EF0}"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PlaceHolder 1"/>
          <p:cNvSpPr>
            <a:spLocks noGrp="1"/>
          </p:cNvSpPr>
          <p:nvPr>
            <p:ph type="sldImg"/>
          </p:nvPr>
        </p:nvSpPr>
        <p:spPr>
          <a:xfrm>
            <a:off x="685800" y="1143000"/>
            <a:ext cx="5486040" cy="3085920"/>
          </a:xfrm>
          <a:prstGeom prst="rect">
            <a:avLst/>
          </a:prstGeom>
          <a:ln w="0">
            <a:noFill/>
          </a:ln>
        </p:spPr>
      </p:sp>
      <p:sp>
        <p:nvSpPr>
          <p:cNvPr id="49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92" name="PlaceHolder 3"/>
          <p:cNvSpPr>
            <a:spLocks noGrp="1"/>
          </p:cNvSpPr>
          <p:nvPr>
            <p:ph type="sldNum" idx="2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89B232E-8787-4014-8F93-E5ABFDE64DE3}"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3" name="PlaceHolder 1"/>
          <p:cNvSpPr>
            <a:spLocks noGrp="1"/>
          </p:cNvSpPr>
          <p:nvPr>
            <p:ph type="sldImg"/>
          </p:nvPr>
        </p:nvSpPr>
        <p:spPr>
          <a:xfrm>
            <a:off x="685800" y="1143000"/>
            <a:ext cx="5486040" cy="3085920"/>
          </a:xfrm>
          <a:prstGeom prst="rect">
            <a:avLst/>
          </a:prstGeom>
          <a:ln w="0">
            <a:noFill/>
          </a:ln>
        </p:spPr>
      </p:sp>
      <p:sp>
        <p:nvSpPr>
          <p:cNvPr id="49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95" name="PlaceHolder 3"/>
          <p:cNvSpPr>
            <a:spLocks noGrp="1"/>
          </p:cNvSpPr>
          <p:nvPr>
            <p:ph type="sldNum" idx="2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4B201D6-153D-4ECF-9384-6EDA12495DA2}"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PlaceHolder 1"/>
          <p:cNvSpPr>
            <a:spLocks noGrp="1"/>
          </p:cNvSpPr>
          <p:nvPr>
            <p:ph type="sldImg"/>
          </p:nvPr>
        </p:nvSpPr>
        <p:spPr>
          <a:xfrm>
            <a:off x="685800" y="1143000"/>
            <a:ext cx="5486040" cy="3085920"/>
          </a:xfrm>
          <a:prstGeom prst="rect">
            <a:avLst/>
          </a:prstGeom>
          <a:ln w="0">
            <a:noFill/>
          </a:ln>
        </p:spPr>
      </p:sp>
      <p:sp>
        <p:nvSpPr>
          <p:cNvPr id="49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98" name="PlaceHolder 3"/>
          <p:cNvSpPr>
            <a:spLocks noGrp="1"/>
          </p:cNvSpPr>
          <p:nvPr>
            <p:ph type="sldNum" idx="2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BF91AE7-14D8-4AF8-ADE3-A767CE444FEA}"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PlaceHolder 1"/>
          <p:cNvSpPr>
            <a:spLocks noGrp="1"/>
          </p:cNvSpPr>
          <p:nvPr>
            <p:ph type="sldImg"/>
          </p:nvPr>
        </p:nvSpPr>
        <p:spPr>
          <a:xfrm>
            <a:off x="685800" y="1143000"/>
            <a:ext cx="5486040" cy="3085920"/>
          </a:xfrm>
          <a:prstGeom prst="rect">
            <a:avLst/>
          </a:prstGeom>
          <a:ln w="0">
            <a:noFill/>
          </a:ln>
        </p:spPr>
      </p:sp>
      <p:sp>
        <p:nvSpPr>
          <p:cNvPr id="50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01" name="PlaceHolder 3"/>
          <p:cNvSpPr>
            <a:spLocks noGrp="1"/>
          </p:cNvSpPr>
          <p:nvPr>
            <p:ph type="sldNum" idx="2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650DA00-0B37-441D-94D4-514FAE71E5E2}"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2" name="PlaceHolder 1"/>
          <p:cNvSpPr>
            <a:spLocks noGrp="1"/>
          </p:cNvSpPr>
          <p:nvPr>
            <p:ph type="sldImg"/>
          </p:nvPr>
        </p:nvSpPr>
        <p:spPr>
          <a:xfrm>
            <a:off x="685800" y="1143000"/>
            <a:ext cx="5486040" cy="3085920"/>
          </a:xfrm>
          <a:prstGeom prst="rect">
            <a:avLst/>
          </a:prstGeom>
          <a:ln w="0">
            <a:noFill/>
          </a:ln>
        </p:spPr>
      </p:sp>
      <p:sp>
        <p:nvSpPr>
          <p:cNvPr id="50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04" name="PlaceHolder 3"/>
          <p:cNvSpPr>
            <a:spLocks noGrp="1"/>
          </p:cNvSpPr>
          <p:nvPr>
            <p:ph type="sldNum" idx="2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5245C2A-C4B8-4A43-A6BB-01A9BF19351E}"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PlaceHolder 1"/>
          <p:cNvSpPr>
            <a:spLocks noGrp="1"/>
          </p:cNvSpPr>
          <p:nvPr>
            <p:ph type="sldImg"/>
          </p:nvPr>
        </p:nvSpPr>
        <p:spPr>
          <a:xfrm>
            <a:off x="685800" y="1143000"/>
            <a:ext cx="5486040" cy="3085920"/>
          </a:xfrm>
          <a:prstGeom prst="rect">
            <a:avLst/>
          </a:prstGeom>
          <a:ln w="0">
            <a:noFill/>
          </a:ln>
        </p:spPr>
      </p:sp>
      <p:sp>
        <p:nvSpPr>
          <p:cNvPr id="50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07" name="PlaceHolder 3"/>
          <p:cNvSpPr>
            <a:spLocks noGrp="1"/>
          </p:cNvSpPr>
          <p:nvPr>
            <p:ph type="sldNum" idx="2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9E9D99F-79E3-4D25-A3B5-30641F35A2DE}"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PlaceHolder 1"/>
          <p:cNvSpPr>
            <a:spLocks noGrp="1"/>
          </p:cNvSpPr>
          <p:nvPr>
            <p:ph type="sldImg"/>
          </p:nvPr>
        </p:nvSpPr>
        <p:spPr>
          <a:xfrm>
            <a:off x="685800" y="1143000"/>
            <a:ext cx="5486040" cy="3085920"/>
          </a:xfrm>
          <a:prstGeom prst="rect">
            <a:avLst/>
          </a:prstGeom>
          <a:ln w="0">
            <a:noFill/>
          </a:ln>
        </p:spPr>
      </p:sp>
      <p:sp>
        <p:nvSpPr>
          <p:cNvPr id="50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10" name="PlaceHolder 3"/>
          <p:cNvSpPr>
            <a:spLocks noGrp="1"/>
          </p:cNvSpPr>
          <p:nvPr>
            <p:ph type="sldNum" idx="3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90EFDF2-6548-4710-894C-63CDEE4C36BE}"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PlaceHolder 1"/>
          <p:cNvSpPr>
            <a:spLocks noGrp="1"/>
          </p:cNvSpPr>
          <p:nvPr>
            <p:ph type="sldImg"/>
          </p:nvPr>
        </p:nvSpPr>
        <p:spPr>
          <a:xfrm>
            <a:off x="685800" y="1143000"/>
            <a:ext cx="5486040" cy="3085920"/>
          </a:xfrm>
          <a:prstGeom prst="rect">
            <a:avLst/>
          </a:prstGeom>
          <a:ln w="0">
            <a:noFill/>
          </a:ln>
        </p:spPr>
      </p:sp>
      <p:sp>
        <p:nvSpPr>
          <p:cNvPr id="51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13" name="PlaceHolder 3"/>
          <p:cNvSpPr>
            <a:spLocks noGrp="1"/>
          </p:cNvSpPr>
          <p:nvPr>
            <p:ph type="sldNum" idx="3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1281CA4-95DD-4A0B-8C4B-7C03A0FE933C}"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PlaceHolder 1"/>
          <p:cNvSpPr>
            <a:spLocks noGrp="1"/>
          </p:cNvSpPr>
          <p:nvPr>
            <p:ph type="sldImg"/>
          </p:nvPr>
        </p:nvSpPr>
        <p:spPr>
          <a:xfrm>
            <a:off x="685800" y="1143000"/>
            <a:ext cx="5486040" cy="3085920"/>
          </a:xfrm>
          <a:prstGeom prst="rect">
            <a:avLst/>
          </a:prstGeom>
          <a:ln w="0">
            <a:noFill/>
          </a:ln>
        </p:spPr>
      </p:sp>
      <p:sp>
        <p:nvSpPr>
          <p:cNvPr id="51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Kết: nhấn mạnh observability là khả năng chẩn đoán, không phải số lượng dashboard. Hệ thống hiện đã đủ để chuyển sang bước UAT evidence và instrumentation thật khi access sẵn sàng.</a:t>
            </a:r>
            <a:endParaRPr b="0" lang="en-US" sz="2000" spc="-1" strike="noStrike">
              <a:solidFill>
                <a:srgbClr val="000000"/>
              </a:solidFill>
              <a:latin typeface="Arial"/>
            </a:endParaRPr>
          </a:p>
        </p:txBody>
      </p:sp>
      <p:sp>
        <p:nvSpPr>
          <p:cNvPr id="516" name="PlaceHolder 3"/>
          <p:cNvSpPr>
            <a:spLocks noGrp="1"/>
          </p:cNvSpPr>
          <p:nvPr>
            <p:ph type="sldNum" idx="3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7E20BB6-82BA-4AB9-B7FF-0218764F8BA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43025474-3763-4672-9F8C-84D7483D825F}"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131f"/>
        </a:solidFill>
      </p:bgPr>
    </p:bg>
    <p:spTree>
      <p:nvGrpSpPr>
        <p:cNvPr id="1" name=""/>
        <p:cNvGrpSpPr/>
        <p:nvPr/>
      </p:nvGrpSpPr>
      <p:grpSpPr>
        <a:xfrm>
          <a:off x="0" y="0"/>
          <a:ext cx="0" cy="0"/>
          <a:chOff x="0" y="0"/>
          <a:chExt cx="0" cy="0"/>
        </a:xfrm>
      </p:grpSpPr>
      <p:sp>
        <p:nvSpPr>
          <p:cNvPr id="0" name="Shape 0"/>
          <p:cNvSpPr/>
          <p:nvPr/>
        </p:nvSpPr>
        <p:spPr>
          <a:xfrm>
            <a:off x="0" y="0"/>
            <a:ext cx="12191400" cy="72720"/>
          </a:xfrm>
          <a:prstGeom prst="rect">
            <a:avLst/>
          </a:prstGeom>
          <a:solidFill>
            <a:srgbClr val="19c3b1"/>
          </a:solidFill>
          <a:ln w="12700">
            <a:solidFill>
              <a:srgbClr val="19c3b1"/>
            </a:solidFill>
            <a:round/>
          </a:ln>
        </p:spPr>
        <p:style>
          <a:lnRef idx="0"/>
          <a:fillRef idx="0"/>
          <a:effectRef idx="0"/>
          <a:fontRef idx="minor"/>
        </p:style>
        <p:txBody>
          <a:bodyPr lIns="90000" rIns="90000" tIns="28080" bIns="28080" anchor="t">
            <a:noAutofit/>
          </a:bodyPr>
          <a:p>
            <a:endParaRPr b="0" lang="en-US" sz="1800" spc="-1" strike="noStrike">
              <a:solidFill>
                <a:srgbClr val="ffffff"/>
              </a:solidFill>
              <a:latin typeface="Arial"/>
            </a:endParaRPr>
          </a:p>
        </p:txBody>
      </p:sp>
      <p:sp>
        <p:nvSpPr>
          <p:cNvPr id="1" name="Text 1"/>
          <p:cNvSpPr/>
          <p:nvPr/>
        </p:nvSpPr>
        <p:spPr>
          <a:xfrm>
            <a:off x="502920" y="6510600"/>
            <a:ext cx="292572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a:solidFill>
                  <a:srgbClr val="678296"/>
                </a:solidFill>
                <a:latin typeface="Aptos"/>
                <a:ea typeface="Aptos"/>
              </a:rPr>
              <a:t>V-ID OBSERVABILITY LAB</a:t>
            </a:r>
            <a:endParaRPr b="0" lang="en-US" sz="800" spc="-1" strike="noStrike">
              <a:solidFill>
                <a:srgbClr val="ffffff"/>
              </a:solidFill>
              <a:latin typeface="Arial"/>
            </a:endParaRPr>
          </a:p>
        </p:txBody>
      </p:sp>
      <p:sp>
        <p:nvSpPr>
          <p:cNvPr id="2" name="Text 2"/>
          <p:cNvSpPr/>
          <p:nvPr/>
        </p:nvSpPr>
        <p:spPr>
          <a:xfrm>
            <a:off x="7635240" y="6510600"/>
            <a:ext cx="3977280" cy="164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678296"/>
                </a:solidFill>
                <a:latin typeface="Aptos"/>
                <a:ea typeface="Aptos"/>
              </a:rPr>
              <a:t>Synthetic • Local/UAT • Production-oriented baseline</a:t>
            </a:r>
            <a:endParaRPr b="0" lang="en-US" sz="800" spc="-1" strike="noStrike">
              <a:solidFill>
                <a:srgbClr val="ffffff"/>
              </a:solidFill>
              <a:latin typeface="Arial"/>
            </a:endParaRPr>
          </a:p>
        </p:txBody>
      </p:sp>
      <p:sp>
        <p:nvSpPr>
          <p:cNvPr id="3" name="PlaceHolder 1"/>
          <p:cNvSpPr>
            <a:spLocks noGrp="1"/>
          </p:cNvSpPr>
          <p:nvPr>
            <p:ph type="sldNum" idx="1"/>
          </p:nvPr>
        </p:nvSpPr>
        <p:spPr>
          <a:xfrm>
            <a:off x="11777400" y="647388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2D2358CE-30D7-4E36-8485-2F4BAD57C81F}" type="slidenum">
              <a:rPr b="0" lang="en-US" sz="800" spc="-1" strike="noStrike">
                <a:solidFill>
                  <a:srgbClr val="678296"/>
                </a:solidFill>
                <a:latin typeface="Aptos"/>
                <a:ea typeface="Aptos"/>
              </a:rPr>
              <a:t>&lt;number&gt;</a:t>
            </a:fld>
            <a:endParaRPr b="0" lang="en-US" sz="800" spc="-1" strike="noStrike">
              <a:solidFill>
                <a:srgbClr val="ffffff"/>
              </a:solidFill>
              <a:latin typeface="Times New Roman"/>
            </a:endParaRPr>
          </a:p>
        </p:txBody>
      </p:sp>
      <p:sp>
        <p:nvSpPr>
          <p:cNvPr id="4"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Aptos"/>
              </a:rPr>
              <a:t>Click to edit the title text format</a:t>
            </a:r>
            <a:endParaRPr b="0" lang="en-US" sz="1800" spc="-1" strike="noStrike">
              <a:solidFill>
                <a:schemeClr val="dk1"/>
              </a:solidFill>
              <a:latin typeface="Aptos"/>
            </a:endParaRPr>
          </a:p>
        </p:txBody>
      </p:sp>
      <p:sp>
        <p:nvSpPr>
          <p:cNvPr id="5"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solidFill>
                  <a:schemeClr val="dk1"/>
                </a:solidFill>
                <a:latin typeface="Aptos"/>
              </a:rPr>
              <a:t>Click to edit the outline text format</a:t>
            </a:r>
            <a:endParaRPr b="0" lang="en-US" sz="3200" spc="-1" strike="noStrike">
              <a:solidFill>
                <a:schemeClr val="dk1"/>
              </a:solidFill>
              <a:latin typeface="Aptos"/>
            </a:endParaRPr>
          </a:p>
          <a:p>
            <a:pPr lvl="1" marL="864000" indent="-324000">
              <a:spcBef>
                <a:spcPts val="1134"/>
              </a:spcBef>
              <a:buClr>
                <a:srgbClr val="ffffff"/>
              </a:buClr>
              <a:buSzPct val="75000"/>
              <a:buFont typeface="Symbol" charset="2"/>
              <a:buChar char=""/>
            </a:pPr>
            <a:r>
              <a:rPr b="0" lang="en-US" sz="2400" spc="-1" strike="noStrike">
                <a:solidFill>
                  <a:schemeClr val="dk1"/>
                </a:solidFill>
                <a:latin typeface="Aptos"/>
              </a:rPr>
              <a:t>Second Outline Level</a:t>
            </a:r>
            <a:endParaRPr b="0" lang="en-US" sz="2400" spc="-1" strike="noStrike">
              <a:solidFill>
                <a:schemeClr val="dk1"/>
              </a:solidFill>
              <a:latin typeface="Aptos"/>
            </a:endParaRPr>
          </a:p>
          <a:p>
            <a:pPr lvl="2" marL="1296000" indent="-288000">
              <a:spcBef>
                <a:spcPts val="850"/>
              </a:spcBef>
              <a:buClr>
                <a:srgbClr val="ffffff"/>
              </a:buClr>
              <a:buSzPct val="45000"/>
              <a:buFont typeface="Wingdings" charset="2"/>
              <a:buChar char=""/>
            </a:pPr>
            <a:r>
              <a:rPr b="0" lang="en-US" sz="2000" spc="-1" strike="noStrike">
                <a:solidFill>
                  <a:schemeClr val="dk1"/>
                </a:solidFill>
                <a:latin typeface="Aptos"/>
              </a:rPr>
              <a:t>Third Outline Level</a:t>
            </a:r>
            <a:endParaRPr b="0" lang="en-US" sz="2000" spc="-1" strike="noStrike">
              <a:solidFill>
                <a:schemeClr val="dk1"/>
              </a:solidFill>
              <a:latin typeface="Aptos"/>
            </a:endParaRPr>
          </a:p>
          <a:p>
            <a:pPr lvl="3" marL="1728000" indent="-216000">
              <a:spcBef>
                <a:spcPts val="567"/>
              </a:spcBef>
              <a:buClr>
                <a:srgbClr val="ffffff"/>
              </a:buClr>
              <a:buSzPct val="75000"/>
              <a:buFont typeface="Symbol" charset="2"/>
              <a:buChar char=""/>
            </a:pPr>
            <a:r>
              <a:rPr b="0" lang="en-US" sz="2000" spc="-1" strike="noStrike">
                <a:solidFill>
                  <a:schemeClr val="dk1"/>
                </a:solidFill>
                <a:latin typeface="Aptos"/>
              </a:rPr>
              <a:t>Fourth Outline Level</a:t>
            </a:r>
            <a:endParaRPr b="0" lang="en-US" sz="2000" spc="-1" strike="noStrike">
              <a:solidFill>
                <a:schemeClr val="dk1"/>
              </a:solidFill>
              <a:latin typeface="Aptos"/>
            </a:endParaRPr>
          </a:p>
          <a:p>
            <a:pPr lvl="4" marL="2160000" indent="-216000">
              <a:spcBef>
                <a:spcPts val="283"/>
              </a:spcBef>
              <a:buClr>
                <a:srgbClr val="ffffff"/>
              </a:buClr>
              <a:buSzPct val="45000"/>
              <a:buFont typeface="Wingdings" charset="2"/>
              <a:buChar char=""/>
            </a:pPr>
            <a:r>
              <a:rPr b="0" lang="en-US" sz="2000" spc="-1" strike="noStrike">
                <a:solidFill>
                  <a:schemeClr val="dk1"/>
                </a:solidFill>
                <a:latin typeface="Aptos"/>
              </a:rPr>
              <a:t>Fifth Outline Level</a:t>
            </a:r>
            <a:endParaRPr b="0" lang="en-US" sz="2000" spc="-1" strike="noStrike">
              <a:solidFill>
                <a:schemeClr val="dk1"/>
              </a:solidFill>
              <a:latin typeface="Aptos"/>
            </a:endParaRPr>
          </a:p>
          <a:p>
            <a:pPr lvl="5" marL="2592000" indent="-216000">
              <a:spcBef>
                <a:spcPts val="283"/>
              </a:spcBef>
              <a:buClr>
                <a:srgbClr val="ffffff"/>
              </a:buClr>
              <a:buSzPct val="45000"/>
              <a:buFont typeface="Wingdings" charset="2"/>
              <a:buChar char=""/>
            </a:pPr>
            <a:r>
              <a:rPr b="0" lang="en-US" sz="2000" spc="-1" strike="noStrike">
                <a:solidFill>
                  <a:schemeClr val="dk1"/>
                </a:solidFill>
                <a:latin typeface="Aptos"/>
              </a:rPr>
              <a:t>Sixth Outline Level</a:t>
            </a:r>
            <a:endParaRPr b="0" lang="en-US" sz="2000" spc="-1" strike="noStrike">
              <a:solidFill>
                <a:schemeClr val="dk1"/>
              </a:solidFill>
              <a:latin typeface="Aptos"/>
            </a:endParaRPr>
          </a:p>
          <a:p>
            <a:pPr lvl="6" marL="3024000" indent="-216000">
              <a:spcBef>
                <a:spcPts val="283"/>
              </a:spcBef>
              <a:buClr>
                <a:srgbClr val="ffffff"/>
              </a:buClr>
              <a:buSzPct val="45000"/>
              <a:buFont typeface="Wingdings" charset="2"/>
              <a:buChar char=""/>
            </a:pPr>
            <a:r>
              <a:rPr b="0" lang="en-US" sz="2000" spc="-1" strike="noStrike">
                <a:solidFill>
                  <a:schemeClr val="dk1"/>
                </a:solidFill>
                <a:latin typeface="Aptos"/>
              </a:rPr>
              <a:t>Seventh Outline Level</a:t>
            </a:r>
            <a:endParaRPr b="0" lang="en-US" sz="2000" spc="-1" strike="noStrike">
              <a:solidFill>
                <a:schemeClr val="dk1"/>
              </a:solidFill>
              <a:latin typeface="Aptos"/>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Text 0"/>
          <p:cNvSpPr/>
          <p:nvPr/>
        </p:nvSpPr>
        <p:spPr>
          <a:xfrm>
            <a:off x="685800" y="1078920"/>
            <a:ext cx="6674760" cy="1170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pc="-1" strike="noStrike">
                <a:solidFill>
                  <a:srgbClr val="f3f8fb"/>
                </a:solidFill>
                <a:latin typeface="Aptos"/>
              </a:rPr>
              <a:t>V-ID Grafana</a:t>
            </a:r>
            <a:endParaRPr b="0" lang="en-US" sz="3000" spc="-1" strike="noStrike">
              <a:solidFill>
                <a:srgbClr val="ffffff"/>
              </a:solidFill>
              <a:latin typeface="Arial"/>
            </a:endParaRPr>
          </a:p>
          <a:p>
            <a:pPr defTabSz="914400">
              <a:lnSpc>
                <a:spcPct val="100000"/>
              </a:lnSpc>
              <a:tabLst>
                <a:tab algn="l" pos="0"/>
              </a:tabLst>
            </a:pPr>
            <a:r>
              <a:rPr b="1" lang="en-US" sz="3000" spc="-1" strike="noStrike">
                <a:solidFill>
                  <a:srgbClr val="f3f8fb"/>
                </a:solidFill>
                <a:latin typeface="Aptos"/>
              </a:rPr>
              <a:t>Monitoring System</a:t>
            </a:r>
            <a:endParaRPr b="0" lang="en-US" sz="3000" spc="-1" strike="noStrike">
              <a:solidFill>
                <a:srgbClr val="ffffff"/>
              </a:solidFill>
              <a:latin typeface="Arial"/>
            </a:endParaRPr>
          </a:p>
        </p:txBody>
      </p:sp>
      <p:sp>
        <p:nvSpPr>
          <p:cNvPr id="13" name="Text 1"/>
          <p:cNvSpPr/>
          <p:nvPr/>
        </p:nvSpPr>
        <p:spPr>
          <a:xfrm>
            <a:off x="731520" y="2487240"/>
            <a:ext cx="6857640" cy="731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800" spc="-1" strike="noStrike">
                <a:solidFill>
                  <a:srgbClr val="9ab0be"/>
                </a:solidFill>
                <a:latin typeface="Aptos"/>
              </a:rPr>
              <a:t>Observability lab cho Identity Platform — từ KPI/SLO đến alerting, trace và chẩn đoán bottleneck</a:t>
            </a:r>
            <a:endParaRPr b="0" lang="en-US" sz="1800" spc="-1" strike="noStrike">
              <a:solidFill>
                <a:srgbClr val="ffffff"/>
              </a:solidFill>
              <a:latin typeface="Arial"/>
            </a:endParaRPr>
          </a:p>
        </p:txBody>
      </p:sp>
      <p:sp>
        <p:nvSpPr>
          <p:cNvPr id="14" name="Shape 2"/>
          <p:cNvSpPr/>
          <p:nvPr/>
        </p:nvSpPr>
        <p:spPr>
          <a:xfrm>
            <a:off x="731520" y="3474720"/>
            <a:ext cx="1554120" cy="310680"/>
          </a:xfrm>
          <a:prstGeom prst="roundRect">
            <a:avLst>
              <a:gd name="adj" fmla="val 17647"/>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5" name="Text 3"/>
          <p:cNvSpPr/>
          <p:nvPr/>
        </p:nvSpPr>
        <p:spPr>
          <a:xfrm>
            <a:off x="804600" y="3525120"/>
            <a:ext cx="140796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PROMETHEUS</a:t>
            </a:r>
            <a:endParaRPr b="0" lang="en-US" sz="1600" spc="-1" strike="noStrike">
              <a:solidFill>
                <a:srgbClr val="ffffff"/>
              </a:solidFill>
              <a:latin typeface="Arial"/>
            </a:endParaRPr>
          </a:p>
        </p:txBody>
      </p:sp>
      <p:sp>
        <p:nvSpPr>
          <p:cNvPr id="16" name="Shape 4"/>
          <p:cNvSpPr/>
          <p:nvPr/>
        </p:nvSpPr>
        <p:spPr>
          <a:xfrm>
            <a:off x="2423160" y="3474720"/>
            <a:ext cx="1234080" cy="310680"/>
          </a:xfrm>
          <a:prstGeom prst="roundRect">
            <a:avLst>
              <a:gd name="adj" fmla="val 17647"/>
            </a:avLst>
          </a:prstGeom>
          <a:solidFill>
            <a:srgbClr val="42b4e6"/>
          </a:solidFill>
          <a:ln w="12700">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7" name="Text 5"/>
          <p:cNvSpPr/>
          <p:nvPr/>
        </p:nvSpPr>
        <p:spPr>
          <a:xfrm>
            <a:off x="2496240" y="3525120"/>
            <a:ext cx="108792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GRAFANA</a:t>
            </a:r>
            <a:endParaRPr b="0" lang="en-US" sz="1600" spc="-1" strike="noStrike">
              <a:solidFill>
                <a:srgbClr val="ffffff"/>
              </a:solidFill>
              <a:latin typeface="Arial"/>
            </a:endParaRPr>
          </a:p>
        </p:txBody>
      </p:sp>
      <p:sp>
        <p:nvSpPr>
          <p:cNvPr id="18" name="Shape 6"/>
          <p:cNvSpPr/>
          <p:nvPr/>
        </p:nvSpPr>
        <p:spPr>
          <a:xfrm>
            <a:off x="3794760" y="3474720"/>
            <a:ext cx="1599840" cy="310680"/>
          </a:xfrm>
          <a:prstGeom prst="roundRect">
            <a:avLst>
              <a:gd name="adj" fmla="val 17647"/>
            </a:avLst>
          </a:prstGeom>
          <a:solidFill>
            <a:srgbClr val="f5c451"/>
          </a:solidFill>
          <a:ln w="12700">
            <a:solidFill>
              <a:srgbClr val="f5c45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9" name="Text 7"/>
          <p:cNvSpPr/>
          <p:nvPr/>
        </p:nvSpPr>
        <p:spPr>
          <a:xfrm>
            <a:off x="3867840" y="3525120"/>
            <a:ext cx="145368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ALERTING</a:t>
            </a:r>
            <a:endParaRPr b="0" lang="en-US" sz="1600" spc="-1" strike="noStrike">
              <a:solidFill>
                <a:srgbClr val="ffffff"/>
              </a:solidFill>
              <a:latin typeface="Arial"/>
            </a:endParaRPr>
          </a:p>
        </p:txBody>
      </p:sp>
      <p:sp>
        <p:nvSpPr>
          <p:cNvPr id="20" name="Shape 8"/>
          <p:cNvSpPr/>
          <p:nvPr/>
        </p:nvSpPr>
        <p:spPr>
          <a:xfrm>
            <a:off x="5532120" y="3474720"/>
            <a:ext cx="1325520" cy="310680"/>
          </a:xfrm>
          <a:prstGeom prst="roundRect">
            <a:avLst>
              <a:gd name="adj" fmla="val 17647"/>
            </a:avLst>
          </a:prstGeom>
          <a:solidFill>
            <a:srgbClr val="48d597"/>
          </a:solidFill>
          <a:ln w="12700">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1" name="Text 9"/>
          <p:cNvSpPr/>
          <p:nvPr/>
        </p:nvSpPr>
        <p:spPr>
          <a:xfrm>
            <a:off x="5605200" y="3525120"/>
            <a:ext cx="117936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TEMPO</a:t>
            </a:r>
            <a:endParaRPr b="0" lang="en-US" sz="1600" spc="-1" strike="noStrike">
              <a:solidFill>
                <a:srgbClr val="ffffff"/>
              </a:solidFill>
              <a:latin typeface="Arial"/>
            </a:endParaRPr>
          </a:p>
        </p:txBody>
      </p:sp>
      <p:sp>
        <p:nvSpPr>
          <p:cNvPr id="22" name="Shape 10"/>
          <p:cNvSpPr/>
          <p:nvPr/>
        </p:nvSpPr>
        <p:spPr>
          <a:xfrm>
            <a:off x="8229600" y="1234440"/>
            <a:ext cx="2468520" cy="658080"/>
          </a:xfrm>
          <a:prstGeom prst="roundRect">
            <a:avLst>
              <a:gd name="adj" fmla="val 16667"/>
            </a:avLst>
          </a:prstGeom>
          <a:solidFill>
            <a:srgbClr val="102636"/>
          </a:solidFill>
          <a:ln w="15875">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3" name="Text 11"/>
          <p:cNvSpPr/>
          <p:nvPr/>
        </p:nvSpPr>
        <p:spPr>
          <a:xfrm>
            <a:off x="8321040" y="1353240"/>
            <a:ext cx="228564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Metrics Simulator</a:t>
            </a:r>
            <a:endParaRPr b="0" lang="en-US" sz="1600" spc="-1" strike="noStrike">
              <a:solidFill>
                <a:srgbClr val="ffffff"/>
              </a:solidFill>
              <a:latin typeface="Arial"/>
            </a:endParaRPr>
          </a:p>
        </p:txBody>
      </p:sp>
      <p:sp>
        <p:nvSpPr>
          <p:cNvPr id="24" name="Text 12"/>
          <p:cNvSpPr/>
          <p:nvPr/>
        </p:nvSpPr>
        <p:spPr>
          <a:xfrm>
            <a:off x="8321040" y="1600200"/>
            <a:ext cx="228564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600" spc="-1" strike="noStrike">
                <a:solidFill>
                  <a:srgbClr val="9ab0be"/>
                </a:solidFill>
                <a:latin typeface="Aptos"/>
              </a:rPr>
              <a:t>synthetic V-ID traffic</a:t>
            </a:r>
            <a:endParaRPr b="0" lang="en-US" sz="1600" spc="-1" strike="noStrike">
              <a:solidFill>
                <a:srgbClr val="ffffff"/>
              </a:solidFill>
              <a:latin typeface="Arial"/>
            </a:endParaRPr>
          </a:p>
        </p:txBody>
      </p:sp>
      <p:sp>
        <p:nvSpPr>
          <p:cNvPr id="25" name="Shape 13"/>
          <p:cNvSpPr/>
          <p:nvPr/>
        </p:nvSpPr>
        <p:spPr>
          <a:xfrm>
            <a:off x="7543800" y="2395800"/>
            <a:ext cx="1554120" cy="658080"/>
          </a:xfrm>
          <a:prstGeom prst="roundRect">
            <a:avLst>
              <a:gd name="adj" fmla="val 16667"/>
            </a:avLst>
          </a:prstGeom>
          <a:solidFill>
            <a:srgbClr val="102636"/>
          </a:solidFill>
          <a:ln w="15875">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6" name="Text 14"/>
          <p:cNvSpPr/>
          <p:nvPr/>
        </p:nvSpPr>
        <p:spPr>
          <a:xfrm>
            <a:off x="7635240" y="2514600"/>
            <a:ext cx="137124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Prometheus</a:t>
            </a:r>
            <a:endParaRPr b="0" lang="en-US" sz="1600" spc="-1" strike="noStrike">
              <a:solidFill>
                <a:srgbClr val="ffffff"/>
              </a:solidFill>
              <a:latin typeface="Arial"/>
            </a:endParaRPr>
          </a:p>
        </p:txBody>
      </p:sp>
      <p:sp>
        <p:nvSpPr>
          <p:cNvPr id="27" name="Text 15"/>
          <p:cNvSpPr/>
          <p:nvPr/>
        </p:nvSpPr>
        <p:spPr>
          <a:xfrm>
            <a:off x="7635240" y="2761560"/>
            <a:ext cx="1371240" cy="237240"/>
          </a:xfrm>
          <a:prstGeom prst="rect">
            <a:avLst/>
          </a:prstGeom>
          <a:noFill/>
          <a:ln w="0">
            <a:noFill/>
          </a:ln>
        </p:spPr>
        <p:style>
          <a:lnRef idx="0"/>
          <a:fillRef idx="0"/>
          <a:effectRef idx="0"/>
          <a:fontRef idx="minor"/>
        </p:style>
        <p:txBody>
          <a:bodyPr lIns="0" rIns="0" tIns="0" bIns="0" anchor="ctr">
            <a:normAutofit fontScale="93333"/>
          </a:bodyPr>
          <a:p>
            <a:pPr algn="ctr" defTabSz="914400">
              <a:lnSpc>
                <a:spcPct val="100000"/>
              </a:lnSpc>
              <a:tabLst>
                <a:tab algn="l" pos="0"/>
              </a:tabLst>
            </a:pPr>
            <a:r>
              <a:rPr b="0" lang="en-US" sz="1600" spc="-1" strike="noStrike">
                <a:solidFill>
                  <a:srgbClr val="9ab0be"/>
                </a:solidFill>
                <a:latin typeface="Aptos"/>
              </a:rPr>
              <a:t>metrics + rules</a:t>
            </a:r>
            <a:endParaRPr b="0" lang="en-US" sz="1600" spc="-1" strike="noStrike">
              <a:solidFill>
                <a:srgbClr val="ffffff"/>
              </a:solidFill>
              <a:latin typeface="Arial"/>
            </a:endParaRPr>
          </a:p>
        </p:txBody>
      </p:sp>
      <p:sp>
        <p:nvSpPr>
          <p:cNvPr id="28" name="Shape 16"/>
          <p:cNvSpPr/>
          <p:nvPr/>
        </p:nvSpPr>
        <p:spPr>
          <a:xfrm>
            <a:off x="9464040" y="2395800"/>
            <a:ext cx="1554120" cy="658080"/>
          </a:xfrm>
          <a:prstGeom prst="roundRect">
            <a:avLst>
              <a:gd name="adj" fmla="val 16667"/>
            </a:avLst>
          </a:prstGeom>
          <a:solidFill>
            <a:srgbClr val="102636"/>
          </a:solidFill>
          <a:ln w="15875">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9" name="Text 17"/>
          <p:cNvSpPr/>
          <p:nvPr/>
        </p:nvSpPr>
        <p:spPr>
          <a:xfrm>
            <a:off x="9555480" y="2514600"/>
            <a:ext cx="137124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OTel</a:t>
            </a:r>
            <a:endParaRPr b="0" lang="en-US" sz="1600" spc="-1" strike="noStrike">
              <a:solidFill>
                <a:srgbClr val="ffffff"/>
              </a:solidFill>
              <a:latin typeface="Arial"/>
            </a:endParaRPr>
          </a:p>
        </p:txBody>
      </p:sp>
      <p:sp>
        <p:nvSpPr>
          <p:cNvPr id="30" name="Text 18"/>
          <p:cNvSpPr/>
          <p:nvPr/>
        </p:nvSpPr>
        <p:spPr>
          <a:xfrm>
            <a:off x="9555480" y="2761560"/>
            <a:ext cx="1371240" cy="237240"/>
          </a:xfrm>
          <a:prstGeom prst="rect">
            <a:avLst/>
          </a:prstGeom>
          <a:noFill/>
          <a:ln w="0">
            <a:noFill/>
          </a:ln>
        </p:spPr>
        <p:style>
          <a:lnRef idx="0"/>
          <a:fillRef idx="0"/>
          <a:effectRef idx="0"/>
          <a:fontRef idx="minor"/>
        </p:style>
        <p:txBody>
          <a:bodyPr lIns="0" rIns="0" tIns="0" bIns="0" anchor="ctr">
            <a:normAutofit fontScale="93333"/>
          </a:bodyPr>
          <a:p>
            <a:pPr algn="ctr" defTabSz="914400">
              <a:lnSpc>
                <a:spcPct val="100000"/>
              </a:lnSpc>
              <a:tabLst>
                <a:tab algn="l" pos="0"/>
              </a:tabLst>
            </a:pPr>
            <a:r>
              <a:rPr b="0" lang="en-US" sz="1600" spc="-1" strike="noStrike">
                <a:solidFill>
                  <a:srgbClr val="9ab0be"/>
                </a:solidFill>
                <a:latin typeface="Aptos"/>
              </a:rPr>
              <a:t>sampled traces</a:t>
            </a:r>
            <a:endParaRPr b="0" lang="en-US" sz="1600" spc="-1" strike="noStrike">
              <a:solidFill>
                <a:srgbClr val="ffffff"/>
              </a:solidFill>
              <a:latin typeface="Arial"/>
            </a:endParaRPr>
          </a:p>
        </p:txBody>
      </p:sp>
      <p:sp>
        <p:nvSpPr>
          <p:cNvPr id="31" name="Shape 19"/>
          <p:cNvSpPr/>
          <p:nvPr/>
        </p:nvSpPr>
        <p:spPr>
          <a:xfrm>
            <a:off x="7543800" y="3657600"/>
            <a:ext cx="1554120" cy="658080"/>
          </a:xfrm>
          <a:prstGeom prst="roundRect">
            <a:avLst>
              <a:gd name="adj" fmla="val 16667"/>
            </a:avLst>
          </a:prstGeom>
          <a:solidFill>
            <a:srgbClr val="102636"/>
          </a:solidFill>
          <a:ln w="15875">
            <a:solidFill>
              <a:srgbClr val="f5c45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2" name="Text 20"/>
          <p:cNvSpPr/>
          <p:nvPr/>
        </p:nvSpPr>
        <p:spPr>
          <a:xfrm>
            <a:off x="7635240" y="3776400"/>
            <a:ext cx="1371240" cy="228240"/>
          </a:xfrm>
          <a:prstGeom prst="rect">
            <a:avLst/>
          </a:prstGeom>
          <a:noFill/>
          <a:ln w="0">
            <a:noFill/>
          </a:ln>
        </p:spPr>
        <p:style>
          <a:lnRef idx="0"/>
          <a:fillRef idx="0"/>
          <a:effectRef idx="0"/>
          <a:fontRef idx="minor"/>
        </p:style>
        <p:txBody>
          <a:bodyPr lIns="0" rIns="0" tIns="0" bIns="0" anchor="ctr">
            <a:normAutofit fontScale="93333"/>
          </a:bodyPr>
          <a:p>
            <a:pPr algn="ctr" defTabSz="914400">
              <a:lnSpc>
                <a:spcPct val="100000"/>
              </a:lnSpc>
              <a:tabLst>
                <a:tab algn="l" pos="0"/>
              </a:tabLst>
            </a:pPr>
            <a:r>
              <a:rPr b="1" lang="en-US" sz="1600" spc="-1" strike="noStrike">
                <a:solidFill>
                  <a:srgbClr val="f3f8fb"/>
                </a:solidFill>
                <a:latin typeface="Aptos"/>
              </a:rPr>
              <a:t>Alertmanager</a:t>
            </a:r>
            <a:endParaRPr b="0" lang="en-US" sz="1600" spc="-1" strike="noStrike">
              <a:solidFill>
                <a:srgbClr val="ffffff"/>
              </a:solidFill>
              <a:latin typeface="Arial"/>
            </a:endParaRPr>
          </a:p>
        </p:txBody>
      </p:sp>
      <p:sp>
        <p:nvSpPr>
          <p:cNvPr id="33" name="Text 21"/>
          <p:cNvSpPr/>
          <p:nvPr/>
        </p:nvSpPr>
        <p:spPr>
          <a:xfrm>
            <a:off x="7635240" y="4023360"/>
            <a:ext cx="137124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600" spc="-1" strike="noStrike">
                <a:solidFill>
                  <a:srgbClr val="9ab0be"/>
                </a:solidFill>
                <a:latin typeface="Aptos"/>
              </a:rPr>
              <a:t>routing</a:t>
            </a:r>
            <a:endParaRPr b="0" lang="en-US" sz="1600" spc="-1" strike="noStrike">
              <a:solidFill>
                <a:srgbClr val="ffffff"/>
              </a:solidFill>
              <a:latin typeface="Arial"/>
            </a:endParaRPr>
          </a:p>
        </p:txBody>
      </p:sp>
      <p:sp>
        <p:nvSpPr>
          <p:cNvPr id="34" name="Shape 22"/>
          <p:cNvSpPr/>
          <p:nvPr/>
        </p:nvSpPr>
        <p:spPr>
          <a:xfrm>
            <a:off x="9464040" y="3657600"/>
            <a:ext cx="1554120" cy="658080"/>
          </a:xfrm>
          <a:prstGeom prst="roundRect">
            <a:avLst>
              <a:gd name="adj" fmla="val 16667"/>
            </a:avLst>
          </a:prstGeom>
          <a:solidFill>
            <a:srgbClr val="102636"/>
          </a:solidFill>
          <a:ln w="15875">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5" name="Text 23"/>
          <p:cNvSpPr/>
          <p:nvPr/>
        </p:nvSpPr>
        <p:spPr>
          <a:xfrm>
            <a:off x="9555480" y="3776400"/>
            <a:ext cx="137124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Tempo</a:t>
            </a:r>
            <a:endParaRPr b="0" lang="en-US" sz="1600" spc="-1" strike="noStrike">
              <a:solidFill>
                <a:srgbClr val="ffffff"/>
              </a:solidFill>
              <a:latin typeface="Arial"/>
            </a:endParaRPr>
          </a:p>
        </p:txBody>
      </p:sp>
      <p:sp>
        <p:nvSpPr>
          <p:cNvPr id="36" name="Text 24"/>
          <p:cNvSpPr/>
          <p:nvPr/>
        </p:nvSpPr>
        <p:spPr>
          <a:xfrm>
            <a:off x="9555480" y="4023360"/>
            <a:ext cx="137124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600" spc="-1" strike="noStrike">
                <a:solidFill>
                  <a:srgbClr val="9ab0be"/>
                </a:solidFill>
                <a:latin typeface="Aptos"/>
              </a:rPr>
              <a:t>trace store</a:t>
            </a:r>
            <a:endParaRPr b="0" lang="en-US" sz="1600" spc="-1" strike="noStrike">
              <a:solidFill>
                <a:srgbClr val="ffffff"/>
              </a:solidFill>
              <a:latin typeface="Arial"/>
            </a:endParaRPr>
          </a:p>
        </p:txBody>
      </p:sp>
      <p:sp>
        <p:nvSpPr>
          <p:cNvPr id="37" name="Shape 25"/>
          <p:cNvSpPr/>
          <p:nvPr/>
        </p:nvSpPr>
        <p:spPr>
          <a:xfrm>
            <a:off x="8503920" y="4892040"/>
            <a:ext cx="2194200" cy="658080"/>
          </a:xfrm>
          <a:prstGeom prst="roundRect">
            <a:avLst>
              <a:gd name="adj" fmla="val 16667"/>
            </a:avLst>
          </a:prstGeom>
          <a:solidFill>
            <a:srgbClr val="102636"/>
          </a:solidFill>
          <a:ln w="15875">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8" name="Text 26"/>
          <p:cNvSpPr/>
          <p:nvPr/>
        </p:nvSpPr>
        <p:spPr>
          <a:xfrm>
            <a:off x="8595360" y="5010840"/>
            <a:ext cx="201132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Grafana</a:t>
            </a:r>
            <a:endParaRPr b="0" lang="en-US" sz="1600" spc="-1" strike="noStrike">
              <a:solidFill>
                <a:srgbClr val="ffffff"/>
              </a:solidFill>
              <a:latin typeface="Arial"/>
            </a:endParaRPr>
          </a:p>
        </p:txBody>
      </p:sp>
      <p:sp>
        <p:nvSpPr>
          <p:cNvPr id="39" name="Text 27"/>
          <p:cNvSpPr/>
          <p:nvPr/>
        </p:nvSpPr>
        <p:spPr>
          <a:xfrm>
            <a:off x="8595360" y="5257800"/>
            <a:ext cx="201132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600" spc="-1" strike="noStrike">
                <a:solidFill>
                  <a:srgbClr val="9ab0be"/>
                </a:solidFill>
                <a:latin typeface="Aptos"/>
              </a:rPr>
              <a:t>8 core dashboards</a:t>
            </a:r>
            <a:endParaRPr b="0" lang="en-US" sz="1600" spc="-1" strike="noStrike">
              <a:solidFill>
                <a:srgbClr val="ffffff"/>
              </a:solidFill>
              <a:latin typeface="Arial"/>
            </a:endParaRPr>
          </a:p>
        </p:txBody>
      </p:sp>
      <p:sp>
        <p:nvSpPr>
          <p:cNvPr id="40" name="Shape 28"/>
          <p:cNvSpPr/>
          <p:nvPr/>
        </p:nvSpPr>
        <p:spPr>
          <a:xfrm flipH="1">
            <a:off x="8321040" y="1901880"/>
            <a:ext cx="1143000" cy="475560"/>
          </a:xfrm>
          <a:prstGeom prst="line">
            <a:avLst/>
          </a:prstGeom>
          <a:ln w="21590">
            <a:solidFill>
              <a:srgbClr val="678296"/>
            </a:solidFill>
            <a:round/>
            <a:tailEnd len="med" type="triangle" w="me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41" name="Text 29"/>
          <p:cNvSpPr/>
          <p:nvPr/>
        </p:nvSpPr>
        <p:spPr>
          <a:xfrm>
            <a:off x="8389800" y="1929240"/>
            <a:ext cx="10054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600" spc="-1" strike="noStrike">
                <a:solidFill>
                  <a:srgbClr val="9ab0be"/>
                </a:solidFill>
                <a:latin typeface="Aptos"/>
              </a:rPr>
              <a:t>metrics</a:t>
            </a:r>
            <a:endParaRPr b="0" lang="en-US" sz="1600" spc="-1" strike="noStrike">
              <a:solidFill>
                <a:srgbClr val="ffffff"/>
              </a:solidFill>
              <a:latin typeface="Arial"/>
            </a:endParaRPr>
          </a:p>
        </p:txBody>
      </p:sp>
      <p:sp>
        <p:nvSpPr>
          <p:cNvPr id="42" name="Shape 30"/>
          <p:cNvSpPr/>
          <p:nvPr/>
        </p:nvSpPr>
        <p:spPr>
          <a:xfrm>
            <a:off x="9464040" y="1901880"/>
            <a:ext cx="777240" cy="475560"/>
          </a:xfrm>
          <a:prstGeom prst="line">
            <a:avLst/>
          </a:prstGeom>
          <a:ln w="21590">
            <a:solidFill>
              <a:srgbClr val="678296"/>
            </a:solidFill>
            <a:round/>
            <a:tailEnd len="med" type="triangle" w="me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43" name="Text 31"/>
          <p:cNvSpPr/>
          <p:nvPr/>
        </p:nvSpPr>
        <p:spPr>
          <a:xfrm>
            <a:off x="9349920" y="1929240"/>
            <a:ext cx="10054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600" spc="-1" strike="noStrike">
                <a:solidFill>
                  <a:srgbClr val="9ab0be"/>
                </a:solidFill>
                <a:latin typeface="Aptos"/>
              </a:rPr>
              <a:t>OTLP</a:t>
            </a:r>
            <a:endParaRPr b="0" lang="en-US" sz="1600" spc="-1" strike="noStrike">
              <a:solidFill>
                <a:srgbClr val="ffffff"/>
              </a:solidFill>
              <a:latin typeface="Arial"/>
            </a:endParaRPr>
          </a:p>
        </p:txBody>
      </p:sp>
      <p:sp>
        <p:nvSpPr>
          <p:cNvPr id="44" name="Shape 32"/>
          <p:cNvSpPr/>
          <p:nvPr/>
        </p:nvSpPr>
        <p:spPr>
          <a:xfrm>
            <a:off x="8321040" y="3053880"/>
            <a:ext cx="360" cy="585360"/>
          </a:xfrm>
          <a:prstGeom prst="line">
            <a:avLst/>
          </a:prstGeom>
          <a:ln w="21590">
            <a:solidFill>
              <a:srgbClr val="678296"/>
            </a:solidFill>
            <a:round/>
            <a:tailEnd len="med" type="triangle" w="me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45" name="Text 33"/>
          <p:cNvSpPr/>
          <p:nvPr/>
        </p:nvSpPr>
        <p:spPr>
          <a:xfrm>
            <a:off x="7818120" y="3136320"/>
            <a:ext cx="10054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600" spc="-1" strike="noStrike">
                <a:solidFill>
                  <a:srgbClr val="9ab0be"/>
                </a:solidFill>
                <a:latin typeface="Aptos"/>
              </a:rPr>
              <a:t>alerts</a:t>
            </a:r>
            <a:endParaRPr b="0" lang="en-US" sz="1600" spc="-1" strike="noStrike">
              <a:solidFill>
                <a:srgbClr val="ffffff"/>
              </a:solidFill>
              <a:latin typeface="Arial"/>
            </a:endParaRPr>
          </a:p>
        </p:txBody>
      </p:sp>
      <p:sp>
        <p:nvSpPr>
          <p:cNvPr id="46" name="Shape 34"/>
          <p:cNvSpPr/>
          <p:nvPr/>
        </p:nvSpPr>
        <p:spPr>
          <a:xfrm>
            <a:off x="10241280" y="3053880"/>
            <a:ext cx="360" cy="585360"/>
          </a:xfrm>
          <a:prstGeom prst="line">
            <a:avLst/>
          </a:prstGeom>
          <a:ln w="21590">
            <a:solidFill>
              <a:srgbClr val="678296"/>
            </a:solidFill>
            <a:round/>
            <a:tailEnd len="med" type="triangle" w="me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47" name="Text 35"/>
          <p:cNvSpPr/>
          <p:nvPr/>
        </p:nvSpPr>
        <p:spPr>
          <a:xfrm>
            <a:off x="9738360" y="3136320"/>
            <a:ext cx="10054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600" spc="-1" strike="noStrike">
                <a:solidFill>
                  <a:srgbClr val="9ab0be"/>
                </a:solidFill>
                <a:latin typeface="Aptos"/>
              </a:rPr>
              <a:t>traces</a:t>
            </a:r>
            <a:endParaRPr b="0" lang="en-US" sz="1600" spc="-1" strike="noStrike">
              <a:solidFill>
                <a:srgbClr val="ffffff"/>
              </a:solidFill>
              <a:latin typeface="Arial"/>
            </a:endParaRPr>
          </a:p>
        </p:txBody>
      </p:sp>
      <p:sp>
        <p:nvSpPr>
          <p:cNvPr id="48" name="Shape 36"/>
          <p:cNvSpPr/>
          <p:nvPr/>
        </p:nvSpPr>
        <p:spPr>
          <a:xfrm>
            <a:off x="8321040" y="4315680"/>
            <a:ext cx="822960" cy="576360"/>
          </a:xfrm>
          <a:prstGeom prst="line">
            <a:avLst/>
          </a:prstGeom>
          <a:ln w="21590">
            <a:solidFill>
              <a:srgbClr val="678296"/>
            </a:solidFill>
            <a:round/>
            <a:tailEnd len="med" type="triangle" w="me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49" name="Shape 37"/>
          <p:cNvSpPr/>
          <p:nvPr/>
        </p:nvSpPr>
        <p:spPr>
          <a:xfrm flipH="1">
            <a:off x="9966960" y="4315680"/>
            <a:ext cx="274320" cy="576360"/>
          </a:xfrm>
          <a:prstGeom prst="line">
            <a:avLst/>
          </a:prstGeom>
          <a:ln w="21590">
            <a:solidFill>
              <a:srgbClr val="678296"/>
            </a:solidFill>
            <a:round/>
            <a:tailEnd len="med" type="triangle" w="me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50" name="Text 38"/>
          <p:cNvSpPr/>
          <p:nvPr/>
        </p:nvSpPr>
        <p:spPr>
          <a:xfrm>
            <a:off x="731520" y="4956120"/>
            <a:ext cx="676620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678296"/>
                </a:solidFill>
                <a:latin typeface="Aptos"/>
              </a:rPr>
              <a:t>Repo: tuanem051203/V-ID_grafana_monitoring_system</a:t>
            </a:r>
            <a:endParaRPr b="0" lang="en-US" sz="1600" spc="-1" strike="noStrike">
              <a:solidFill>
                <a:srgbClr val="ffffff"/>
              </a:solidFill>
              <a:latin typeface="Arial"/>
            </a:endParaRPr>
          </a:p>
        </p:txBody>
      </p:sp>
      <p:sp>
        <p:nvSpPr>
          <p:cNvPr id="51" name="PlaceHolder 1"/>
          <p:cNvSpPr>
            <a:spLocks noGrp="1"/>
          </p:cNvSpPr>
          <p:nvPr>
            <p:ph type="sldNum" idx="5"/>
          </p:nvPr>
        </p:nvSpPr>
        <p:spPr>
          <a:xfrm>
            <a:off x="11777400" y="6473880"/>
            <a:ext cx="414000" cy="299520"/>
          </a:xfrm>
          <a:prstGeom prst="rect">
            <a:avLst/>
          </a:prstGeom>
          <a:noFill/>
          <a:ln w="0">
            <a:noFill/>
          </a:ln>
        </p:spPr>
        <p:txBody>
          <a:bodyPr lIns="88920" rIns="8892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BCB0C55B-8CEE-485F-96D5-CAF4FAF95BDC}" type="slidenum">
              <a:rPr b="0" lang="en-US" sz="800" spc="-1" strike="noStrike">
                <a:solidFill>
                  <a:srgbClr val="678296"/>
                </a:solidFill>
                <a:latin typeface="Aptos"/>
                <a:ea typeface="Aptos"/>
              </a:rPr>
              <a:t>1</a:t>
            </a:fld>
            <a:endParaRPr b="0" lang="en-US" sz="8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Rectangle 1"/>
          <p:cNvSpPr/>
          <p:nvPr/>
        </p:nvSpPr>
        <p:spPr>
          <a:xfrm>
            <a:off x="0" y="0"/>
            <a:ext cx="12191760" cy="6857640"/>
          </a:xfrm>
          <a:prstGeom prst="rect">
            <a:avLst/>
          </a:prstGeom>
          <a:solidFill>
            <a:srgbClr val="0a111d"/>
          </a:solidFill>
          <a:ln>
            <a:no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53" name="TextBox 2"/>
          <p:cNvSpPr/>
          <p:nvPr/>
        </p:nvSpPr>
        <p:spPr>
          <a:xfrm>
            <a:off x="640080" y="384120"/>
            <a:ext cx="10972440" cy="48564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pPr>
            <a:r>
              <a:rPr b="1" lang="en-US" sz="2600" spc="-1" strike="noStrike">
                <a:solidFill>
                  <a:srgbClr val="f2f6fc"/>
                </a:solidFill>
                <a:latin typeface="Aptos"/>
              </a:rPr>
              <a:t>01 — V-ID Monitoring: Chúng ta muốn quan sát điều gì?</a:t>
            </a:r>
            <a:endParaRPr b="0" lang="en-US" sz="2600" spc="-1" strike="noStrike">
              <a:solidFill>
                <a:srgbClr val="ffffff"/>
              </a:solidFill>
              <a:latin typeface="Arial"/>
            </a:endParaRPr>
          </a:p>
        </p:txBody>
      </p:sp>
      <p:sp>
        <p:nvSpPr>
          <p:cNvPr id="54" name="TextBox 3"/>
          <p:cNvSpPr/>
          <p:nvPr/>
        </p:nvSpPr>
        <p:spPr>
          <a:xfrm>
            <a:off x="640080" y="932760"/>
            <a:ext cx="10972440" cy="54684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pPr>
            <a:r>
              <a:rPr b="0" lang="en-US" sz="1500" spc="-86" strike="noStrike">
                <a:solidFill>
                  <a:srgbClr val="a6b4c8"/>
                </a:solidFill>
                <a:latin typeface="Aptos"/>
              </a:rPr>
              <a:t>Monitoring không chỉ trả lời “hệ thống có lỗi không?”, mà cần chỉ ra </a:t>
            </a:r>
            <a:r>
              <a:rPr b="1" lang="en-US" sz="1500" spc="-86" strike="noStrike">
                <a:solidFill>
                  <a:srgbClr val="f2f6fc"/>
                </a:solidFill>
                <a:latin typeface="Aptos"/>
              </a:rPr>
              <a:t>luồng nào bị ảnh hưởng, lỗi ở đâu và người dùng đang gặp vấn đề gì.</a:t>
            </a:r>
            <a:endParaRPr b="0" lang="en-US" sz="1500" spc="-86" strike="noStrike">
              <a:solidFill>
                <a:srgbClr val="ffffff"/>
              </a:solidFill>
              <a:latin typeface="Arial"/>
            </a:endParaRPr>
          </a:p>
        </p:txBody>
      </p:sp>
      <p:sp>
        <p:nvSpPr>
          <p:cNvPr id="55" name="Rounded Rectangle 4"/>
          <p:cNvSpPr/>
          <p:nvPr/>
        </p:nvSpPr>
        <p:spPr>
          <a:xfrm>
            <a:off x="640080" y="1755720"/>
            <a:ext cx="3062880" cy="2239920"/>
          </a:xfrm>
          <a:prstGeom prst="roundRect">
            <a:avLst>
              <a:gd name="adj" fmla="val 16667"/>
            </a:avLst>
          </a:prstGeom>
          <a:solidFill>
            <a:srgbClr val="141f30"/>
          </a:solidFill>
          <a:ln>
            <a:solidFill>
              <a:srgbClr val="2d425c"/>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56" name="Oval 5"/>
          <p:cNvSpPr/>
          <p:nvPr/>
        </p:nvSpPr>
        <p:spPr>
          <a:xfrm>
            <a:off x="804600" y="1938600"/>
            <a:ext cx="411120" cy="411120"/>
          </a:xfrm>
          <a:prstGeom prst="ellipse">
            <a:avLst/>
          </a:prstGeom>
          <a:solidFill>
            <a:srgbClr val="56a6ff"/>
          </a:solidFill>
          <a:ln>
            <a:no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57" name="TextBox 6"/>
          <p:cNvSpPr/>
          <p:nvPr/>
        </p:nvSpPr>
        <p:spPr>
          <a:xfrm>
            <a:off x="804600" y="1984320"/>
            <a:ext cx="411120" cy="27252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200" spc="-1" strike="noStrike">
                <a:solidFill>
                  <a:srgbClr val="f2f6fc"/>
                </a:solidFill>
                <a:latin typeface="Aptos"/>
              </a:rPr>
              <a:t>1</a:t>
            </a:r>
            <a:endParaRPr b="0" lang="en-US" sz="1200" spc="-1" strike="noStrike">
              <a:solidFill>
                <a:srgbClr val="ffffff"/>
              </a:solidFill>
              <a:latin typeface="Arial"/>
            </a:endParaRPr>
          </a:p>
        </p:txBody>
      </p:sp>
      <p:sp>
        <p:nvSpPr>
          <p:cNvPr id="58" name="TextBox 7"/>
          <p:cNvSpPr/>
          <p:nvPr/>
        </p:nvSpPr>
        <p:spPr>
          <a:xfrm>
            <a:off x="1325880" y="1920240"/>
            <a:ext cx="2148480" cy="33336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pPr>
            <a:r>
              <a:rPr b="1" lang="en-US" sz="1600" spc="-1" strike="noStrike">
                <a:solidFill>
                  <a:srgbClr val="56a6ff"/>
                </a:solidFill>
                <a:latin typeface="Aptos"/>
              </a:rPr>
              <a:t>Theo dõi sức khỏe</a:t>
            </a:r>
            <a:endParaRPr b="0" lang="en-US" sz="1600" spc="-1" strike="noStrike">
              <a:solidFill>
                <a:srgbClr val="ffffff"/>
              </a:solidFill>
              <a:latin typeface="Arial"/>
            </a:endParaRPr>
          </a:p>
        </p:txBody>
      </p:sp>
      <p:sp>
        <p:nvSpPr>
          <p:cNvPr id="59" name="TextBox 8"/>
          <p:cNvSpPr/>
          <p:nvPr/>
        </p:nvSpPr>
        <p:spPr>
          <a:xfrm>
            <a:off x="868680" y="2487240"/>
            <a:ext cx="2605680" cy="123192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spcAft>
                <a:spcPts val="499"/>
              </a:spcAft>
            </a:pPr>
            <a:r>
              <a:rPr b="0" lang="en-US" sz="1250" spc="-1" strike="noStrike">
                <a:solidFill>
                  <a:srgbClr val="f2f6fc"/>
                </a:solidFill>
                <a:latin typeface="Aptos"/>
              </a:rPr>
              <a:t>• </a:t>
            </a:r>
            <a:r>
              <a:rPr b="0" lang="en-US" sz="1250" spc="-1" strike="noStrike">
                <a:solidFill>
                  <a:srgbClr val="f2f6fc"/>
                </a:solidFill>
                <a:latin typeface="Aptos"/>
              </a:rPr>
              <a:t>Authentication success &amp; latency</a:t>
            </a:r>
            <a:endParaRPr b="0" lang="en-US" sz="1250" spc="-1" strike="noStrike">
              <a:solidFill>
                <a:srgbClr val="ffffff"/>
              </a:solidFill>
              <a:latin typeface="Arial"/>
            </a:endParaRPr>
          </a:p>
          <a:p>
            <a:pPr defTabSz="914400">
              <a:lnSpc>
                <a:spcPct val="100000"/>
              </a:lnSpc>
              <a:spcAft>
                <a:spcPts val="499"/>
              </a:spcAft>
            </a:pPr>
            <a:r>
              <a:rPr b="0" lang="en-US" sz="1250" spc="-1" strike="noStrike">
                <a:solidFill>
                  <a:srgbClr val="f2f6fc"/>
                </a:solidFill>
                <a:latin typeface="Aptos"/>
              </a:rPr>
              <a:t>• </a:t>
            </a:r>
            <a:r>
              <a:rPr b="0" lang="en-US" sz="1250" spc="-1" strike="noStrike">
                <a:solidFill>
                  <a:srgbClr val="f2f6fc"/>
                </a:solidFill>
                <a:latin typeface="Aptos"/>
              </a:rPr>
              <a:t>OTP delivery / verification</a:t>
            </a:r>
            <a:endParaRPr b="0" lang="en-US" sz="1250" spc="-1" strike="noStrike">
              <a:solidFill>
                <a:srgbClr val="ffffff"/>
              </a:solidFill>
              <a:latin typeface="Arial"/>
            </a:endParaRPr>
          </a:p>
          <a:p>
            <a:pPr defTabSz="914400">
              <a:lnSpc>
                <a:spcPct val="100000"/>
              </a:lnSpc>
              <a:spcAft>
                <a:spcPts val="499"/>
              </a:spcAft>
            </a:pPr>
            <a:r>
              <a:rPr b="0" lang="en-US" sz="1250" spc="-1" strike="noStrike">
                <a:solidFill>
                  <a:srgbClr val="f2f6fc"/>
                </a:solidFill>
                <a:latin typeface="Aptos"/>
              </a:rPr>
              <a:t>• </a:t>
            </a:r>
            <a:r>
              <a:rPr b="0" lang="en-US" sz="1250" spc="-1" strike="noStrike">
                <a:solidFill>
                  <a:srgbClr val="f2f6fc"/>
                </a:solidFill>
                <a:latin typeface="Aptos"/>
              </a:rPr>
              <a:t>Token issuance</a:t>
            </a:r>
            <a:endParaRPr b="0" lang="en-US" sz="1250" spc="-1" strike="noStrike">
              <a:solidFill>
                <a:srgbClr val="ffffff"/>
              </a:solidFill>
              <a:latin typeface="Arial"/>
            </a:endParaRPr>
          </a:p>
          <a:p>
            <a:pPr defTabSz="914400">
              <a:lnSpc>
                <a:spcPct val="100000"/>
              </a:lnSpc>
              <a:spcAft>
                <a:spcPts val="499"/>
              </a:spcAft>
            </a:pPr>
            <a:r>
              <a:rPr b="0" lang="en-US" sz="1250" spc="-1" strike="noStrike">
                <a:solidFill>
                  <a:srgbClr val="f2f6fc"/>
                </a:solidFill>
                <a:latin typeface="Aptos"/>
              </a:rPr>
              <a:t>• </a:t>
            </a:r>
            <a:r>
              <a:rPr b="0" lang="en-US" sz="1250" spc="-1" strike="noStrike">
                <a:solidFill>
                  <a:srgbClr val="f2f6fc"/>
                </a:solidFill>
                <a:latin typeface="Aptos"/>
              </a:rPr>
              <a:t>Platform availability</a:t>
            </a:r>
            <a:endParaRPr b="0" lang="en-US" sz="1250" spc="-1" strike="noStrike">
              <a:solidFill>
                <a:srgbClr val="ffffff"/>
              </a:solidFill>
              <a:latin typeface="Arial"/>
            </a:endParaRPr>
          </a:p>
        </p:txBody>
      </p:sp>
      <p:sp>
        <p:nvSpPr>
          <p:cNvPr id="60" name="Rounded Rectangle 9"/>
          <p:cNvSpPr/>
          <p:nvPr/>
        </p:nvSpPr>
        <p:spPr>
          <a:xfrm>
            <a:off x="4069080" y="1755720"/>
            <a:ext cx="3062880" cy="2239920"/>
          </a:xfrm>
          <a:prstGeom prst="roundRect">
            <a:avLst>
              <a:gd name="adj" fmla="val 16667"/>
            </a:avLst>
          </a:prstGeom>
          <a:solidFill>
            <a:srgbClr val="141f30"/>
          </a:solidFill>
          <a:ln>
            <a:solidFill>
              <a:srgbClr val="2d425c"/>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61" name="Oval 10"/>
          <p:cNvSpPr/>
          <p:nvPr/>
        </p:nvSpPr>
        <p:spPr>
          <a:xfrm>
            <a:off x="4233600" y="1938600"/>
            <a:ext cx="411120" cy="411120"/>
          </a:xfrm>
          <a:prstGeom prst="ellipse">
            <a:avLst/>
          </a:prstGeom>
          <a:solidFill>
            <a:srgbClr val="56a6ff"/>
          </a:solidFill>
          <a:ln>
            <a:no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62" name="TextBox 11"/>
          <p:cNvSpPr/>
          <p:nvPr/>
        </p:nvSpPr>
        <p:spPr>
          <a:xfrm>
            <a:off x="4233600" y="1984320"/>
            <a:ext cx="411120" cy="27252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200" spc="-1" strike="noStrike">
                <a:solidFill>
                  <a:srgbClr val="f2f6fc"/>
                </a:solidFill>
                <a:latin typeface="Aptos"/>
              </a:rPr>
              <a:t>2</a:t>
            </a:r>
            <a:endParaRPr b="0" lang="en-US" sz="1200" spc="-1" strike="noStrike">
              <a:solidFill>
                <a:srgbClr val="ffffff"/>
              </a:solidFill>
              <a:latin typeface="Arial"/>
            </a:endParaRPr>
          </a:p>
        </p:txBody>
      </p:sp>
      <p:sp>
        <p:nvSpPr>
          <p:cNvPr id="63" name="TextBox 12"/>
          <p:cNvSpPr/>
          <p:nvPr/>
        </p:nvSpPr>
        <p:spPr>
          <a:xfrm>
            <a:off x="4754880" y="1920240"/>
            <a:ext cx="2148480" cy="57708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pPr>
            <a:r>
              <a:rPr b="1" lang="en-US" sz="1600" spc="-1" strike="noStrike">
                <a:solidFill>
                  <a:srgbClr val="56a6ff"/>
                </a:solidFill>
                <a:latin typeface="Aptos"/>
              </a:rPr>
              <a:t>Phát hiện bất thường</a:t>
            </a:r>
            <a:endParaRPr b="0" lang="en-US" sz="1600" spc="-1" strike="noStrike">
              <a:solidFill>
                <a:srgbClr val="ffffff"/>
              </a:solidFill>
              <a:latin typeface="Arial"/>
            </a:endParaRPr>
          </a:p>
        </p:txBody>
      </p:sp>
      <p:sp>
        <p:nvSpPr>
          <p:cNvPr id="64" name="TextBox 13"/>
          <p:cNvSpPr/>
          <p:nvPr/>
        </p:nvSpPr>
        <p:spPr>
          <a:xfrm>
            <a:off x="4297680" y="2487240"/>
            <a:ext cx="2605680" cy="104148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spcAft>
                <a:spcPts val="499"/>
              </a:spcAft>
            </a:pPr>
            <a:r>
              <a:rPr b="0" lang="en-US" sz="1250" spc="-1" strike="noStrike">
                <a:solidFill>
                  <a:srgbClr val="f2f6fc"/>
                </a:solidFill>
                <a:latin typeface="Aptos"/>
              </a:rPr>
              <a:t>• </a:t>
            </a:r>
            <a:r>
              <a:rPr b="0" lang="en-US" sz="1250" spc="-1" strike="noStrike">
                <a:solidFill>
                  <a:srgbClr val="f2f6fc"/>
                </a:solidFill>
                <a:latin typeface="Aptos"/>
              </a:rPr>
              <a:t>Metrics → Prometheus</a:t>
            </a:r>
            <a:endParaRPr b="0" lang="en-US" sz="1250" spc="-1" strike="noStrike">
              <a:solidFill>
                <a:srgbClr val="ffffff"/>
              </a:solidFill>
              <a:latin typeface="Arial"/>
            </a:endParaRPr>
          </a:p>
          <a:p>
            <a:pPr defTabSz="914400">
              <a:lnSpc>
                <a:spcPct val="100000"/>
              </a:lnSpc>
              <a:spcAft>
                <a:spcPts val="499"/>
              </a:spcAft>
            </a:pPr>
            <a:r>
              <a:rPr b="0" lang="en-US" sz="1250" spc="-1" strike="noStrike">
                <a:solidFill>
                  <a:srgbClr val="f2f6fc"/>
                </a:solidFill>
                <a:latin typeface="Aptos"/>
              </a:rPr>
              <a:t>• </a:t>
            </a:r>
            <a:r>
              <a:rPr b="0" lang="en-US" sz="1250" spc="-1" strike="noStrike">
                <a:solidFill>
                  <a:srgbClr val="f2f6fc"/>
                </a:solidFill>
                <a:latin typeface="Aptos"/>
              </a:rPr>
              <a:t>Recording &amp; SLO rules</a:t>
            </a:r>
            <a:endParaRPr b="0" lang="en-US" sz="1250" spc="-1" strike="noStrike">
              <a:solidFill>
                <a:srgbClr val="ffffff"/>
              </a:solidFill>
              <a:latin typeface="Arial"/>
            </a:endParaRPr>
          </a:p>
          <a:p>
            <a:pPr defTabSz="914400">
              <a:lnSpc>
                <a:spcPct val="100000"/>
              </a:lnSpc>
              <a:spcAft>
                <a:spcPts val="499"/>
              </a:spcAft>
            </a:pPr>
            <a:r>
              <a:rPr b="0" lang="en-US" sz="1250" spc="-1" strike="noStrike">
                <a:solidFill>
                  <a:srgbClr val="f2f6fc"/>
                </a:solidFill>
                <a:latin typeface="Aptos"/>
              </a:rPr>
              <a:t>• </a:t>
            </a:r>
            <a:r>
              <a:rPr b="0" lang="en-US" sz="1250" spc="-1" strike="noStrike">
                <a:solidFill>
                  <a:srgbClr val="f2f6fc"/>
                </a:solidFill>
                <a:latin typeface="Aptos"/>
              </a:rPr>
              <a:t>Grafana visualization</a:t>
            </a:r>
            <a:endParaRPr b="0" lang="en-US" sz="1250" spc="-1" strike="noStrike">
              <a:solidFill>
                <a:srgbClr val="ffffff"/>
              </a:solidFill>
              <a:latin typeface="Arial"/>
            </a:endParaRPr>
          </a:p>
          <a:p>
            <a:pPr defTabSz="914400">
              <a:lnSpc>
                <a:spcPct val="100000"/>
              </a:lnSpc>
              <a:spcAft>
                <a:spcPts val="499"/>
              </a:spcAft>
            </a:pPr>
            <a:r>
              <a:rPr b="0" lang="en-US" sz="1250" spc="-1" strike="noStrike">
                <a:solidFill>
                  <a:srgbClr val="f2f6fc"/>
                </a:solidFill>
                <a:latin typeface="Aptos"/>
              </a:rPr>
              <a:t>• </a:t>
            </a:r>
            <a:r>
              <a:rPr b="0" lang="en-US" sz="1250" spc="-1" strike="noStrike">
                <a:solidFill>
                  <a:srgbClr val="f2f6fc"/>
                </a:solidFill>
                <a:latin typeface="Aptos"/>
              </a:rPr>
              <a:t>Alertmanager cảnh báo</a:t>
            </a:r>
            <a:endParaRPr b="0" lang="en-US" sz="1250" spc="-1" strike="noStrike">
              <a:solidFill>
                <a:srgbClr val="ffffff"/>
              </a:solidFill>
              <a:latin typeface="Arial"/>
            </a:endParaRPr>
          </a:p>
        </p:txBody>
      </p:sp>
      <p:sp>
        <p:nvSpPr>
          <p:cNvPr id="65" name="Rounded Rectangle 14"/>
          <p:cNvSpPr/>
          <p:nvPr/>
        </p:nvSpPr>
        <p:spPr>
          <a:xfrm>
            <a:off x="7498080" y="1755720"/>
            <a:ext cx="3062880" cy="2239920"/>
          </a:xfrm>
          <a:prstGeom prst="roundRect">
            <a:avLst>
              <a:gd name="adj" fmla="val 16667"/>
            </a:avLst>
          </a:prstGeom>
          <a:solidFill>
            <a:srgbClr val="141f30"/>
          </a:solidFill>
          <a:ln>
            <a:solidFill>
              <a:srgbClr val="2d425c"/>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66" name="Oval 15"/>
          <p:cNvSpPr/>
          <p:nvPr/>
        </p:nvSpPr>
        <p:spPr>
          <a:xfrm>
            <a:off x="7662600" y="1938600"/>
            <a:ext cx="411120" cy="411120"/>
          </a:xfrm>
          <a:prstGeom prst="ellipse">
            <a:avLst/>
          </a:prstGeom>
          <a:solidFill>
            <a:srgbClr val="56a6ff"/>
          </a:solidFill>
          <a:ln>
            <a:no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67" name="TextBox 16"/>
          <p:cNvSpPr/>
          <p:nvPr/>
        </p:nvSpPr>
        <p:spPr>
          <a:xfrm>
            <a:off x="7662600" y="1984320"/>
            <a:ext cx="411120" cy="27252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200" spc="-1" strike="noStrike">
                <a:solidFill>
                  <a:srgbClr val="f2f6fc"/>
                </a:solidFill>
                <a:latin typeface="Aptos"/>
              </a:rPr>
              <a:t>3</a:t>
            </a:r>
            <a:endParaRPr b="0" lang="en-US" sz="1200" spc="-1" strike="noStrike">
              <a:solidFill>
                <a:srgbClr val="ffffff"/>
              </a:solidFill>
              <a:latin typeface="Arial"/>
            </a:endParaRPr>
          </a:p>
        </p:txBody>
      </p:sp>
      <p:sp>
        <p:nvSpPr>
          <p:cNvPr id="68" name="TextBox 17"/>
          <p:cNvSpPr/>
          <p:nvPr/>
        </p:nvSpPr>
        <p:spPr>
          <a:xfrm>
            <a:off x="8183880" y="1920240"/>
            <a:ext cx="2148480" cy="33336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pPr>
            <a:r>
              <a:rPr b="1" lang="en-US" sz="1600" spc="-1" strike="noStrike">
                <a:solidFill>
                  <a:srgbClr val="56a6ff"/>
                </a:solidFill>
                <a:latin typeface="Aptos"/>
              </a:rPr>
              <a:t>Đi sâu OTP Journey</a:t>
            </a:r>
            <a:endParaRPr b="0" lang="en-US" sz="1600" spc="-1" strike="noStrike">
              <a:solidFill>
                <a:srgbClr val="ffffff"/>
              </a:solidFill>
              <a:latin typeface="Arial"/>
            </a:endParaRPr>
          </a:p>
        </p:txBody>
      </p:sp>
      <p:sp>
        <p:nvSpPr>
          <p:cNvPr id="69" name="TextBox 18"/>
          <p:cNvSpPr/>
          <p:nvPr/>
        </p:nvSpPr>
        <p:spPr>
          <a:xfrm>
            <a:off x="7726680" y="2487240"/>
            <a:ext cx="2605680" cy="104148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spcAft>
                <a:spcPts val="499"/>
              </a:spcAft>
            </a:pPr>
            <a:r>
              <a:rPr b="0" lang="en-US" sz="1250" spc="-1" strike="noStrike">
                <a:solidFill>
                  <a:srgbClr val="f2f6fc"/>
                </a:solidFill>
                <a:latin typeface="Aptos"/>
              </a:rPr>
              <a:t>• </a:t>
            </a:r>
            <a:r>
              <a:rPr b="0" lang="en-US" sz="1250" spc="-1" strike="noStrike">
                <a:solidFill>
                  <a:srgbClr val="f2f6fc"/>
                </a:solidFill>
                <a:latin typeface="Aptos"/>
              </a:rPr>
              <a:t>Không dừng ở “OTP chậm”</a:t>
            </a:r>
            <a:endParaRPr b="0" lang="en-US" sz="1250" spc="-1" strike="noStrike">
              <a:solidFill>
                <a:srgbClr val="ffffff"/>
              </a:solidFill>
              <a:latin typeface="Arial"/>
            </a:endParaRPr>
          </a:p>
          <a:p>
            <a:pPr defTabSz="914400">
              <a:lnSpc>
                <a:spcPct val="100000"/>
              </a:lnSpc>
              <a:spcAft>
                <a:spcPts val="499"/>
              </a:spcAft>
            </a:pPr>
            <a:r>
              <a:rPr b="0" lang="en-US" sz="1250" spc="-1" strike="noStrike">
                <a:solidFill>
                  <a:srgbClr val="f2f6fc"/>
                </a:solidFill>
                <a:latin typeface="Aptos"/>
              </a:rPr>
              <a:t>• </a:t>
            </a:r>
            <a:r>
              <a:rPr b="0" lang="en-US" sz="1250" spc="-1" strike="noStrike">
                <a:solidFill>
                  <a:srgbClr val="f2f6fc"/>
                </a:solidFill>
                <a:latin typeface="Aptos"/>
              </a:rPr>
              <a:t>Phân tích từng stage</a:t>
            </a:r>
            <a:endParaRPr b="0" lang="en-US" sz="1250" spc="-1" strike="noStrike">
              <a:solidFill>
                <a:srgbClr val="ffffff"/>
              </a:solidFill>
              <a:latin typeface="Arial"/>
            </a:endParaRPr>
          </a:p>
          <a:p>
            <a:pPr defTabSz="914400">
              <a:lnSpc>
                <a:spcPct val="100000"/>
              </a:lnSpc>
              <a:spcAft>
                <a:spcPts val="499"/>
              </a:spcAft>
            </a:pPr>
            <a:r>
              <a:rPr b="0" lang="en-US" sz="1250" spc="-1" strike="noStrike">
                <a:solidFill>
                  <a:srgbClr val="f2f6fc"/>
                </a:solidFill>
                <a:latin typeface="Aptos"/>
              </a:rPr>
              <a:t>• </a:t>
            </a:r>
            <a:r>
              <a:rPr b="0" lang="en-US" sz="1250" spc="-1" strike="noStrike">
                <a:solidFill>
                  <a:srgbClr val="f2f6fc"/>
                </a:solidFill>
                <a:latin typeface="Aptos"/>
              </a:rPr>
              <a:t>Khoanh vùng bottleneck</a:t>
            </a:r>
            <a:endParaRPr b="0" lang="en-US" sz="1250" spc="-1" strike="noStrike">
              <a:solidFill>
                <a:srgbClr val="ffffff"/>
              </a:solidFill>
              <a:latin typeface="Arial"/>
            </a:endParaRPr>
          </a:p>
          <a:p>
            <a:pPr defTabSz="914400">
              <a:lnSpc>
                <a:spcPct val="100000"/>
              </a:lnSpc>
              <a:spcAft>
                <a:spcPts val="499"/>
              </a:spcAft>
            </a:pPr>
            <a:r>
              <a:rPr b="0" lang="en-US" sz="1250" spc="-1" strike="noStrike">
                <a:solidFill>
                  <a:srgbClr val="f2f6fc"/>
                </a:solidFill>
                <a:latin typeface="Aptos"/>
              </a:rPr>
              <a:t>• </a:t>
            </a:r>
            <a:r>
              <a:rPr b="0" lang="en-US" sz="1250" spc="-1" strike="noStrike">
                <a:solidFill>
                  <a:srgbClr val="f2f6fc"/>
                </a:solidFill>
                <a:latin typeface="Aptos"/>
              </a:rPr>
              <a:t>Metrics → trace khi cần</a:t>
            </a:r>
            <a:endParaRPr b="0" lang="en-US" sz="1250" spc="-1" strike="noStrike">
              <a:solidFill>
                <a:srgbClr val="ffffff"/>
              </a:solidFill>
              <a:latin typeface="Arial"/>
            </a:endParaRPr>
          </a:p>
        </p:txBody>
      </p:sp>
      <p:sp>
        <p:nvSpPr>
          <p:cNvPr id="70" name="TextBox 19"/>
          <p:cNvSpPr/>
          <p:nvPr/>
        </p:nvSpPr>
        <p:spPr>
          <a:xfrm>
            <a:off x="658440" y="4251960"/>
            <a:ext cx="2194200" cy="54684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pPr>
            <a:r>
              <a:rPr b="1" lang="en-US" sz="1500" spc="-1" strike="noStrike">
                <a:solidFill>
                  <a:srgbClr val="f6ae4f"/>
                </a:solidFill>
                <a:latin typeface="Aptos"/>
              </a:rPr>
              <a:t>OTP Journey Monitoring</a:t>
            </a:r>
            <a:endParaRPr b="0" lang="en-US" sz="1500" spc="-1" strike="noStrike">
              <a:solidFill>
                <a:srgbClr val="ffffff"/>
              </a:solidFill>
              <a:latin typeface="Arial"/>
            </a:endParaRPr>
          </a:p>
        </p:txBody>
      </p:sp>
      <p:sp>
        <p:nvSpPr>
          <p:cNvPr id="71" name="Rounded Rectangle 20"/>
          <p:cNvSpPr/>
          <p:nvPr/>
        </p:nvSpPr>
        <p:spPr>
          <a:xfrm>
            <a:off x="658440" y="4736520"/>
            <a:ext cx="1261440" cy="658080"/>
          </a:xfrm>
          <a:prstGeom prst="roundRect">
            <a:avLst>
              <a:gd name="adj" fmla="val 16667"/>
            </a:avLst>
          </a:prstGeom>
          <a:solidFill>
            <a:srgbClr val="19283c"/>
          </a:solidFill>
          <a:ln>
            <a:solidFill>
              <a:srgbClr val="56a6ff"/>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72" name="TextBox 21"/>
          <p:cNvSpPr/>
          <p:nvPr/>
        </p:nvSpPr>
        <p:spPr>
          <a:xfrm>
            <a:off x="704160" y="4855320"/>
            <a:ext cx="1170000" cy="27252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200" spc="-1" strike="noStrike">
                <a:solidFill>
                  <a:srgbClr val="f2f6fc"/>
                </a:solidFill>
                <a:latin typeface="Aptos"/>
              </a:rPr>
              <a:t>Kong</a:t>
            </a:r>
            <a:endParaRPr b="0" lang="en-US" sz="1200" spc="-1" strike="noStrike">
              <a:solidFill>
                <a:srgbClr val="ffffff"/>
              </a:solidFill>
              <a:latin typeface="Arial"/>
            </a:endParaRPr>
          </a:p>
        </p:txBody>
      </p:sp>
      <p:sp>
        <p:nvSpPr>
          <p:cNvPr id="73" name="TextBox 22"/>
          <p:cNvSpPr/>
          <p:nvPr/>
        </p:nvSpPr>
        <p:spPr>
          <a:xfrm>
            <a:off x="1920240" y="4901040"/>
            <a:ext cx="310680" cy="33336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600" spc="-1" strike="noStrike">
                <a:solidFill>
                  <a:srgbClr val="a6b4c8"/>
                </a:solidFill>
                <a:latin typeface="Aptos"/>
              </a:rPr>
              <a:t>→</a:t>
            </a:r>
            <a:endParaRPr b="0" lang="en-US" sz="1600" spc="-1" strike="noStrike">
              <a:solidFill>
                <a:srgbClr val="ffffff"/>
              </a:solidFill>
              <a:latin typeface="Arial"/>
            </a:endParaRPr>
          </a:p>
        </p:txBody>
      </p:sp>
      <p:sp>
        <p:nvSpPr>
          <p:cNvPr id="74" name="Rounded Rectangle 23"/>
          <p:cNvSpPr/>
          <p:nvPr/>
        </p:nvSpPr>
        <p:spPr>
          <a:xfrm>
            <a:off x="2231280" y="4736520"/>
            <a:ext cx="1261440" cy="658080"/>
          </a:xfrm>
          <a:prstGeom prst="roundRect">
            <a:avLst>
              <a:gd name="adj" fmla="val 16667"/>
            </a:avLst>
          </a:prstGeom>
          <a:solidFill>
            <a:srgbClr val="19283c"/>
          </a:solidFill>
          <a:ln>
            <a:solidFill>
              <a:srgbClr val="56a6ff"/>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75" name="TextBox 24"/>
          <p:cNvSpPr/>
          <p:nvPr/>
        </p:nvSpPr>
        <p:spPr>
          <a:xfrm>
            <a:off x="2277000" y="4855320"/>
            <a:ext cx="1170000" cy="40932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050" spc="-1" strike="noStrike">
                <a:solidFill>
                  <a:srgbClr val="f2f6fc"/>
                </a:solidFill>
                <a:latin typeface="Aptos"/>
              </a:rPr>
              <a:t>Identity</a:t>
            </a:r>
            <a:br>
              <a:rPr sz="1050"/>
            </a:br>
            <a:r>
              <a:rPr b="1" lang="en-US" sz="1050" spc="-1" strike="noStrike">
                <a:solidFill>
                  <a:srgbClr val="f2f6fc"/>
                </a:solidFill>
                <a:latin typeface="Aptos"/>
              </a:rPr>
              <a:t>Provider</a:t>
            </a:r>
            <a:endParaRPr b="0" lang="en-US" sz="1050" spc="-1" strike="noStrike">
              <a:solidFill>
                <a:srgbClr val="ffffff"/>
              </a:solidFill>
              <a:latin typeface="Arial"/>
            </a:endParaRPr>
          </a:p>
        </p:txBody>
      </p:sp>
      <p:sp>
        <p:nvSpPr>
          <p:cNvPr id="76" name="TextBox 25"/>
          <p:cNvSpPr/>
          <p:nvPr/>
        </p:nvSpPr>
        <p:spPr>
          <a:xfrm>
            <a:off x="3493080" y="4901040"/>
            <a:ext cx="310680" cy="33336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600" spc="-1" strike="noStrike">
                <a:solidFill>
                  <a:srgbClr val="a6b4c8"/>
                </a:solidFill>
                <a:latin typeface="Aptos"/>
              </a:rPr>
              <a:t>→</a:t>
            </a:r>
            <a:endParaRPr b="0" lang="en-US" sz="1600" spc="-1" strike="noStrike">
              <a:solidFill>
                <a:srgbClr val="ffffff"/>
              </a:solidFill>
              <a:latin typeface="Arial"/>
            </a:endParaRPr>
          </a:p>
        </p:txBody>
      </p:sp>
      <p:sp>
        <p:nvSpPr>
          <p:cNvPr id="77" name="Rounded Rectangle 26"/>
          <p:cNvSpPr/>
          <p:nvPr/>
        </p:nvSpPr>
        <p:spPr>
          <a:xfrm>
            <a:off x="3803760" y="4736520"/>
            <a:ext cx="1261440" cy="658080"/>
          </a:xfrm>
          <a:prstGeom prst="roundRect">
            <a:avLst>
              <a:gd name="adj" fmla="val 16667"/>
            </a:avLst>
          </a:prstGeom>
          <a:solidFill>
            <a:srgbClr val="19283c"/>
          </a:solidFill>
          <a:ln>
            <a:solidFill>
              <a:srgbClr val="56a6ff"/>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78" name="TextBox 27"/>
          <p:cNvSpPr/>
          <p:nvPr/>
        </p:nvSpPr>
        <p:spPr>
          <a:xfrm>
            <a:off x="3849480" y="4855320"/>
            <a:ext cx="1170000" cy="27252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200" spc="-1" strike="noStrike">
                <a:solidFill>
                  <a:srgbClr val="f2f6fc"/>
                </a:solidFill>
                <a:latin typeface="Aptos"/>
              </a:rPr>
              <a:t>Redis</a:t>
            </a:r>
            <a:endParaRPr b="0" lang="en-US" sz="1200" spc="-1" strike="noStrike">
              <a:solidFill>
                <a:srgbClr val="ffffff"/>
              </a:solidFill>
              <a:latin typeface="Arial"/>
            </a:endParaRPr>
          </a:p>
        </p:txBody>
      </p:sp>
      <p:sp>
        <p:nvSpPr>
          <p:cNvPr id="79" name="TextBox 28"/>
          <p:cNvSpPr/>
          <p:nvPr/>
        </p:nvSpPr>
        <p:spPr>
          <a:xfrm>
            <a:off x="5065920" y="4901040"/>
            <a:ext cx="310680" cy="33336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600" spc="-1" strike="noStrike">
                <a:solidFill>
                  <a:srgbClr val="a6b4c8"/>
                </a:solidFill>
                <a:latin typeface="Aptos"/>
              </a:rPr>
              <a:t>→</a:t>
            </a:r>
            <a:endParaRPr b="0" lang="en-US" sz="1600" spc="-1" strike="noStrike">
              <a:solidFill>
                <a:srgbClr val="ffffff"/>
              </a:solidFill>
              <a:latin typeface="Arial"/>
            </a:endParaRPr>
          </a:p>
        </p:txBody>
      </p:sp>
      <p:sp>
        <p:nvSpPr>
          <p:cNvPr id="80" name="Rounded Rectangle 29"/>
          <p:cNvSpPr/>
          <p:nvPr/>
        </p:nvSpPr>
        <p:spPr>
          <a:xfrm>
            <a:off x="5376600" y="4736520"/>
            <a:ext cx="1261440" cy="658080"/>
          </a:xfrm>
          <a:prstGeom prst="roundRect">
            <a:avLst>
              <a:gd name="adj" fmla="val 16667"/>
            </a:avLst>
          </a:prstGeom>
          <a:solidFill>
            <a:srgbClr val="19283c"/>
          </a:solidFill>
          <a:ln>
            <a:solidFill>
              <a:srgbClr val="56a6ff"/>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81" name="TextBox 30"/>
          <p:cNvSpPr/>
          <p:nvPr/>
        </p:nvSpPr>
        <p:spPr>
          <a:xfrm>
            <a:off x="5422320" y="4855320"/>
            <a:ext cx="1170000" cy="27252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200" spc="-1" strike="noStrike">
                <a:solidFill>
                  <a:srgbClr val="f2f6fc"/>
                </a:solidFill>
                <a:latin typeface="Aptos"/>
              </a:rPr>
              <a:t>Routing</a:t>
            </a:r>
            <a:endParaRPr b="0" lang="en-US" sz="1200" spc="-1" strike="noStrike">
              <a:solidFill>
                <a:srgbClr val="ffffff"/>
              </a:solidFill>
              <a:latin typeface="Arial"/>
            </a:endParaRPr>
          </a:p>
        </p:txBody>
      </p:sp>
      <p:sp>
        <p:nvSpPr>
          <p:cNvPr id="82" name="TextBox 31"/>
          <p:cNvSpPr/>
          <p:nvPr/>
        </p:nvSpPr>
        <p:spPr>
          <a:xfrm>
            <a:off x="6638400" y="4901040"/>
            <a:ext cx="310680" cy="33336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600" spc="-1" strike="noStrike">
                <a:solidFill>
                  <a:srgbClr val="a6b4c8"/>
                </a:solidFill>
                <a:latin typeface="Aptos"/>
              </a:rPr>
              <a:t>→</a:t>
            </a:r>
            <a:endParaRPr b="0" lang="en-US" sz="1600" spc="-1" strike="noStrike">
              <a:solidFill>
                <a:srgbClr val="ffffff"/>
              </a:solidFill>
              <a:latin typeface="Arial"/>
            </a:endParaRPr>
          </a:p>
        </p:txBody>
      </p:sp>
      <p:sp>
        <p:nvSpPr>
          <p:cNvPr id="83" name="Rounded Rectangle 32"/>
          <p:cNvSpPr/>
          <p:nvPr/>
        </p:nvSpPr>
        <p:spPr>
          <a:xfrm>
            <a:off x="6949440" y="4736520"/>
            <a:ext cx="1261440" cy="658080"/>
          </a:xfrm>
          <a:prstGeom prst="roundRect">
            <a:avLst>
              <a:gd name="adj" fmla="val 16667"/>
            </a:avLst>
          </a:prstGeom>
          <a:solidFill>
            <a:srgbClr val="19283c"/>
          </a:solidFill>
          <a:ln>
            <a:solidFill>
              <a:srgbClr val="f6ae4f"/>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84" name="TextBox 33"/>
          <p:cNvSpPr/>
          <p:nvPr/>
        </p:nvSpPr>
        <p:spPr>
          <a:xfrm>
            <a:off x="6995160" y="4855320"/>
            <a:ext cx="1170000" cy="27252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200" spc="-1" strike="noStrike">
                <a:solidFill>
                  <a:srgbClr val="f2f6fc"/>
                </a:solidFill>
                <a:latin typeface="Aptos"/>
              </a:rPr>
              <a:t>Queue</a:t>
            </a:r>
            <a:endParaRPr b="0" lang="en-US" sz="1200" spc="-1" strike="noStrike">
              <a:solidFill>
                <a:srgbClr val="ffffff"/>
              </a:solidFill>
              <a:latin typeface="Arial"/>
            </a:endParaRPr>
          </a:p>
        </p:txBody>
      </p:sp>
      <p:sp>
        <p:nvSpPr>
          <p:cNvPr id="85" name="TextBox 34"/>
          <p:cNvSpPr/>
          <p:nvPr/>
        </p:nvSpPr>
        <p:spPr>
          <a:xfrm>
            <a:off x="8211240" y="4901040"/>
            <a:ext cx="310680" cy="33336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600" spc="-1" strike="noStrike">
                <a:solidFill>
                  <a:srgbClr val="a6b4c8"/>
                </a:solidFill>
                <a:latin typeface="Aptos"/>
              </a:rPr>
              <a:t>→</a:t>
            </a:r>
            <a:endParaRPr b="0" lang="en-US" sz="1600" spc="-1" strike="noStrike">
              <a:solidFill>
                <a:srgbClr val="ffffff"/>
              </a:solidFill>
              <a:latin typeface="Arial"/>
            </a:endParaRPr>
          </a:p>
        </p:txBody>
      </p:sp>
      <p:sp>
        <p:nvSpPr>
          <p:cNvPr id="86" name="Rounded Rectangle 35"/>
          <p:cNvSpPr/>
          <p:nvPr/>
        </p:nvSpPr>
        <p:spPr>
          <a:xfrm>
            <a:off x="8522280" y="4736520"/>
            <a:ext cx="1261440" cy="658080"/>
          </a:xfrm>
          <a:prstGeom prst="roundRect">
            <a:avLst>
              <a:gd name="adj" fmla="val 16667"/>
            </a:avLst>
          </a:prstGeom>
          <a:solidFill>
            <a:srgbClr val="19283c"/>
          </a:solidFill>
          <a:ln>
            <a:solidFill>
              <a:srgbClr val="f6ae4f"/>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87" name="TextBox 36"/>
          <p:cNvSpPr/>
          <p:nvPr/>
        </p:nvSpPr>
        <p:spPr>
          <a:xfrm>
            <a:off x="8568000" y="4855320"/>
            <a:ext cx="1170000" cy="40932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050" spc="-1" strike="noStrike">
                <a:solidFill>
                  <a:srgbClr val="f2f6fc"/>
                </a:solidFill>
                <a:latin typeface="Aptos"/>
              </a:rPr>
              <a:t>GSM</a:t>
            </a:r>
            <a:br>
              <a:rPr sz="1050"/>
            </a:br>
            <a:r>
              <a:rPr b="1" lang="en-US" sz="1050" spc="-1" strike="noStrike">
                <a:solidFill>
                  <a:srgbClr val="f2f6fc"/>
                </a:solidFill>
                <a:latin typeface="Aptos"/>
              </a:rPr>
              <a:t>Provider</a:t>
            </a:r>
            <a:endParaRPr b="0" lang="en-US" sz="1050" spc="-1" strike="noStrike">
              <a:solidFill>
                <a:srgbClr val="ffffff"/>
              </a:solidFill>
              <a:latin typeface="Arial"/>
            </a:endParaRPr>
          </a:p>
        </p:txBody>
      </p:sp>
      <p:sp>
        <p:nvSpPr>
          <p:cNvPr id="88" name="TextBox 37"/>
          <p:cNvSpPr/>
          <p:nvPr/>
        </p:nvSpPr>
        <p:spPr>
          <a:xfrm>
            <a:off x="9784080" y="4901040"/>
            <a:ext cx="310680" cy="33336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600" spc="-1" strike="noStrike">
                <a:solidFill>
                  <a:srgbClr val="a6b4c8"/>
                </a:solidFill>
                <a:latin typeface="Aptos"/>
              </a:rPr>
              <a:t>→</a:t>
            </a:r>
            <a:endParaRPr b="0" lang="en-US" sz="1600" spc="-1" strike="noStrike">
              <a:solidFill>
                <a:srgbClr val="ffffff"/>
              </a:solidFill>
              <a:latin typeface="Arial"/>
            </a:endParaRPr>
          </a:p>
        </p:txBody>
      </p:sp>
      <p:sp>
        <p:nvSpPr>
          <p:cNvPr id="89" name="Rounded Rectangle 38"/>
          <p:cNvSpPr/>
          <p:nvPr/>
        </p:nvSpPr>
        <p:spPr>
          <a:xfrm>
            <a:off x="10095120" y="4736520"/>
            <a:ext cx="1261440" cy="658080"/>
          </a:xfrm>
          <a:prstGeom prst="roundRect">
            <a:avLst>
              <a:gd name="adj" fmla="val 16667"/>
            </a:avLst>
          </a:prstGeom>
          <a:solidFill>
            <a:srgbClr val="19283c"/>
          </a:solidFill>
          <a:ln>
            <a:solidFill>
              <a:srgbClr val="f6ae4f"/>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90" name="TextBox 39"/>
          <p:cNvSpPr/>
          <p:nvPr/>
        </p:nvSpPr>
        <p:spPr>
          <a:xfrm>
            <a:off x="10140840" y="4855320"/>
            <a:ext cx="1170000" cy="40932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050" spc="-1" strike="noStrike">
                <a:solidFill>
                  <a:srgbClr val="f2f6fc"/>
                </a:solidFill>
                <a:latin typeface="Aptos"/>
              </a:rPr>
              <a:t>Carrier</a:t>
            </a:r>
            <a:br>
              <a:rPr sz="1050"/>
            </a:br>
            <a:r>
              <a:rPr b="1" lang="en-US" sz="1050" spc="-1" strike="noStrike">
                <a:solidFill>
                  <a:srgbClr val="f2f6fc"/>
                </a:solidFill>
                <a:latin typeface="Aptos"/>
              </a:rPr>
              <a:t>Delivery</a:t>
            </a:r>
            <a:endParaRPr b="0" lang="en-US" sz="1050" spc="-1" strike="noStrike">
              <a:solidFill>
                <a:srgbClr val="ffffff"/>
              </a:solidFill>
              <a:latin typeface="Arial"/>
            </a:endParaRPr>
          </a:p>
        </p:txBody>
      </p:sp>
      <p:sp>
        <p:nvSpPr>
          <p:cNvPr id="91" name="Rounded Rectangle 40"/>
          <p:cNvSpPr/>
          <p:nvPr/>
        </p:nvSpPr>
        <p:spPr>
          <a:xfrm>
            <a:off x="658440" y="5650920"/>
            <a:ext cx="10835280" cy="658080"/>
          </a:xfrm>
          <a:prstGeom prst="roundRect">
            <a:avLst>
              <a:gd name="adj" fmla="val 16667"/>
            </a:avLst>
          </a:prstGeom>
          <a:solidFill>
            <a:srgbClr val="0f2c2a"/>
          </a:solidFill>
          <a:ln>
            <a:solidFill>
              <a:srgbClr val="5bcd9a"/>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92" name="TextBox 41"/>
          <p:cNvSpPr/>
          <p:nvPr/>
        </p:nvSpPr>
        <p:spPr>
          <a:xfrm>
            <a:off x="868680" y="5824800"/>
            <a:ext cx="10423800" cy="28872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300" spc="-1" strike="noStrike">
                <a:solidFill>
                  <a:srgbClr val="f2f6fc"/>
                </a:solidFill>
                <a:latin typeface="Aptos"/>
              </a:rPr>
              <a:t>Mục tiêu: từ “OTP đang chậm” → xác định “OTP đang chậm ở stage nào” → tìm đúng component/owner cần điều tra.</a:t>
            </a:r>
            <a:endParaRPr b="0" lang="en-US" sz="1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Text 0"/>
          <p:cNvSpPr/>
          <p:nvPr/>
        </p:nvSpPr>
        <p:spPr>
          <a:xfrm>
            <a:off x="548640" y="347400"/>
            <a:ext cx="110638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3f8fb"/>
                </a:solidFill>
                <a:latin typeface="Aptos Display"/>
                <a:ea typeface="Aptos Display"/>
              </a:rPr>
              <a:t>02 — Scope observability của V-ID</a:t>
            </a:r>
            <a:endParaRPr b="0" lang="en-US" sz="2800" spc="-1" strike="noStrike">
              <a:solidFill>
                <a:srgbClr val="ffffff"/>
              </a:solidFill>
              <a:latin typeface="Arial"/>
            </a:endParaRPr>
          </a:p>
        </p:txBody>
      </p:sp>
      <p:sp>
        <p:nvSpPr>
          <p:cNvPr id="94" name="Text 1"/>
          <p:cNvSpPr/>
          <p:nvPr/>
        </p:nvSpPr>
        <p:spPr>
          <a:xfrm>
            <a:off x="567000" y="896040"/>
            <a:ext cx="107895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2000" spc="-1" strike="noStrike">
                <a:solidFill>
                  <a:srgbClr val="9ab0be"/>
                </a:solidFill>
                <a:latin typeface="Aptos"/>
              </a:rPr>
              <a:t>Lab ưu tiên các flow có ảnh hưởng trực tiếp tới identity, access và trải nghiệm OTP.</a:t>
            </a:r>
            <a:endParaRPr b="0" lang="en-US" sz="2000" spc="-1" strike="noStrike">
              <a:solidFill>
                <a:srgbClr val="ffffff"/>
              </a:solidFill>
              <a:latin typeface="Arial"/>
            </a:endParaRPr>
          </a:p>
        </p:txBody>
      </p:sp>
      <p:sp>
        <p:nvSpPr>
          <p:cNvPr id="95" name="Shape 2"/>
          <p:cNvSpPr/>
          <p:nvPr/>
        </p:nvSpPr>
        <p:spPr>
          <a:xfrm>
            <a:off x="731520" y="1417320"/>
            <a:ext cx="3017160" cy="169128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96" name="Shape 3"/>
          <p:cNvSpPr/>
          <p:nvPr/>
        </p:nvSpPr>
        <p:spPr>
          <a:xfrm>
            <a:off x="731520" y="1417320"/>
            <a:ext cx="50040" cy="1691280"/>
          </a:xfrm>
          <a:prstGeom prst="rect">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97" name="Text 4"/>
          <p:cNvSpPr/>
          <p:nvPr/>
        </p:nvSpPr>
        <p:spPr>
          <a:xfrm>
            <a:off x="932760" y="1581840"/>
            <a:ext cx="265140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Authentication</a:t>
            </a:r>
            <a:endParaRPr b="0" lang="en-US" sz="1600" spc="-1" strike="noStrike">
              <a:solidFill>
                <a:srgbClr val="ffffff"/>
              </a:solidFill>
              <a:latin typeface="Arial"/>
            </a:endParaRPr>
          </a:p>
        </p:txBody>
      </p:sp>
      <p:sp>
        <p:nvSpPr>
          <p:cNvPr id="98" name="Text 5"/>
          <p:cNvSpPr/>
          <p:nvPr/>
        </p:nvSpPr>
        <p:spPr>
          <a:xfrm>
            <a:off x="951120" y="1947600"/>
            <a:ext cx="2596680" cy="103284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600" spc="-1" strike="noStrike">
                <a:solidFill>
                  <a:srgbClr val="9ab0be"/>
                </a:solidFill>
                <a:latin typeface="Aptos"/>
              </a:rPr>
              <a:t>IdP native/transition + Hydra browser OIDC</a:t>
            </a:r>
            <a:endParaRPr b="0" lang="en-US" sz="1600" spc="-1" strike="noStrike">
              <a:solidFill>
                <a:srgbClr val="ffffff"/>
              </a:solidFill>
              <a:latin typeface="Arial"/>
            </a:endParaRPr>
          </a:p>
        </p:txBody>
      </p:sp>
      <p:sp>
        <p:nvSpPr>
          <p:cNvPr id="99" name="Shape 6"/>
          <p:cNvSpPr/>
          <p:nvPr/>
        </p:nvSpPr>
        <p:spPr>
          <a:xfrm>
            <a:off x="4114800" y="1417320"/>
            <a:ext cx="3017160" cy="169128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00" name="Shape 7"/>
          <p:cNvSpPr/>
          <p:nvPr/>
        </p:nvSpPr>
        <p:spPr>
          <a:xfrm>
            <a:off x="4114800" y="1417320"/>
            <a:ext cx="50040" cy="1691280"/>
          </a:xfrm>
          <a:prstGeom prst="rect">
            <a:avLst/>
          </a:prstGeom>
          <a:solidFill>
            <a:srgbClr val="42b4e6"/>
          </a:solidFill>
          <a:ln w="12700">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01" name="Text 8"/>
          <p:cNvSpPr/>
          <p:nvPr/>
        </p:nvSpPr>
        <p:spPr>
          <a:xfrm>
            <a:off x="4316040" y="1581840"/>
            <a:ext cx="265140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OTP</a:t>
            </a:r>
            <a:endParaRPr b="0" lang="en-US" sz="1600" spc="-1" strike="noStrike">
              <a:solidFill>
                <a:srgbClr val="ffffff"/>
              </a:solidFill>
              <a:latin typeface="Arial"/>
            </a:endParaRPr>
          </a:p>
        </p:txBody>
      </p:sp>
      <p:sp>
        <p:nvSpPr>
          <p:cNvPr id="102" name="Text 9"/>
          <p:cNvSpPr/>
          <p:nvPr/>
        </p:nvSpPr>
        <p:spPr>
          <a:xfrm>
            <a:off x="4334400" y="1947600"/>
            <a:ext cx="2596680" cy="103284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600" spc="-1" strike="noStrike">
                <a:solidFill>
                  <a:srgbClr val="9ab0be"/>
                </a:solidFill>
                <a:latin typeface="Aptos"/>
              </a:rPr>
              <a:t>send • delivery • verify • journey stages</a:t>
            </a:r>
            <a:endParaRPr b="0" lang="en-US" sz="1600" spc="-1" strike="noStrike">
              <a:solidFill>
                <a:srgbClr val="ffffff"/>
              </a:solidFill>
              <a:latin typeface="Arial"/>
            </a:endParaRPr>
          </a:p>
        </p:txBody>
      </p:sp>
      <p:sp>
        <p:nvSpPr>
          <p:cNvPr id="103" name="Shape 10"/>
          <p:cNvSpPr/>
          <p:nvPr/>
        </p:nvSpPr>
        <p:spPr>
          <a:xfrm>
            <a:off x="7498080" y="1417320"/>
            <a:ext cx="3017160" cy="169128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04" name="Shape 11"/>
          <p:cNvSpPr/>
          <p:nvPr/>
        </p:nvSpPr>
        <p:spPr>
          <a:xfrm>
            <a:off x="7498080" y="1417320"/>
            <a:ext cx="50040" cy="1691280"/>
          </a:xfrm>
          <a:prstGeom prst="rect">
            <a:avLst/>
          </a:prstGeom>
          <a:solidFill>
            <a:srgbClr val="48d597"/>
          </a:solidFill>
          <a:ln w="12700">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05" name="Text 12"/>
          <p:cNvSpPr/>
          <p:nvPr/>
        </p:nvSpPr>
        <p:spPr>
          <a:xfrm>
            <a:off x="7699320" y="1581840"/>
            <a:ext cx="265140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Token</a:t>
            </a:r>
            <a:endParaRPr b="0" lang="en-US" sz="1600" spc="-1" strike="noStrike">
              <a:solidFill>
                <a:srgbClr val="ffffff"/>
              </a:solidFill>
              <a:latin typeface="Arial"/>
            </a:endParaRPr>
          </a:p>
        </p:txBody>
      </p:sp>
      <p:sp>
        <p:nvSpPr>
          <p:cNvPr id="106" name="Text 13"/>
          <p:cNvSpPr/>
          <p:nvPr/>
        </p:nvSpPr>
        <p:spPr>
          <a:xfrm>
            <a:off x="7717680" y="1947600"/>
            <a:ext cx="2596680" cy="103284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600" spc="-1" strike="noStrike">
                <a:solidFill>
                  <a:srgbClr val="9ab0be"/>
                </a:solidFill>
                <a:latin typeface="Aptos"/>
              </a:rPr>
              <a:t>issue/refresh/revoke • issuer boundary</a:t>
            </a:r>
            <a:endParaRPr b="0" lang="en-US" sz="1600" spc="-1" strike="noStrike">
              <a:solidFill>
                <a:srgbClr val="ffffff"/>
              </a:solidFill>
              <a:latin typeface="Arial"/>
            </a:endParaRPr>
          </a:p>
        </p:txBody>
      </p:sp>
      <p:sp>
        <p:nvSpPr>
          <p:cNvPr id="107" name="Shape 14"/>
          <p:cNvSpPr/>
          <p:nvPr/>
        </p:nvSpPr>
        <p:spPr>
          <a:xfrm>
            <a:off x="731520" y="3611880"/>
            <a:ext cx="3017160" cy="169128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08" name="Shape 15"/>
          <p:cNvSpPr/>
          <p:nvPr/>
        </p:nvSpPr>
        <p:spPr>
          <a:xfrm>
            <a:off x="731520" y="3611880"/>
            <a:ext cx="50040" cy="1691280"/>
          </a:xfrm>
          <a:prstGeom prst="rect">
            <a:avLst/>
          </a:prstGeom>
          <a:solidFill>
            <a:srgbClr val="f5c451"/>
          </a:solidFill>
          <a:ln w="12700">
            <a:solidFill>
              <a:srgbClr val="f5c45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09" name="Text 16"/>
          <p:cNvSpPr/>
          <p:nvPr/>
        </p:nvSpPr>
        <p:spPr>
          <a:xfrm>
            <a:off x="932760" y="3776400"/>
            <a:ext cx="265140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Authorization</a:t>
            </a:r>
            <a:endParaRPr b="0" lang="en-US" sz="1600" spc="-1" strike="noStrike">
              <a:solidFill>
                <a:srgbClr val="ffffff"/>
              </a:solidFill>
              <a:latin typeface="Arial"/>
            </a:endParaRPr>
          </a:p>
        </p:txBody>
      </p:sp>
      <p:sp>
        <p:nvSpPr>
          <p:cNvPr id="110" name="Text 17"/>
          <p:cNvSpPr/>
          <p:nvPr/>
        </p:nvSpPr>
        <p:spPr>
          <a:xfrm>
            <a:off x="951120" y="4142160"/>
            <a:ext cx="2596680" cy="103284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600" spc="-1" strike="noStrike">
                <a:solidFill>
                  <a:srgbClr val="9ab0be"/>
                </a:solidFill>
                <a:latin typeface="Aptos"/>
              </a:rPr>
              <a:t>RBAC decision • denial vs system error</a:t>
            </a:r>
            <a:endParaRPr b="0" lang="en-US" sz="1600" spc="-1" strike="noStrike">
              <a:solidFill>
                <a:srgbClr val="ffffff"/>
              </a:solidFill>
              <a:latin typeface="Arial"/>
            </a:endParaRPr>
          </a:p>
        </p:txBody>
      </p:sp>
      <p:sp>
        <p:nvSpPr>
          <p:cNvPr id="111" name="Shape 18"/>
          <p:cNvSpPr/>
          <p:nvPr/>
        </p:nvSpPr>
        <p:spPr>
          <a:xfrm>
            <a:off x="4114800" y="3611880"/>
            <a:ext cx="3017160" cy="169128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12" name="Shape 19"/>
          <p:cNvSpPr/>
          <p:nvPr/>
        </p:nvSpPr>
        <p:spPr>
          <a:xfrm>
            <a:off x="4114800" y="3611880"/>
            <a:ext cx="50040" cy="1691280"/>
          </a:xfrm>
          <a:prstGeom prst="rect">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13" name="Text 20"/>
          <p:cNvSpPr/>
          <p:nvPr/>
        </p:nvSpPr>
        <p:spPr>
          <a:xfrm>
            <a:off x="4316040" y="3776400"/>
            <a:ext cx="265140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Platform</a:t>
            </a:r>
            <a:endParaRPr b="0" lang="en-US" sz="1600" spc="-1" strike="noStrike">
              <a:solidFill>
                <a:srgbClr val="ffffff"/>
              </a:solidFill>
              <a:latin typeface="Arial"/>
            </a:endParaRPr>
          </a:p>
        </p:txBody>
      </p:sp>
      <p:sp>
        <p:nvSpPr>
          <p:cNvPr id="114" name="Text 21"/>
          <p:cNvSpPr/>
          <p:nvPr/>
        </p:nvSpPr>
        <p:spPr>
          <a:xfrm>
            <a:off x="4334400" y="4142160"/>
            <a:ext cx="2596680" cy="103284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600" spc="-1" strike="noStrike">
                <a:solidFill>
                  <a:srgbClr val="9ab0be"/>
                </a:solidFill>
                <a:latin typeface="Aptos"/>
              </a:rPr>
              <a:t>HTTP RED + dependency health</a:t>
            </a:r>
            <a:endParaRPr b="0" lang="en-US" sz="1600" spc="-1" strike="noStrike">
              <a:solidFill>
                <a:srgbClr val="ffffff"/>
              </a:solidFill>
              <a:latin typeface="Arial"/>
            </a:endParaRPr>
          </a:p>
        </p:txBody>
      </p:sp>
      <p:sp>
        <p:nvSpPr>
          <p:cNvPr id="115" name="Shape 22"/>
          <p:cNvSpPr/>
          <p:nvPr/>
        </p:nvSpPr>
        <p:spPr>
          <a:xfrm>
            <a:off x="7498080" y="3611880"/>
            <a:ext cx="3017160" cy="169128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16" name="Shape 23"/>
          <p:cNvSpPr/>
          <p:nvPr/>
        </p:nvSpPr>
        <p:spPr>
          <a:xfrm>
            <a:off x="7498080" y="3611880"/>
            <a:ext cx="50040" cy="1691280"/>
          </a:xfrm>
          <a:prstGeom prst="rect">
            <a:avLst/>
          </a:prstGeom>
          <a:solidFill>
            <a:srgbClr val="ff6b6b"/>
          </a:solidFill>
          <a:ln w="12700">
            <a:solidFill>
              <a:srgbClr val="ff6b6b"/>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17" name="Text 24"/>
          <p:cNvSpPr/>
          <p:nvPr/>
        </p:nvSpPr>
        <p:spPr>
          <a:xfrm>
            <a:off x="7699320" y="3776400"/>
            <a:ext cx="265140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Platform deep-dive</a:t>
            </a:r>
            <a:endParaRPr b="0" lang="en-US" sz="1600" spc="-1" strike="noStrike">
              <a:solidFill>
                <a:srgbClr val="ffffff"/>
              </a:solidFill>
              <a:latin typeface="Arial"/>
            </a:endParaRPr>
          </a:p>
        </p:txBody>
      </p:sp>
      <p:sp>
        <p:nvSpPr>
          <p:cNvPr id="118" name="Text 25"/>
          <p:cNvSpPr/>
          <p:nvPr/>
        </p:nvSpPr>
        <p:spPr>
          <a:xfrm>
            <a:off x="7717680" y="4142160"/>
            <a:ext cx="2596680" cy="103284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600" spc="-1" strike="noStrike">
                <a:solidFill>
                  <a:srgbClr val="9ab0be"/>
                </a:solidFill>
                <a:latin typeface="Aptos"/>
              </a:rPr>
              <a:t>HTTP RED + dependency health</a:t>
            </a:r>
            <a:endParaRPr b="0" lang="en-US" sz="1600" spc="-1" strike="noStrike">
              <a:solidFill>
                <a:srgbClr val="ffffff"/>
              </a:solidFill>
              <a:latin typeface="Arial"/>
            </a:endParaRPr>
          </a:p>
        </p:txBody>
      </p:sp>
      <p:sp>
        <p:nvSpPr>
          <p:cNvPr id="119" name="Text 26"/>
          <p:cNvSpPr/>
          <p:nvPr/>
        </p:nvSpPr>
        <p:spPr>
          <a:xfrm>
            <a:off x="731520" y="5715000"/>
            <a:ext cx="10789560" cy="502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400" spc="-1" strike="noStrike">
                <a:solidFill>
                  <a:srgbClr val="678296"/>
                </a:solidFill>
                <a:latin typeface="Aptos"/>
              </a:rPr>
              <a:t>Boundary modeled: identity-provider • Hydra • oauth2-token • authz • organization • Kong • Redis • Postgres • Kafka • notification/provider dependencies</a:t>
            </a:r>
            <a:endParaRPr b="0" lang="en-US" sz="1400" spc="-1" strike="noStrike">
              <a:solidFill>
                <a:srgbClr val="ffffff"/>
              </a:solidFill>
              <a:latin typeface="Arial"/>
            </a:endParaRPr>
          </a:p>
        </p:txBody>
      </p:sp>
      <p:sp>
        <p:nvSpPr>
          <p:cNvPr id="120" name="PlaceHolder 1"/>
          <p:cNvSpPr>
            <a:spLocks noGrp="1"/>
          </p:cNvSpPr>
          <p:nvPr>
            <p:ph type="sldNum" idx="6"/>
          </p:nvPr>
        </p:nvSpPr>
        <p:spPr>
          <a:xfrm>
            <a:off x="11777400" y="6473880"/>
            <a:ext cx="414000" cy="299520"/>
          </a:xfrm>
          <a:prstGeom prst="rect">
            <a:avLst/>
          </a:prstGeom>
          <a:noFill/>
          <a:ln w="0">
            <a:noFill/>
          </a:ln>
        </p:spPr>
        <p:txBody>
          <a:bodyPr lIns="88920" rIns="8892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E217F7B0-C4D6-436B-B1E1-DBF3A4E35202}" type="slidenum">
              <a:rPr b="0" lang="en-US" sz="800" spc="-1" strike="noStrike">
                <a:solidFill>
                  <a:srgbClr val="678296"/>
                </a:solidFill>
                <a:latin typeface="Aptos"/>
                <a:ea typeface="Aptos"/>
              </a:rPr>
              <a:t>3</a:t>
            </a:fld>
            <a:endParaRPr b="0" lang="en-US" sz="8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Text 0"/>
          <p:cNvSpPr/>
          <p:nvPr/>
        </p:nvSpPr>
        <p:spPr>
          <a:xfrm>
            <a:off x="548640" y="347400"/>
            <a:ext cx="110638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3f8fb"/>
                </a:solidFill>
                <a:latin typeface="Aptos Display"/>
                <a:ea typeface="Aptos Display"/>
              </a:rPr>
              <a:t>03 — Kiến trúc observability end-to-end</a:t>
            </a:r>
            <a:endParaRPr b="0" lang="en-US" sz="2800" spc="-1" strike="noStrike">
              <a:solidFill>
                <a:srgbClr val="ffffff"/>
              </a:solidFill>
              <a:latin typeface="Arial"/>
            </a:endParaRPr>
          </a:p>
        </p:txBody>
      </p:sp>
      <p:sp>
        <p:nvSpPr>
          <p:cNvPr id="122" name="Text 1"/>
          <p:cNvSpPr/>
          <p:nvPr/>
        </p:nvSpPr>
        <p:spPr>
          <a:xfrm>
            <a:off x="567000" y="896040"/>
            <a:ext cx="107895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9ab0be"/>
                </a:solidFill>
                <a:latin typeface="Aptos"/>
              </a:rPr>
              <a:t>Một flow thống nhất cho metrics, alerting và tracing; Grafana là nơi hội tụ.</a:t>
            </a:r>
            <a:endParaRPr b="0" lang="en-US" sz="1500" spc="-1" strike="noStrike">
              <a:solidFill>
                <a:srgbClr val="ffffff"/>
              </a:solidFill>
              <a:latin typeface="Arial"/>
            </a:endParaRPr>
          </a:p>
        </p:txBody>
      </p:sp>
      <p:sp>
        <p:nvSpPr>
          <p:cNvPr id="123" name="Shape 2"/>
          <p:cNvSpPr/>
          <p:nvPr/>
        </p:nvSpPr>
        <p:spPr>
          <a:xfrm>
            <a:off x="320400" y="2286000"/>
            <a:ext cx="1965600" cy="785880"/>
          </a:xfrm>
          <a:prstGeom prst="roundRect">
            <a:avLst>
              <a:gd name="adj" fmla="val 16667"/>
            </a:avLst>
          </a:prstGeom>
          <a:solidFill>
            <a:srgbClr val="102636"/>
          </a:solidFill>
          <a:ln w="15875">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24" name="Text 3"/>
          <p:cNvSpPr/>
          <p:nvPr/>
        </p:nvSpPr>
        <p:spPr>
          <a:xfrm>
            <a:off x="411840" y="2404800"/>
            <a:ext cx="1782720" cy="228240"/>
          </a:xfrm>
          <a:prstGeom prst="rect">
            <a:avLst/>
          </a:prstGeom>
          <a:noFill/>
          <a:ln w="0">
            <a:noFill/>
          </a:ln>
        </p:spPr>
        <p:style>
          <a:lnRef idx="0"/>
          <a:fillRef idx="0"/>
          <a:effectRef idx="0"/>
          <a:fontRef idx="minor"/>
        </p:style>
        <p:txBody>
          <a:bodyPr lIns="0" rIns="0" tIns="0" bIns="0" anchor="ctr">
            <a:normAutofit fontScale="93333"/>
          </a:bodyPr>
          <a:p>
            <a:pPr algn="ctr" defTabSz="914400">
              <a:lnSpc>
                <a:spcPct val="100000"/>
              </a:lnSpc>
              <a:tabLst>
                <a:tab algn="l" pos="0"/>
              </a:tabLst>
            </a:pPr>
            <a:r>
              <a:rPr b="1" lang="en-US" sz="1600" spc="-1" strike="noStrike">
                <a:solidFill>
                  <a:srgbClr val="f3f8fb"/>
                </a:solidFill>
                <a:latin typeface="Aptos"/>
              </a:rPr>
              <a:t>Metrics Simulator</a:t>
            </a:r>
            <a:endParaRPr b="0" lang="en-US" sz="1600" spc="-1" strike="noStrike">
              <a:solidFill>
                <a:srgbClr val="ffffff"/>
              </a:solidFill>
              <a:latin typeface="Arial"/>
            </a:endParaRPr>
          </a:p>
        </p:txBody>
      </p:sp>
      <p:sp>
        <p:nvSpPr>
          <p:cNvPr id="125" name="Text 4"/>
          <p:cNvSpPr/>
          <p:nvPr/>
        </p:nvSpPr>
        <p:spPr>
          <a:xfrm>
            <a:off x="411840" y="2651760"/>
            <a:ext cx="1782720" cy="365400"/>
          </a:xfrm>
          <a:prstGeom prst="rect">
            <a:avLst/>
          </a:prstGeom>
          <a:noFill/>
          <a:ln w="0">
            <a:noFill/>
          </a:ln>
        </p:spPr>
        <p:style>
          <a:lnRef idx="0"/>
          <a:fillRef idx="0"/>
          <a:effectRef idx="0"/>
          <a:fontRef idx="minor"/>
        </p:style>
        <p:txBody>
          <a:bodyPr lIns="0" rIns="0" tIns="0" bIns="0" anchor="ctr">
            <a:normAutofit fontScale="81111" lnSpcReduction="10000"/>
          </a:bodyPr>
          <a:p>
            <a:pPr algn="ctr" defTabSz="914400">
              <a:lnSpc>
                <a:spcPct val="100000"/>
              </a:lnSpc>
              <a:tabLst>
                <a:tab algn="l" pos="0"/>
              </a:tabLst>
            </a:pPr>
            <a:r>
              <a:rPr b="0" lang="en-US" sz="1600" spc="-1" strike="noStrike">
                <a:solidFill>
                  <a:srgbClr val="9ab0be"/>
                </a:solidFill>
                <a:latin typeface="Aptos"/>
              </a:rPr>
              <a:t>FastAPI synthetic traffic</a:t>
            </a:r>
            <a:endParaRPr b="0" lang="en-US" sz="1600" spc="-1" strike="noStrike">
              <a:solidFill>
                <a:srgbClr val="ffffff"/>
              </a:solidFill>
              <a:latin typeface="Arial"/>
            </a:endParaRPr>
          </a:p>
        </p:txBody>
      </p:sp>
      <p:sp>
        <p:nvSpPr>
          <p:cNvPr id="126" name="Shape 5"/>
          <p:cNvSpPr/>
          <p:nvPr/>
        </p:nvSpPr>
        <p:spPr>
          <a:xfrm>
            <a:off x="3200400" y="1316880"/>
            <a:ext cx="1828440" cy="785880"/>
          </a:xfrm>
          <a:prstGeom prst="roundRect">
            <a:avLst>
              <a:gd name="adj" fmla="val 16667"/>
            </a:avLst>
          </a:prstGeom>
          <a:solidFill>
            <a:srgbClr val="102636"/>
          </a:solidFill>
          <a:ln w="15875">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27" name="Text 6"/>
          <p:cNvSpPr/>
          <p:nvPr/>
        </p:nvSpPr>
        <p:spPr>
          <a:xfrm>
            <a:off x="3291840" y="1435680"/>
            <a:ext cx="16455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Prometheus</a:t>
            </a:r>
            <a:endParaRPr b="0" lang="en-US" sz="1600" spc="-1" strike="noStrike">
              <a:solidFill>
                <a:srgbClr val="ffffff"/>
              </a:solidFill>
              <a:latin typeface="Arial"/>
            </a:endParaRPr>
          </a:p>
        </p:txBody>
      </p:sp>
      <p:sp>
        <p:nvSpPr>
          <p:cNvPr id="128" name="Text 7"/>
          <p:cNvSpPr/>
          <p:nvPr/>
        </p:nvSpPr>
        <p:spPr>
          <a:xfrm>
            <a:off x="3291840" y="1682640"/>
            <a:ext cx="1645560" cy="365400"/>
          </a:xfrm>
          <a:prstGeom prst="rect">
            <a:avLst/>
          </a:prstGeom>
          <a:noFill/>
          <a:ln w="0">
            <a:noFill/>
          </a:ln>
        </p:spPr>
        <p:style>
          <a:lnRef idx="0"/>
          <a:fillRef idx="0"/>
          <a:effectRef idx="0"/>
          <a:fontRef idx="minor"/>
        </p:style>
        <p:txBody>
          <a:bodyPr lIns="0" rIns="0" tIns="0" bIns="0" anchor="ctr">
            <a:normAutofit fontScale="75000"/>
          </a:bodyPr>
          <a:p>
            <a:pPr algn="ctr" defTabSz="914400">
              <a:lnSpc>
                <a:spcPct val="100000"/>
              </a:lnSpc>
              <a:tabLst>
                <a:tab algn="l" pos="0"/>
              </a:tabLst>
            </a:pPr>
            <a:r>
              <a:rPr b="0" lang="en-US" sz="1600" spc="-1" strike="noStrike">
                <a:solidFill>
                  <a:srgbClr val="9ab0be"/>
                </a:solidFill>
                <a:latin typeface="Aptos"/>
              </a:rPr>
              <a:t>scrape + 62 recording rules</a:t>
            </a:r>
            <a:endParaRPr b="0" lang="en-US" sz="1600" spc="-1" strike="noStrike">
              <a:solidFill>
                <a:srgbClr val="ffffff"/>
              </a:solidFill>
              <a:latin typeface="Arial"/>
            </a:endParaRPr>
          </a:p>
        </p:txBody>
      </p:sp>
      <p:sp>
        <p:nvSpPr>
          <p:cNvPr id="129" name="Shape 8"/>
          <p:cNvSpPr/>
          <p:nvPr/>
        </p:nvSpPr>
        <p:spPr>
          <a:xfrm>
            <a:off x="3063240" y="3063240"/>
            <a:ext cx="1828440" cy="785880"/>
          </a:xfrm>
          <a:prstGeom prst="roundRect">
            <a:avLst>
              <a:gd name="adj" fmla="val 16667"/>
            </a:avLst>
          </a:prstGeom>
          <a:solidFill>
            <a:srgbClr val="102636"/>
          </a:solidFill>
          <a:ln w="15875">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30" name="Text 9"/>
          <p:cNvSpPr/>
          <p:nvPr/>
        </p:nvSpPr>
        <p:spPr>
          <a:xfrm>
            <a:off x="3154680" y="3182040"/>
            <a:ext cx="16455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OTel Collector</a:t>
            </a:r>
            <a:endParaRPr b="0" lang="en-US" sz="1600" spc="-1" strike="noStrike">
              <a:solidFill>
                <a:srgbClr val="ffffff"/>
              </a:solidFill>
              <a:latin typeface="Arial"/>
            </a:endParaRPr>
          </a:p>
        </p:txBody>
      </p:sp>
      <p:sp>
        <p:nvSpPr>
          <p:cNvPr id="131" name="Text 10"/>
          <p:cNvSpPr/>
          <p:nvPr/>
        </p:nvSpPr>
        <p:spPr>
          <a:xfrm>
            <a:off x="3154680" y="3429000"/>
            <a:ext cx="1645560" cy="365400"/>
          </a:xfrm>
          <a:prstGeom prst="rect">
            <a:avLst/>
          </a:prstGeom>
          <a:noFill/>
          <a:ln w="0">
            <a:noFill/>
          </a:ln>
        </p:spPr>
        <p:style>
          <a:lnRef idx="0"/>
          <a:fillRef idx="0"/>
          <a:effectRef idx="0"/>
          <a:fontRef idx="minor"/>
        </p:style>
        <p:txBody>
          <a:bodyPr lIns="0" rIns="0" tIns="0" bIns="0" anchor="ctr">
            <a:normAutofit fontScale="87222" lnSpcReduction="20000"/>
          </a:bodyPr>
          <a:p>
            <a:pPr algn="ctr" defTabSz="914400">
              <a:lnSpc>
                <a:spcPct val="100000"/>
              </a:lnSpc>
              <a:tabLst>
                <a:tab algn="l" pos="0"/>
              </a:tabLst>
            </a:pPr>
            <a:r>
              <a:rPr b="0" lang="en-US" sz="1600" spc="-1" strike="noStrike">
                <a:solidFill>
                  <a:srgbClr val="9ab0be"/>
                </a:solidFill>
                <a:latin typeface="Aptos"/>
              </a:rPr>
              <a:t>sampled OTLP traces</a:t>
            </a:r>
            <a:endParaRPr b="0" lang="en-US" sz="1600" spc="-1" strike="noStrike">
              <a:solidFill>
                <a:srgbClr val="ffffff"/>
              </a:solidFill>
              <a:latin typeface="Arial"/>
            </a:endParaRPr>
          </a:p>
        </p:txBody>
      </p:sp>
      <p:sp>
        <p:nvSpPr>
          <p:cNvPr id="132" name="Shape 11"/>
          <p:cNvSpPr/>
          <p:nvPr/>
        </p:nvSpPr>
        <p:spPr>
          <a:xfrm>
            <a:off x="6058080" y="1316880"/>
            <a:ext cx="1828440" cy="785880"/>
          </a:xfrm>
          <a:prstGeom prst="roundRect">
            <a:avLst>
              <a:gd name="adj" fmla="val 16667"/>
            </a:avLst>
          </a:prstGeom>
          <a:solidFill>
            <a:srgbClr val="102636"/>
          </a:solidFill>
          <a:ln w="15875">
            <a:solidFill>
              <a:srgbClr val="f5c45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33" name="Text 12"/>
          <p:cNvSpPr/>
          <p:nvPr/>
        </p:nvSpPr>
        <p:spPr>
          <a:xfrm>
            <a:off x="6149520" y="1435680"/>
            <a:ext cx="16455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Alertmanager</a:t>
            </a:r>
            <a:endParaRPr b="0" lang="en-US" sz="1600" spc="-1" strike="noStrike">
              <a:solidFill>
                <a:srgbClr val="ffffff"/>
              </a:solidFill>
              <a:latin typeface="Arial"/>
            </a:endParaRPr>
          </a:p>
        </p:txBody>
      </p:sp>
      <p:sp>
        <p:nvSpPr>
          <p:cNvPr id="134" name="Text 13"/>
          <p:cNvSpPr/>
          <p:nvPr/>
        </p:nvSpPr>
        <p:spPr>
          <a:xfrm>
            <a:off x="6149520" y="1682640"/>
            <a:ext cx="164556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400" spc="-1" strike="noStrike">
                <a:solidFill>
                  <a:srgbClr val="9ab0be"/>
                </a:solidFill>
                <a:latin typeface="Aptos"/>
              </a:rPr>
              <a:t>17 alert rules</a:t>
            </a:r>
            <a:endParaRPr b="0" lang="en-US" sz="1400" spc="-1" strike="noStrike">
              <a:solidFill>
                <a:srgbClr val="ffffff"/>
              </a:solidFill>
              <a:latin typeface="Arial"/>
            </a:endParaRPr>
          </a:p>
        </p:txBody>
      </p:sp>
      <p:sp>
        <p:nvSpPr>
          <p:cNvPr id="135" name="Shape 14"/>
          <p:cNvSpPr/>
          <p:nvPr/>
        </p:nvSpPr>
        <p:spPr>
          <a:xfrm>
            <a:off x="5943600" y="3182040"/>
            <a:ext cx="1828440" cy="785880"/>
          </a:xfrm>
          <a:prstGeom prst="roundRect">
            <a:avLst>
              <a:gd name="adj" fmla="val 16667"/>
            </a:avLst>
          </a:prstGeom>
          <a:solidFill>
            <a:srgbClr val="102636"/>
          </a:solidFill>
          <a:ln w="15875">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36" name="Text 15"/>
          <p:cNvSpPr/>
          <p:nvPr/>
        </p:nvSpPr>
        <p:spPr>
          <a:xfrm>
            <a:off x="6035040" y="3300840"/>
            <a:ext cx="16455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Tempo</a:t>
            </a:r>
            <a:endParaRPr b="0" lang="en-US" sz="1600" spc="-1" strike="noStrike">
              <a:solidFill>
                <a:srgbClr val="ffffff"/>
              </a:solidFill>
              <a:latin typeface="Arial"/>
            </a:endParaRPr>
          </a:p>
        </p:txBody>
      </p:sp>
      <p:sp>
        <p:nvSpPr>
          <p:cNvPr id="137" name="Text 16"/>
          <p:cNvSpPr/>
          <p:nvPr/>
        </p:nvSpPr>
        <p:spPr>
          <a:xfrm>
            <a:off x="6035040" y="3547800"/>
            <a:ext cx="164556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600" spc="-1" strike="noStrike">
                <a:solidFill>
                  <a:srgbClr val="9ab0be"/>
                </a:solidFill>
                <a:latin typeface="Aptos"/>
              </a:rPr>
              <a:t>trace backend</a:t>
            </a:r>
            <a:endParaRPr b="0" lang="en-US" sz="1600" spc="-1" strike="noStrike">
              <a:solidFill>
                <a:srgbClr val="ffffff"/>
              </a:solidFill>
              <a:latin typeface="Arial"/>
            </a:endParaRPr>
          </a:p>
        </p:txBody>
      </p:sp>
      <p:sp>
        <p:nvSpPr>
          <p:cNvPr id="138" name="Shape 17"/>
          <p:cNvSpPr/>
          <p:nvPr/>
        </p:nvSpPr>
        <p:spPr>
          <a:xfrm>
            <a:off x="9510120" y="2286000"/>
            <a:ext cx="2148480" cy="959760"/>
          </a:xfrm>
          <a:prstGeom prst="roundRect">
            <a:avLst>
              <a:gd name="adj" fmla="val 16667"/>
            </a:avLst>
          </a:prstGeom>
          <a:solidFill>
            <a:srgbClr val="102636"/>
          </a:solidFill>
          <a:ln w="15875">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39" name="Text 18"/>
          <p:cNvSpPr/>
          <p:nvPr/>
        </p:nvSpPr>
        <p:spPr>
          <a:xfrm>
            <a:off x="9601560" y="2405160"/>
            <a:ext cx="19656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Grafana</a:t>
            </a:r>
            <a:endParaRPr b="0" lang="en-US" sz="1600" spc="-1" strike="noStrike">
              <a:solidFill>
                <a:srgbClr val="ffffff"/>
              </a:solidFill>
              <a:latin typeface="Arial"/>
            </a:endParaRPr>
          </a:p>
        </p:txBody>
      </p:sp>
      <p:sp>
        <p:nvSpPr>
          <p:cNvPr id="140" name="Text 19"/>
          <p:cNvSpPr/>
          <p:nvPr/>
        </p:nvSpPr>
        <p:spPr>
          <a:xfrm>
            <a:off x="9601560" y="2651760"/>
            <a:ext cx="1965600" cy="5392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600" spc="-1" strike="noStrike">
                <a:solidFill>
                  <a:srgbClr val="9ab0be"/>
                </a:solidFill>
                <a:latin typeface="Aptos"/>
              </a:rPr>
              <a:t>8 core dashboards / 83 panels</a:t>
            </a:r>
            <a:endParaRPr b="0" lang="en-US" sz="1600" spc="-1" strike="noStrike">
              <a:solidFill>
                <a:srgbClr val="ffffff"/>
              </a:solidFill>
              <a:latin typeface="Arial"/>
            </a:endParaRPr>
          </a:p>
        </p:txBody>
      </p:sp>
      <p:sp>
        <p:nvSpPr>
          <p:cNvPr id="141" name="Shape 20"/>
          <p:cNvSpPr/>
          <p:nvPr/>
        </p:nvSpPr>
        <p:spPr>
          <a:xfrm flipV="1">
            <a:off x="2286000" y="1600200"/>
            <a:ext cx="914400" cy="914400"/>
          </a:xfrm>
          <a:prstGeom prst="line">
            <a:avLst/>
          </a:prstGeom>
          <a:ln w="21590">
            <a:solidFill>
              <a:srgbClr val="678296"/>
            </a:solidFill>
            <a:round/>
            <a:tailEnd len="med" type="triangle" w="me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142" name="Text 21"/>
          <p:cNvSpPr/>
          <p:nvPr/>
        </p:nvSpPr>
        <p:spPr>
          <a:xfrm>
            <a:off x="1828800" y="1778760"/>
            <a:ext cx="10054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600" spc="-1" strike="noStrike">
                <a:solidFill>
                  <a:srgbClr val="9ab0be"/>
                </a:solidFill>
                <a:latin typeface="Aptos"/>
              </a:rPr>
              <a:t>/metrics</a:t>
            </a:r>
            <a:endParaRPr b="0" lang="en-US" sz="1600" spc="-1" strike="noStrike">
              <a:solidFill>
                <a:srgbClr val="ffffff"/>
              </a:solidFill>
              <a:latin typeface="Arial"/>
            </a:endParaRPr>
          </a:p>
        </p:txBody>
      </p:sp>
      <p:sp>
        <p:nvSpPr>
          <p:cNvPr id="143" name="Shape 22"/>
          <p:cNvSpPr/>
          <p:nvPr/>
        </p:nvSpPr>
        <p:spPr>
          <a:xfrm>
            <a:off x="2286000" y="2811960"/>
            <a:ext cx="777240" cy="644400"/>
          </a:xfrm>
          <a:prstGeom prst="line">
            <a:avLst/>
          </a:prstGeom>
          <a:ln w="21590">
            <a:solidFill>
              <a:srgbClr val="678296"/>
            </a:solidFill>
            <a:round/>
            <a:tailEnd len="med" type="triangle" w="me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144" name="Text 23"/>
          <p:cNvSpPr/>
          <p:nvPr/>
        </p:nvSpPr>
        <p:spPr>
          <a:xfrm>
            <a:off x="1828800" y="3200400"/>
            <a:ext cx="10054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600" spc="-1" strike="noStrike">
                <a:solidFill>
                  <a:srgbClr val="9ab0be"/>
                </a:solidFill>
                <a:latin typeface="Aptos"/>
              </a:rPr>
              <a:t>OTLP</a:t>
            </a:r>
            <a:endParaRPr b="0" lang="en-US" sz="1600" spc="-1" strike="noStrike">
              <a:solidFill>
                <a:srgbClr val="ffffff"/>
              </a:solidFill>
              <a:latin typeface="Arial"/>
            </a:endParaRPr>
          </a:p>
        </p:txBody>
      </p:sp>
      <p:sp>
        <p:nvSpPr>
          <p:cNvPr id="145" name="Shape 24"/>
          <p:cNvSpPr/>
          <p:nvPr/>
        </p:nvSpPr>
        <p:spPr>
          <a:xfrm>
            <a:off x="5028840" y="1600200"/>
            <a:ext cx="1029240" cy="0"/>
          </a:xfrm>
          <a:prstGeom prst="line">
            <a:avLst/>
          </a:prstGeom>
          <a:ln w="21590">
            <a:solidFill>
              <a:srgbClr val="678296"/>
            </a:solidFill>
            <a:round/>
            <a:tailEnd len="med" type="triangle" w="me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146" name="Text 25"/>
          <p:cNvSpPr/>
          <p:nvPr/>
        </p:nvSpPr>
        <p:spPr>
          <a:xfrm>
            <a:off x="4938120" y="1371600"/>
            <a:ext cx="10054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600" spc="-1" strike="noStrike">
                <a:solidFill>
                  <a:srgbClr val="9ab0be"/>
                </a:solidFill>
                <a:latin typeface="Aptos"/>
              </a:rPr>
              <a:t>rules</a:t>
            </a:r>
            <a:endParaRPr b="0" lang="en-US" sz="1600" spc="-1" strike="noStrike">
              <a:solidFill>
                <a:srgbClr val="ffffff"/>
              </a:solidFill>
              <a:latin typeface="Arial"/>
            </a:endParaRPr>
          </a:p>
        </p:txBody>
      </p:sp>
      <p:sp>
        <p:nvSpPr>
          <p:cNvPr id="147" name="Shape 26"/>
          <p:cNvSpPr/>
          <p:nvPr/>
        </p:nvSpPr>
        <p:spPr>
          <a:xfrm>
            <a:off x="4892040" y="3456360"/>
            <a:ext cx="1051560" cy="201240"/>
          </a:xfrm>
          <a:prstGeom prst="line">
            <a:avLst/>
          </a:prstGeom>
          <a:ln w="21590">
            <a:solidFill>
              <a:srgbClr val="678296"/>
            </a:solidFill>
            <a:round/>
            <a:tailEnd len="med" type="triangle" w="me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148" name="Text 27"/>
          <p:cNvSpPr/>
          <p:nvPr/>
        </p:nvSpPr>
        <p:spPr>
          <a:xfrm>
            <a:off x="4891680" y="3246120"/>
            <a:ext cx="10054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600" spc="-1" strike="noStrike">
                <a:solidFill>
                  <a:srgbClr val="9ab0be"/>
                </a:solidFill>
                <a:latin typeface="Aptos"/>
              </a:rPr>
              <a:t>traces</a:t>
            </a:r>
            <a:endParaRPr b="0" lang="en-US" sz="1600" spc="-1" strike="noStrike">
              <a:solidFill>
                <a:srgbClr val="ffffff"/>
              </a:solidFill>
              <a:latin typeface="Arial"/>
            </a:endParaRPr>
          </a:p>
        </p:txBody>
      </p:sp>
      <p:sp>
        <p:nvSpPr>
          <p:cNvPr id="149" name="Shape 28"/>
          <p:cNvSpPr/>
          <p:nvPr/>
        </p:nvSpPr>
        <p:spPr>
          <a:xfrm>
            <a:off x="7886520" y="1764720"/>
            <a:ext cx="1623600" cy="978480"/>
          </a:xfrm>
          <a:prstGeom prst="line">
            <a:avLst/>
          </a:prstGeom>
          <a:ln w="21590">
            <a:solidFill>
              <a:srgbClr val="678296"/>
            </a:solidFill>
            <a:round/>
            <a:tailEnd len="med" type="triangle" w="me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150" name="Text 29"/>
          <p:cNvSpPr/>
          <p:nvPr/>
        </p:nvSpPr>
        <p:spPr>
          <a:xfrm>
            <a:off x="8367120" y="2103480"/>
            <a:ext cx="10054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600" spc="-1" strike="noStrike">
                <a:solidFill>
                  <a:srgbClr val="9ab0be"/>
                </a:solidFill>
                <a:latin typeface="Aptos"/>
              </a:rPr>
              <a:t>alerts</a:t>
            </a:r>
            <a:endParaRPr b="0" lang="en-US" sz="1600" spc="-1" strike="noStrike">
              <a:solidFill>
                <a:srgbClr val="ffffff"/>
              </a:solidFill>
              <a:latin typeface="Arial"/>
            </a:endParaRPr>
          </a:p>
        </p:txBody>
      </p:sp>
      <p:sp>
        <p:nvSpPr>
          <p:cNvPr id="151" name="Shape 30"/>
          <p:cNvSpPr/>
          <p:nvPr/>
        </p:nvSpPr>
        <p:spPr>
          <a:xfrm flipV="1">
            <a:off x="7772400" y="2743200"/>
            <a:ext cx="1737720" cy="713160"/>
          </a:xfrm>
          <a:prstGeom prst="line">
            <a:avLst/>
          </a:prstGeom>
          <a:ln w="21590">
            <a:solidFill>
              <a:srgbClr val="678296"/>
            </a:solidFill>
            <a:round/>
            <a:tailEnd len="med" type="triangle" w="me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152" name="Text 31"/>
          <p:cNvSpPr/>
          <p:nvPr/>
        </p:nvSpPr>
        <p:spPr>
          <a:xfrm>
            <a:off x="8229600" y="3071880"/>
            <a:ext cx="10054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600" spc="-1" strike="noStrike">
                <a:solidFill>
                  <a:srgbClr val="9ab0be"/>
                </a:solidFill>
                <a:latin typeface="Aptos"/>
              </a:rPr>
              <a:t>traces</a:t>
            </a:r>
            <a:endParaRPr b="0" lang="en-US" sz="1600" spc="-1" strike="noStrike">
              <a:solidFill>
                <a:srgbClr val="ffffff"/>
              </a:solidFill>
              <a:latin typeface="Arial"/>
            </a:endParaRPr>
          </a:p>
        </p:txBody>
      </p:sp>
      <p:sp>
        <p:nvSpPr>
          <p:cNvPr id="153" name="Shape 32"/>
          <p:cNvSpPr/>
          <p:nvPr/>
        </p:nvSpPr>
        <p:spPr>
          <a:xfrm>
            <a:off x="5028840" y="1965960"/>
            <a:ext cx="4481280" cy="777240"/>
          </a:xfrm>
          <a:prstGeom prst="line">
            <a:avLst/>
          </a:prstGeom>
          <a:ln w="21590">
            <a:solidFill>
              <a:srgbClr val="678296"/>
            </a:solidFill>
            <a:round/>
            <a:tailEnd len="med" type="triangle" w="me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154" name="Shape 34"/>
          <p:cNvSpPr/>
          <p:nvPr/>
        </p:nvSpPr>
        <p:spPr>
          <a:xfrm>
            <a:off x="822960" y="4937760"/>
            <a:ext cx="10606680" cy="8683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55" name="Shape 35"/>
          <p:cNvSpPr/>
          <p:nvPr/>
        </p:nvSpPr>
        <p:spPr>
          <a:xfrm>
            <a:off x="822960" y="4937760"/>
            <a:ext cx="50040" cy="868320"/>
          </a:xfrm>
          <a:prstGeom prst="rect">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56" name="Text 36"/>
          <p:cNvSpPr/>
          <p:nvPr/>
        </p:nvSpPr>
        <p:spPr>
          <a:xfrm>
            <a:off x="1024200" y="5102280"/>
            <a:ext cx="102409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Design principle</a:t>
            </a:r>
            <a:endParaRPr b="0" lang="en-US" sz="1600" spc="-1" strike="noStrike">
              <a:solidFill>
                <a:srgbClr val="ffffff"/>
              </a:solidFill>
              <a:latin typeface="Arial"/>
            </a:endParaRPr>
          </a:p>
        </p:txBody>
      </p:sp>
      <p:sp>
        <p:nvSpPr>
          <p:cNvPr id="157" name="Text 37"/>
          <p:cNvSpPr/>
          <p:nvPr/>
        </p:nvSpPr>
        <p:spPr>
          <a:xfrm>
            <a:off x="1042560" y="5468040"/>
            <a:ext cx="10186200" cy="209880"/>
          </a:xfrm>
          <a:prstGeom prst="rect">
            <a:avLst/>
          </a:prstGeom>
          <a:noFill/>
          <a:ln w="0">
            <a:noFill/>
          </a:ln>
        </p:spPr>
        <p:style>
          <a:lnRef idx="0"/>
          <a:fillRef idx="0"/>
          <a:effectRef idx="0"/>
          <a:fontRef idx="minor"/>
        </p:style>
        <p:txBody>
          <a:bodyPr lIns="360" rIns="360" tIns="360" bIns="360" anchor="t">
            <a:normAutofit fontScale="75000"/>
          </a:bodyPr>
          <a:p>
            <a:pPr defTabSz="914400">
              <a:lnSpc>
                <a:spcPct val="100000"/>
              </a:lnSpc>
              <a:tabLst>
                <a:tab algn="l" pos="0"/>
              </a:tabLst>
            </a:pPr>
            <a:r>
              <a:rPr b="0" lang="en-US" sz="1250" spc="-1" strike="noStrike">
                <a:solidFill>
                  <a:srgbClr val="9ab0be"/>
                </a:solidFill>
                <a:latin typeface="Aptos"/>
              </a:rPr>
              <a:t>Metrics để phát hiện “cái gì đang xấu”; trace để trả lời “xấu ở stage nào / request path nào”. Prometheus labels giữ bounded cardinality; correlation identifiers thuộc tracing/logs.</a:t>
            </a:r>
            <a:endParaRPr b="0" lang="en-US" sz="1250" spc="-1" strike="noStrike">
              <a:solidFill>
                <a:srgbClr val="ffffff"/>
              </a:solidFill>
              <a:latin typeface="Arial"/>
            </a:endParaRPr>
          </a:p>
        </p:txBody>
      </p:sp>
      <p:sp>
        <p:nvSpPr>
          <p:cNvPr id="158" name="PlaceHolder 1"/>
          <p:cNvSpPr>
            <a:spLocks noGrp="1"/>
          </p:cNvSpPr>
          <p:nvPr>
            <p:ph type="sldNum" idx="7"/>
          </p:nvPr>
        </p:nvSpPr>
        <p:spPr>
          <a:xfrm>
            <a:off x="11777400" y="6473880"/>
            <a:ext cx="414000" cy="299520"/>
          </a:xfrm>
          <a:prstGeom prst="rect">
            <a:avLst/>
          </a:prstGeom>
          <a:noFill/>
          <a:ln w="0">
            <a:noFill/>
          </a:ln>
        </p:spPr>
        <p:txBody>
          <a:bodyPr lIns="88920" rIns="8892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80FD888C-CAEF-4DB5-8B5D-D1665497BA55}" type="slidenum">
              <a:rPr b="0" lang="en-US" sz="800" spc="-1" strike="noStrike">
                <a:solidFill>
                  <a:srgbClr val="678296"/>
                </a:solidFill>
                <a:latin typeface="Aptos"/>
                <a:ea typeface="Aptos"/>
              </a:rPr>
              <a:t>4</a:t>
            </a:fld>
            <a:endParaRPr b="0" lang="en-US" sz="8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Text 0"/>
          <p:cNvSpPr/>
          <p:nvPr/>
        </p:nvSpPr>
        <p:spPr>
          <a:xfrm>
            <a:off x="594720" y="228600"/>
            <a:ext cx="110638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3f8fb"/>
                </a:solidFill>
                <a:latin typeface="Aptos Display"/>
                <a:ea typeface="Aptos Display"/>
              </a:rPr>
              <a:t>04 — 6 KPI cốt lõi</a:t>
            </a:r>
            <a:endParaRPr b="0" lang="en-US" sz="2800" spc="-1" strike="noStrike">
              <a:solidFill>
                <a:srgbClr val="ffffff"/>
              </a:solidFill>
              <a:latin typeface="Arial"/>
            </a:endParaRPr>
          </a:p>
        </p:txBody>
      </p:sp>
      <p:sp>
        <p:nvSpPr>
          <p:cNvPr id="160" name="Text 1"/>
          <p:cNvSpPr/>
          <p:nvPr/>
        </p:nvSpPr>
        <p:spPr>
          <a:xfrm>
            <a:off x="567000" y="896040"/>
            <a:ext cx="107895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9ab0be"/>
                </a:solidFill>
                <a:latin typeface="Aptos"/>
              </a:rPr>
              <a:t>KPI contract tách rõ numerator/denominator, target và window; KPI-04 hiện baseline, chưa SLO alert.</a:t>
            </a:r>
            <a:endParaRPr b="0" lang="en-US" sz="1500" spc="-1" strike="noStrike">
              <a:solidFill>
                <a:srgbClr val="ffffff"/>
              </a:solidFill>
              <a:latin typeface="Arial"/>
            </a:endParaRPr>
          </a:p>
        </p:txBody>
      </p:sp>
      <p:sp>
        <p:nvSpPr>
          <p:cNvPr id="161" name="Shape 2"/>
          <p:cNvSpPr/>
          <p:nvPr/>
        </p:nvSpPr>
        <p:spPr>
          <a:xfrm>
            <a:off x="731520" y="1417320"/>
            <a:ext cx="5166000" cy="126144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62" name="Text 3"/>
          <p:cNvSpPr/>
          <p:nvPr/>
        </p:nvSpPr>
        <p:spPr>
          <a:xfrm>
            <a:off x="932760" y="1618560"/>
            <a:ext cx="6397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300" spc="-1" strike="noStrike">
                <a:solidFill>
                  <a:srgbClr val="19c3b1"/>
                </a:solidFill>
                <a:latin typeface="Aptos"/>
              </a:rPr>
              <a:t>01</a:t>
            </a:r>
            <a:endParaRPr b="0" lang="en-US" sz="2300" spc="-1" strike="noStrike">
              <a:solidFill>
                <a:srgbClr val="ffffff"/>
              </a:solidFill>
              <a:latin typeface="Arial"/>
            </a:endParaRPr>
          </a:p>
        </p:txBody>
      </p:sp>
      <p:sp>
        <p:nvSpPr>
          <p:cNvPr id="163" name="Text 4"/>
          <p:cNvSpPr/>
          <p:nvPr/>
        </p:nvSpPr>
        <p:spPr>
          <a:xfrm>
            <a:off x="1691640" y="1581840"/>
            <a:ext cx="27428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f3f8fb"/>
                </a:solidFill>
                <a:latin typeface="Aptos"/>
              </a:rPr>
              <a:t>Authentication success</a:t>
            </a:r>
            <a:endParaRPr b="0" lang="en-US" sz="1600" spc="-1" strike="noStrike">
              <a:solidFill>
                <a:srgbClr val="ffffff"/>
              </a:solidFill>
              <a:latin typeface="Arial"/>
            </a:endParaRPr>
          </a:p>
        </p:txBody>
      </p:sp>
      <p:sp>
        <p:nvSpPr>
          <p:cNvPr id="164" name="Text 5"/>
          <p:cNvSpPr/>
          <p:nvPr/>
        </p:nvSpPr>
        <p:spPr>
          <a:xfrm>
            <a:off x="1691640" y="2011680"/>
            <a:ext cx="347436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 </a:t>
            </a:r>
            <a:r>
              <a:rPr b="0" lang="en-US" sz="1600" spc="-1" strike="noStrike">
                <a:solidFill>
                  <a:srgbClr val="9ab0be"/>
                </a:solidFill>
                <a:latin typeface="Aptos"/>
              </a:rPr>
              <a:t>99.9% / 30d</a:t>
            </a:r>
            <a:endParaRPr b="0" lang="en-US" sz="1600" spc="-1" strike="noStrike">
              <a:solidFill>
                <a:srgbClr val="ffffff"/>
              </a:solidFill>
              <a:latin typeface="Arial"/>
            </a:endParaRPr>
          </a:p>
        </p:txBody>
      </p:sp>
      <p:sp>
        <p:nvSpPr>
          <p:cNvPr id="165" name="Shape 6"/>
          <p:cNvSpPr/>
          <p:nvPr/>
        </p:nvSpPr>
        <p:spPr>
          <a:xfrm>
            <a:off x="6263640" y="1417320"/>
            <a:ext cx="5166000" cy="126144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66" name="Text 7"/>
          <p:cNvSpPr/>
          <p:nvPr/>
        </p:nvSpPr>
        <p:spPr>
          <a:xfrm>
            <a:off x="6464880" y="1618560"/>
            <a:ext cx="6397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300" spc="-1" strike="noStrike">
                <a:solidFill>
                  <a:srgbClr val="42b4e6"/>
                </a:solidFill>
                <a:latin typeface="Aptos"/>
              </a:rPr>
              <a:t>02</a:t>
            </a:r>
            <a:endParaRPr b="0" lang="en-US" sz="2300" spc="-1" strike="noStrike">
              <a:solidFill>
                <a:srgbClr val="ffffff"/>
              </a:solidFill>
              <a:latin typeface="Arial"/>
            </a:endParaRPr>
          </a:p>
        </p:txBody>
      </p:sp>
      <p:sp>
        <p:nvSpPr>
          <p:cNvPr id="167" name="Text 8"/>
          <p:cNvSpPr/>
          <p:nvPr/>
        </p:nvSpPr>
        <p:spPr>
          <a:xfrm>
            <a:off x="7223760" y="1581840"/>
            <a:ext cx="27428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f3f8fb"/>
                </a:solidFill>
                <a:latin typeface="Aptos"/>
              </a:rPr>
              <a:t>Auth latency &lt; 500 ms</a:t>
            </a:r>
            <a:endParaRPr b="0" lang="en-US" sz="1600" spc="-1" strike="noStrike">
              <a:solidFill>
                <a:srgbClr val="ffffff"/>
              </a:solidFill>
              <a:latin typeface="Arial"/>
            </a:endParaRPr>
          </a:p>
        </p:txBody>
      </p:sp>
      <p:sp>
        <p:nvSpPr>
          <p:cNvPr id="168" name="Text 9"/>
          <p:cNvSpPr/>
          <p:nvPr/>
        </p:nvSpPr>
        <p:spPr>
          <a:xfrm>
            <a:off x="7223760" y="2011680"/>
            <a:ext cx="347436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 </a:t>
            </a:r>
            <a:r>
              <a:rPr b="0" lang="en-US" sz="1600" spc="-1" strike="noStrike">
                <a:solidFill>
                  <a:srgbClr val="9ab0be"/>
                </a:solidFill>
                <a:latin typeface="Aptos"/>
              </a:rPr>
              <a:t>95% / 30d</a:t>
            </a:r>
            <a:endParaRPr b="0" lang="en-US" sz="1600" spc="-1" strike="noStrike">
              <a:solidFill>
                <a:srgbClr val="ffffff"/>
              </a:solidFill>
              <a:latin typeface="Arial"/>
            </a:endParaRPr>
          </a:p>
        </p:txBody>
      </p:sp>
      <p:sp>
        <p:nvSpPr>
          <p:cNvPr id="169" name="Shape 10"/>
          <p:cNvSpPr/>
          <p:nvPr/>
        </p:nvSpPr>
        <p:spPr>
          <a:xfrm>
            <a:off x="731520" y="2990160"/>
            <a:ext cx="5166000" cy="126144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70" name="Text 11"/>
          <p:cNvSpPr/>
          <p:nvPr/>
        </p:nvSpPr>
        <p:spPr>
          <a:xfrm>
            <a:off x="932760" y="3191400"/>
            <a:ext cx="6397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300" spc="-1" strike="noStrike">
                <a:solidFill>
                  <a:srgbClr val="48d597"/>
                </a:solidFill>
                <a:latin typeface="Aptos"/>
              </a:rPr>
              <a:t>03</a:t>
            </a:r>
            <a:endParaRPr b="0" lang="en-US" sz="2300" spc="-1" strike="noStrike">
              <a:solidFill>
                <a:srgbClr val="ffffff"/>
              </a:solidFill>
              <a:latin typeface="Arial"/>
            </a:endParaRPr>
          </a:p>
        </p:txBody>
      </p:sp>
      <p:sp>
        <p:nvSpPr>
          <p:cNvPr id="171" name="Text 12"/>
          <p:cNvSpPr/>
          <p:nvPr/>
        </p:nvSpPr>
        <p:spPr>
          <a:xfrm>
            <a:off x="1691640" y="3154680"/>
            <a:ext cx="27428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f3f8fb"/>
                </a:solidFill>
                <a:latin typeface="Aptos"/>
              </a:rPr>
              <a:t>OTP delivery success</a:t>
            </a:r>
            <a:endParaRPr b="0" lang="en-US" sz="1600" spc="-1" strike="noStrike">
              <a:solidFill>
                <a:srgbClr val="ffffff"/>
              </a:solidFill>
              <a:latin typeface="Arial"/>
            </a:endParaRPr>
          </a:p>
        </p:txBody>
      </p:sp>
      <p:sp>
        <p:nvSpPr>
          <p:cNvPr id="172" name="Text 13"/>
          <p:cNvSpPr/>
          <p:nvPr/>
        </p:nvSpPr>
        <p:spPr>
          <a:xfrm>
            <a:off x="1691640" y="3584520"/>
            <a:ext cx="347436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 </a:t>
            </a:r>
            <a:r>
              <a:rPr b="0" lang="en-US" sz="1600" spc="-1" strike="noStrike">
                <a:solidFill>
                  <a:srgbClr val="9ab0be"/>
                </a:solidFill>
                <a:latin typeface="Aptos"/>
              </a:rPr>
              <a:t>95% / 24h &amp; 30d</a:t>
            </a:r>
            <a:endParaRPr b="0" lang="en-US" sz="1600" spc="-1" strike="noStrike">
              <a:solidFill>
                <a:srgbClr val="ffffff"/>
              </a:solidFill>
              <a:latin typeface="Arial"/>
            </a:endParaRPr>
          </a:p>
        </p:txBody>
      </p:sp>
      <p:sp>
        <p:nvSpPr>
          <p:cNvPr id="173" name="Shape 14"/>
          <p:cNvSpPr/>
          <p:nvPr/>
        </p:nvSpPr>
        <p:spPr>
          <a:xfrm>
            <a:off x="6263640" y="2990160"/>
            <a:ext cx="5166000" cy="126144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74" name="Text 15"/>
          <p:cNvSpPr/>
          <p:nvPr/>
        </p:nvSpPr>
        <p:spPr>
          <a:xfrm>
            <a:off x="6464880" y="3191400"/>
            <a:ext cx="6397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300" spc="-1" strike="noStrike">
                <a:solidFill>
                  <a:srgbClr val="f5c451"/>
                </a:solidFill>
                <a:latin typeface="Aptos"/>
              </a:rPr>
              <a:t>04</a:t>
            </a:r>
            <a:endParaRPr b="0" lang="en-US" sz="2300" spc="-1" strike="noStrike">
              <a:solidFill>
                <a:srgbClr val="ffffff"/>
              </a:solidFill>
              <a:latin typeface="Arial"/>
            </a:endParaRPr>
          </a:p>
        </p:txBody>
      </p:sp>
      <p:sp>
        <p:nvSpPr>
          <p:cNvPr id="175" name="Text 16"/>
          <p:cNvSpPr/>
          <p:nvPr/>
        </p:nvSpPr>
        <p:spPr>
          <a:xfrm>
            <a:off x="7223760" y="3154680"/>
            <a:ext cx="27428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f3f8fb"/>
                </a:solidFill>
                <a:latin typeface="Aptos"/>
              </a:rPr>
              <a:t>OTP verification success</a:t>
            </a:r>
            <a:endParaRPr b="0" lang="en-US" sz="1600" spc="-1" strike="noStrike">
              <a:solidFill>
                <a:srgbClr val="ffffff"/>
              </a:solidFill>
              <a:latin typeface="Arial"/>
            </a:endParaRPr>
          </a:p>
        </p:txBody>
      </p:sp>
      <p:sp>
        <p:nvSpPr>
          <p:cNvPr id="176" name="Text 17"/>
          <p:cNvSpPr/>
          <p:nvPr/>
        </p:nvSpPr>
        <p:spPr>
          <a:xfrm>
            <a:off x="7223760" y="3584520"/>
            <a:ext cx="347436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Baseline</a:t>
            </a:r>
            <a:endParaRPr b="0" lang="en-US" sz="1600" spc="-1" strike="noStrike">
              <a:solidFill>
                <a:srgbClr val="ffffff"/>
              </a:solidFill>
              <a:latin typeface="Arial"/>
            </a:endParaRPr>
          </a:p>
        </p:txBody>
      </p:sp>
      <p:sp>
        <p:nvSpPr>
          <p:cNvPr id="177" name="Shape 18"/>
          <p:cNvSpPr/>
          <p:nvPr/>
        </p:nvSpPr>
        <p:spPr>
          <a:xfrm>
            <a:off x="731520" y="4563000"/>
            <a:ext cx="5166000" cy="126144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78" name="Text 19"/>
          <p:cNvSpPr/>
          <p:nvPr/>
        </p:nvSpPr>
        <p:spPr>
          <a:xfrm>
            <a:off x="932760" y="4763880"/>
            <a:ext cx="6397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300" spc="-1" strike="noStrike">
                <a:solidFill>
                  <a:srgbClr val="19c3b1"/>
                </a:solidFill>
                <a:latin typeface="Aptos"/>
              </a:rPr>
              <a:t>05</a:t>
            </a:r>
            <a:endParaRPr b="0" lang="en-US" sz="2300" spc="-1" strike="noStrike">
              <a:solidFill>
                <a:srgbClr val="ffffff"/>
              </a:solidFill>
              <a:latin typeface="Arial"/>
            </a:endParaRPr>
          </a:p>
        </p:txBody>
      </p:sp>
      <p:sp>
        <p:nvSpPr>
          <p:cNvPr id="179" name="Text 20"/>
          <p:cNvSpPr/>
          <p:nvPr/>
        </p:nvSpPr>
        <p:spPr>
          <a:xfrm>
            <a:off x="1691640" y="4727520"/>
            <a:ext cx="27428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f3f8fb"/>
                </a:solidFill>
                <a:latin typeface="Aptos"/>
              </a:rPr>
              <a:t>Token issuance success</a:t>
            </a:r>
            <a:endParaRPr b="0" lang="en-US" sz="1600" spc="-1" strike="noStrike">
              <a:solidFill>
                <a:srgbClr val="ffffff"/>
              </a:solidFill>
              <a:latin typeface="Arial"/>
            </a:endParaRPr>
          </a:p>
        </p:txBody>
      </p:sp>
      <p:sp>
        <p:nvSpPr>
          <p:cNvPr id="180" name="Text 21"/>
          <p:cNvSpPr/>
          <p:nvPr/>
        </p:nvSpPr>
        <p:spPr>
          <a:xfrm>
            <a:off x="1691640" y="5157360"/>
            <a:ext cx="347436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 </a:t>
            </a:r>
            <a:r>
              <a:rPr b="0" lang="en-US" sz="1600" spc="-1" strike="noStrike">
                <a:solidFill>
                  <a:srgbClr val="9ab0be"/>
                </a:solidFill>
                <a:latin typeface="Aptos"/>
              </a:rPr>
              <a:t>99.9% / 30d</a:t>
            </a:r>
            <a:endParaRPr b="0" lang="en-US" sz="1600" spc="-1" strike="noStrike">
              <a:solidFill>
                <a:srgbClr val="ffffff"/>
              </a:solidFill>
              <a:latin typeface="Arial"/>
            </a:endParaRPr>
          </a:p>
        </p:txBody>
      </p:sp>
      <p:sp>
        <p:nvSpPr>
          <p:cNvPr id="181" name="Shape 22"/>
          <p:cNvSpPr/>
          <p:nvPr/>
        </p:nvSpPr>
        <p:spPr>
          <a:xfrm>
            <a:off x="6263640" y="4563000"/>
            <a:ext cx="5166000" cy="126144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82" name="Text 23"/>
          <p:cNvSpPr/>
          <p:nvPr/>
        </p:nvSpPr>
        <p:spPr>
          <a:xfrm>
            <a:off x="6464880" y="4763880"/>
            <a:ext cx="6397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300" spc="-1" strike="noStrike">
                <a:solidFill>
                  <a:srgbClr val="ff6b6b"/>
                </a:solidFill>
                <a:latin typeface="Aptos"/>
              </a:rPr>
              <a:t>06</a:t>
            </a:r>
            <a:endParaRPr b="0" lang="en-US" sz="2300" spc="-1" strike="noStrike">
              <a:solidFill>
                <a:srgbClr val="ffffff"/>
              </a:solidFill>
              <a:latin typeface="Arial"/>
            </a:endParaRPr>
          </a:p>
        </p:txBody>
      </p:sp>
      <p:sp>
        <p:nvSpPr>
          <p:cNvPr id="183" name="Text 24"/>
          <p:cNvSpPr/>
          <p:nvPr/>
        </p:nvSpPr>
        <p:spPr>
          <a:xfrm>
            <a:off x="7223760" y="4727520"/>
            <a:ext cx="27428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f3f8fb"/>
                </a:solidFill>
                <a:latin typeface="Aptos"/>
              </a:rPr>
              <a:t>Platform availability</a:t>
            </a:r>
            <a:endParaRPr b="0" lang="en-US" sz="1600" spc="-1" strike="noStrike">
              <a:solidFill>
                <a:srgbClr val="ffffff"/>
              </a:solidFill>
              <a:latin typeface="Arial"/>
            </a:endParaRPr>
          </a:p>
        </p:txBody>
      </p:sp>
      <p:sp>
        <p:nvSpPr>
          <p:cNvPr id="184" name="Text 25"/>
          <p:cNvSpPr/>
          <p:nvPr/>
        </p:nvSpPr>
        <p:spPr>
          <a:xfrm>
            <a:off x="7223760" y="5157360"/>
            <a:ext cx="347436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 </a:t>
            </a:r>
            <a:r>
              <a:rPr b="0" lang="en-US" sz="1600" spc="-1" strike="noStrike">
                <a:solidFill>
                  <a:srgbClr val="9ab0be"/>
                </a:solidFill>
                <a:latin typeface="Aptos"/>
              </a:rPr>
              <a:t>99.9% / 30d</a:t>
            </a:r>
            <a:endParaRPr b="0" lang="en-US" sz="1600" spc="-1" strike="noStrike">
              <a:solidFill>
                <a:srgbClr val="ffffff"/>
              </a:solidFill>
              <a:latin typeface="Arial"/>
            </a:endParaRPr>
          </a:p>
        </p:txBody>
      </p:sp>
      <p:sp>
        <p:nvSpPr>
          <p:cNvPr id="185" name="PlaceHolder 1"/>
          <p:cNvSpPr>
            <a:spLocks noGrp="1"/>
          </p:cNvSpPr>
          <p:nvPr>
            <p:ph type="sldNum" idx="8"/>
          </p:nvPr>
        </p:nvSpPr>
        <p:spPr>
          <a:xfrm>
            <a:off x="11777400" y="6473880"/>
            <a:ext cx="414000" cy="299520"/>
          </a:xfrm>
          <a:prstGeom prst="rect">
            <a:avLst/>
          </a:prstGeom>
          <a:noFill/>
          <a:ln w="0">
            <a:noFill/>
          </a:ln>
        </p:spPr>
        <p:txBody>
          <a:bodyPr lIns="88920" rIns="8892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27EDA6CB-CB08-4662-B812-C513222050EE}" type="slidenum">
              <a:rPr b="0" lang="en-US" sz="800" spc="-1" strike="noStrike">
                <a:solidFill>
                  <a:srgbClr val="678296"/>
                </a:solidFill>
                <a:latin typeface="Aptos"/>
                <a:ea typeface="Aptos"/>
              </a:rPr>
              <a:t>5</a:t>
            </a:fld>
            <a:endParaRPr b="0" lang="en-US" sz="8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Text 0"/>
          <p:cNvSpPr/>
          <p:nvPr/>
        </p:nvSpPr>
        <p:spPr>
          <a:xfrm>
            <a:off x="548640" y="347400"/>
            <a:ext cx="110638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3f8fb"/>
                </a:solidFill>
                <a:latin typeface="Aptos Display"/>
                <a:ea typeface="Aptos Display"/>
              </a:rPr>
              <a:t>05 — Metric contract &amp; PromQL</a:t>
            </a:r>
            <a:endParaRPr b="0" lang="en-US" sz="2800" spc="-1" strike="noStrike">
              <a:solidFill>
                <a:srgbClr val="ffffff"/>
              </a:solidFill>
              <a:latin typeface="Arial"/>
            </a:endParaRPr>
          </a:p>
        </p:txBody>
      </p:sp>
      <p:sp>
        <p:nvSpPr>
          <p:cNvPr id="187" name="Text 1"/>
          <p:cNvSpPr/>
          <p:nvPr/>
        </p:nvSpPr>
        <p:spPr>
          <a:xfrm>
            <a:off x="567000" y="896040"/>
            <a:ext cx="107895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9ab0be"/>
                </a:solidFill>
                <a:latin typeface="Aptos"/>
              </a:rPr>
              <a:t>Raw metrics được chuẩn hóa thành recording rules để dashboard và alert dùng cùng một định nghĩa.</a:t>
            </a:r>
            <a:endParaRPr b="0" lang="en-US" sz="1500" spc="-1" strike="noStrike">
              <a:solidFill>
                <a:srgbClr val="ffffff"/>
              </a:solidFill>
              <a:latin typeface="Arial"/>
            </a:endParaRPr>
          </a:p>
        </p:txBody>
      </p:sp>
      <p:sp>
        <p:nvSpPr>
          <p:cNvPr id="188" name="Shape 2"/>
          <p:cNvSpPr/>
          <p:nvPr/>
        </p:nvSpPr>
        <p:spPr>
          <a:xfrm>
            <a:off x="685800" y="1325880"/>
            <a:ext cx="3702960" cy="45259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89" name="Shape 3"/>
          <p:cNvSpPr/>
          <p:nvPr/>
        </p:nvSpPr>
        <p:spPr>
          <a:xfrm>
            <a:off x="685800" y="1325880"/>
            <a:ext cx="50040" cy="4525920"/>
          </a:xfrm>
          <a:prstGeom prst="rect">
            <a:avLst/>
          </a:prstGeom>
          <a:solidFill>
            <a:srgbClr val="42b4e6"/>
          </a:solidFill>
          <a:ln w="12700">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90" name="Text 4"/>
          <p:cNvSpPr/>
          <p:nvPr/>
        </p:nvSpPr>
        <p:spPr>
          <a:xfrm>
            <a:off x="887040" y="1490400"/>
            <a:ext cx="333720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Raw metric groups</a:t>
            </a:r>
            <a:endParaRPr b="0" lang="en-US" sz="1600" spc="-1" strike="noStrike">
              <a:solidFill>
                <a:srgbClr val="ffffff"/>
              </a:solidFill>
              <a:latin typeface="Arial"/>
            </a:endParaRPr>
          </a:p>
        </p:txBody>
      </p:sp>
      <p:sp>
        <p:nvSpPr>
          <p:cNvPr id="191" name="Text 5"/>
          <p:cNvSpPr/>
          <p:nvPr/>
        </p:nvSpPr>
        <p:spPr>
          <a:xfrm>
            <a:off x="905400" y="1856160"/>
            <a:ext cx="3282480" cy="3867480"/>
          </a:xfrm>
          <a:prstGeom prst="rect">
            <a:avLst/>
          </a:prstGeom>
          <a:noFill/>
          <a:ln w="0">
            <a:noFill/>
          </a:ln>
        </p:spPr>
        <p:style>
          <a:lnRef idx="0"/>
          <a:fillRef idx="0"/>
          <a:effectRef idx="0"/>
          <a:fontRef idx="minor"/>
        </p:style>
        <p:txBody>
          <a:bodyPr lIns="360" rIns="360" tIns="360" bIns="360" anchor="ctr">
            <a:normAutofit/>
          </a:bodyPr>
          <a:p>
            <a:pPr marL="152280" indent="-152280" defTabSz="914400">
              <a:lnSpc>
                <a:spcPct val="100000"/>
              </a:lnSpc>
              <a:buClr>
                <a:srgbClr val="9ab0be"/>
              </a:buClr>
              <a:buFont typeface="Symbol" charset="2"/>
              <a:buChar char=""/>
            </a:pPr>
            <a:r>
              <a:rPr b="0" lang="en-US" sz="1500" spc="-1" strike="noStrike">
                <a:solidFill>
                  <a:srgbClr val="9ab0be"/>
                </a:solidFill>
                <a:latin typeface="Aptos"/>
              </a:rPr>
              <a:t>AUTH — request, success/fail, duration</a:t>
            </a:r>
            <a:endParaRPr b="0" lang="en-US" sz="15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500" spc="-1" strike="noStrike">
                <a:solidFill>
                  <a:srgbClr val="9ab0be"/>
                </a:solidFill>
                <a:latin typeface="Aptos"/>
              </a:rPr>
              <a:t>OTP — send, delivery, verify, stage/journey</a:t>
            </a:r>
            <a:endParaRPr b="0" lang="en-US" sz="15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500" spc="-1" strike="noStrike">
                <a:solidFill>
                  <a:srgbClr val="9ab0be"/>
                </a:solidFill>
                <a:latin typeface="Aptos"/>
              </a:rPr>
              <a:t>TOKEN— request, issue/fail, duration</a:t>
            </a:r>
            <a:endParaRPr b="0" lang="en-US" sz="15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500" spc="-1" strike="noStrike">
                <a:solidFill>
                  <a:srgbClr val="9ab0be"/>
                </a:solidFill>
                <a:latin typeface="Aptos"/>
              </a:rPr>
              <a:t>HTTP — RED signals cho platform</a:t>
            </a:r>
            <a:endParaRPr b="0" lang="en-US" sz="15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500" spc="-1" strike="noStrike">
                <a:solidFill>
                  <a:srgbClr val="9ab0be"/>
                </a:solidFill>
                <a:latin typeface="Aptos"/>
              </a:rPr>
              <a:t>authorization_decisions_* + dependency metrics</a:t>
            </a:r>
            <a:endParaRPr b="0" lang="en-US" sz="1500" spc="-1" strike="noStrike">
              <a:solidFill>
                <a:srgbClr val="ffffff"/>
              </a:solidFill>
              <a:latin typeface="Arial"/>
            </a:endParaRPr>
          </a:p>
        </p:txBody>
      </p:sp>
      <p:sp>
        <p:nvSpPr>
          <p:cNvPr id="192" name="Shape 6"/>
          <p:cNvSpPr/>
          <p:nvPr/>
        </p:nvSpPr>
        <p:spPr>
          <a:xfrm>
            <a:off x="4553640" y="1325880"/>
            <a:ext cx="3245760" cy="45259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93" name="Shape 7"/>
          <p:cNvSpPr/>
          <p:nvPr/>
        </p:nvSpPr>
        <p:spPr>
          <a:xfrm>
            <a:off x="4553640" y="1325880"/>
            <a:ext cx="50040" cy="4525920"/>
          </a:xfrm>
          <a:prstGeom prst="rect">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94" name="Text 8"/>
          <p:cNvSpPr/>
          <p:nvPr/>
        </p:nvSpPr>
        <p:spPr>
          <a:xfrm>
            <a:off x="4754880" y="1490400"/>
            <a:ext cx="288000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Contract rules</a:t>
            </a:r>
            <a:endParaRPr b="0" lang="en-US" sz="1600" spc="-1" strike="noStrike">
              <a:solidFill>
                <a:srgbClr val="ffffff"/>
              </a:solidFill>
              <a:latin typeface="Arial"/>
            </a:endParaRPr>
          </a:p>
        </p:txBody>
      </p:sp>
      <p:sp>
        <p:nvSpPr>
          <p:cNvPr id="195" name="Text 9"/>
          <p:cNvSpPr/>
          <p:nvPr/>
        </p:nvSpPr>
        <p:spPr>
          <a:xfrm>
            <a:off x="4773240" y="1856160"/>
            <a:ext cx="2825280" cy="3867480"/>
          </a:xfrm>
          <a:prstGeom prst="rect">
            <a:avLst/>
          </a:prstGeom>
          <a:noFill/>
          <a:ln w="0">
            <a:noFill/>
          </a:ln>
        </p:spPr>
        <p:style>
          <a:lnRef idx="0"/>
          <a:fillRef idx="0"/>
          <a:effectRef idx="0"/>
          <a:fontRef idx="minor"/>
        </p:style>
        <p:txBody>
          <a:bodyPr lIns="360" rIns="360" tIns="360" bIns="360" anchor="ctr">
            <a:normAutofit/>
          </a:bodyPr>
          <a:p>
            <a:pPr marL="152280" indent="-152280" defTabSz="914400">
              <a:lnSpc>
                <a:spcPct val="100000"/>
              </a:lnSpc>
              <a:buClr>
                <a:srgbClr val="9ab0be"/>
              </a:buClr>
              <a:buFont typeface="Symbol" charset="2"/>
              <a:buChar char=""/>
            </a:pPr>
            <a:r>
              <a:rPr b="0" lang="en-US" sz="1600" spc="-1" strike="noStrike">
                <a:solidFill>
                  <a:srgbClr val="9ab0be"/>
                </a:solidFill>
                <a:latin typeface="Aptos"/>
              </a:rPr>
              <a:t>Counter → rate/increase</a:t>
            </a:r>
            <a:endParaRPr b="0" lang="en-US" sz="16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600" spc="-1" strike="noStrike">
                <a:solidFill>
                  <a:srgbClr val="9ab0be"/>
                </a:solidFill>
                <a:latin typeface="Aptos"/>
              </a:rPr>
              <a:t>Histogram unit = seconds</a:t>
            </a:r>
            <a:endParaRPr b="0" lang="en-US" sz="16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600" spc="-1" strike="noStrike">
                <a:solidFill>
                  <a:srgbClr val="9ab0be"/>
                </a:solidFill>
                <a:latin typeface="Aptos"/>
              </a:rPr>
              <a:t>Numerator ⊂ denominator</a:t>
            </a:r>
            <a:endParaRPr b="0" lang="en-US" sz="16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600" spc="-1" strike="noStrike">
                <a:solidFill>
                  <a:srgbClr val="9ab0be"/>
                </a:solidFill>
                <a:latin typeface="Aptos"/>
              </a:rPr>
              <a:t>Bounded labels: env, cluster, service, operation, result...</a:t>
            </a:r>
            <a:endParaRPr b="0" lang="en-US" sz="16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600" spc="-1" strike="noStrike">
                <a:solidFill>
                  <a:srgbClr val="9ab0be"/>
                </a:solidFill>
                <a:latin typeface="Aptos"/>
              </a:rPr>
              <a:t>Cấm PII, token, OTP, user/request/trace ID làm label</a:t>
            </a:r>
            <a:endParaRPr b="0" lang="en-US" sz="1600" spc="-1" strike="noStrike">
              <a:solidFill>
                <a:srgbClr val="ffffff"/>
              </a:solidFill>
              <a:latin typeface="Arial"/>
            </a:endParaRPr>
          </a:p>
        </p:txBody>
      </p:sp>
      <p:sp>
        <p:nvSpPr>
          <p:cNvPr id="196" name="Shape 10"/>
          <p:cNvSpPr/>
          <p:nvPr/>
        </p:nvSpPr>
        <p:spPr>
          <a:xfrm>
            <a:off x="8001000" y="1325880"/>
            <a:ext cx="3520080" cy="4525920"/>
          </a:xfrm>
          <a:prstGeom prst="roundRect">
            <a:avLst>
              <a:gd name="adj" fmla="val 16667"/>
            </a:avLst>
          </a:prstGeom>
          <a:solidFill>
            <a:srgbClr val="061019"/>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97" name="Text 11"/>
          <p:cNvSpPr/>
          <p:nvPr/>
        </p:nvSpPr>
        <p:spPr>
          <a:xfrm>
            <a:off x="8275320" y="1572840"/>
            <a:ext cx="292572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PromQL examples</a:t>
            </a:r>
            <a:endParaRPr b="0" lang="en-US" sz="1600" spc="-1" strike="noStrike">
              <a:solidFill>
                <a:srgbClr val="ffffff"/>
              </a:solidFill>
              <a:latin typeface="Arial"/>
            </a:endParaRPr>
          </a:p>
        </p:txBody>
      </p:sp>
      <p:sp>
        <p:nvSpPr>
          <p:cNvPr id="198" name="Text 12"/>
          <p:cNvSpPr/>
          <p:nvPr/>
        </p:nvSpPr>
        <p:spPr>
          <a:xfrm>
            <a:off x="8275320" y="2075760"/>
            <a:ext cx="2907360" cy="246852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250" spc="-1" strike="noStrike">
                <a:solidFill>
                  <a:srgbClr val="a9e6de"/>
                </a:solidFill>
                <a:latin typeface="Courier New"/>
                <a:ea typeface="Courier New"/>
              </a:rPr>
              <a:t>vid:kpi_authentication_success:ratio30d * 100</a:t>
            </a:r>
            <a:endParaRPr b="0" lang="en-US" sz="1250" spc="-1" strike="noStrike">
              <a:solidFill>
                <a:srgbClr val="ffffff"/>
              </a:solidFill>
              <a:latin typeface="Arial"/>
            </a:endParaRPr>
          </a:p>
          <a:p>
            <a:pPr defTabSz="914400">
              <a:lnSpc>
                <a:spcPct val="100000"/>
              </a:lnSpc>
              <a:tabLst>
                <a:tab algn="l" pos="0"/>
              </a:tabLst>
            </a:pPr>
            <a:endParaRPr b="0" lang="en-US" sz="1150" spc="-1" strike="noStrike">
              <a:solidFill>
                <a:srgbClr val="ffffff"/>
              </a:solidFill>
              <a:latin typeface="Arial"/>
            </a:endParaRPr>
          </a:p>
          <a:p>
            <a:pPr defTabSz="914400">
              <a:lnSpc>
                <a:spcPct val="100000"/>
              </a:lnSpc>
              <a:tabLst>
                <a:tab algn="l" pos="0"/>
              </a:tabLst>
            </a:pPr>
            <a:r>
              <a:rPr b="0" lang="en-US" sz="1250" spc="-1" strike="noStrike">
                <a:solidFill>
                  <a:srgbClr val="a9e6de"/>
                </a:solidFill>
                <a:latin typeface="Courier New"/>
                <a:ea typeface="Courier New"/>
              </a:rPr>
              <a:t>vid:kpi_otp_delivery_success:ratio5m * 100</a:t>
            </a:r>
            <a:endParaRPr b="0" lang="en-US" sz="1250" spc="-1" strike="noStrike">
              <a:solidFill>
                <a:srgbClr val="ffffff"/>
              </a:solidFill>
              <a:latin typeface="Arial"/>
            </a:endParaRPr>
          </a:p>
          <a:p>
            <a:pPr defTabSz="914400">
              <a:lnSpc>
                <a:spcPct val="100000"/>
              </a:lnSpc>
              <a:tabLst>
                <a:tab algn="l" pos="0"/>
              </a:tabLst>
            </a:pPr>
            <a:endParaRPr b="0" lang="en-US" sz="1150" spc="-1" strike="noStrike">
              <a:solidFill>
                <a:srgbClr val="ffffff"/>
              </a:solidFill>
              <a:latin typeface="Arial"/>
            </a:endParaRPr>
          </a:p>
          <a:p>
            <a:pPr defTabSz="914400">
              <a:lnSpc>
                <a:spcPct val="100000"/>
              </a:lnSpc>
              <a:tabLst>
                <a:tab algn="l" pos="0"/>
              </a:tabLst>
            </a:pPr>
            <a:r>
              <a:rPr b="0" lang="en-US" sz="1250" spc="-1" strike="noStrike">
                <a:solidFill>
                  <a:srgbClr val="a9e6de"/>
                </a:solidFill>
                <a:latin typeface="Courier New"/>
                <a:ea typeface="Courier New"/>
              </a:rPr>
              <a:t>vid:slo_authentication_success:burnrate5m</a:t>
            </a:r>
            <a:endParaRPr b="0" lang="en-US" sz="1250" spc="-1" strike="noStrike">
              <a:solidFill>
                <a:srgbClr val="ffffff"/>
              </a:solidFill>
              <a:latin typeface="Arial"/>
            </a:endParaRPr>
          </a:p>
          <a:p>
            <a:pPr defTabSz="914400">
              <a:lnSpc>
                <a:spcPct val="100000"/>
              </a:lnSpc>
              <a:tabLst>
                <a:tab algn="l" pos="0"/>
              </a:tabLst>
            </a:pPr>
            <a:endParaRPr b="0" lang="en-US" sz="1150" spc="-1" strike="noStrike">
              <a:solidFill>
                <a:srgbClr val="ffffff"/>
              </a:solidFill>
              <a:latin typeface="Arial"/>
            </a:endParaRPr>
          </a:p>
          <a:p>
            <a:pPr defTabSz="914400">
              <a:lnSpc>
                <a:spcPct val="100000"/>
              </a:lnSpc>
              <a:tabLst>
                <a:tab algn="l" pos="0"/>
              </a:tabLst>
            </a:pPr>
            <a:r>
              <a:rPr b="0" lang="en-US" sz="1250" spc="-1" strike="noStrike">
                <a:solidFill>
                  <a:srgbClr val="a9e6de"/>
                </a:solidFill>
                <a:latin typeface="Courier New"/>
                <a:ea typeface="Courier New"/>
              </a:rPr>
              <a:t>histogram_quantile(0.95, …)</a:t>
            </a:r>
            <a:endParaRPr b="0" lang="en-US" sz="1250" spc="-1" strike="noStrike">
              <a:solidFill>
                <a:srgbClr val="ffffff"/>
              </a:solidFill>
              <a:latin typeface="Arial"/>
            </a:endParaRPr>
          </a:p>
        </p:txBody>
      </p:sp>
      <p:sp>
        <p:nvSpPr>
          <p:cNvPr id="199" name="Shape 13"/>
          <p:cNvSpPr/>
          <p:nvPr/>
        </p:nvSpPr>
        <p:spPr>
          <a:xfrm>
            <a:off x="8275320" y="5074920"/>
            <a:ext cx="2559960" cy="310680"/>
          </a:xfrm>
          <a:prstGeom prst="roundRect">
            <a:avLst>
              <a:gd name="adj" fmla="val 17647"/>
            </a:avLst>
          </a:prstGeom>
          <a:solidFill>
            <a:srgbClr val="42b4e6"/>
          </a:solidFill>
          <a:ln w="12700">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00" name="Text 14"/>
          <p:cNvSpPr/>
          <p:nvPr/>
        </p:nvSpPr>
        <p:spPr>
          <a:xfrm>
            <a:off x="8348400" y="5125320"/>
            <a:ext cx="241380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62 RECORDING RULES</a:t>
            </a:r>
            <a:endParaRPr b="0" lang="en-US" sz="1600" spc="-1" strike="noStrike">
              <a:solidFill>
                <a:srgbClr val="ffffff"/>
              </a:solidFill>
              <a:latin typeface="Arial"/>
            </a:endParaRPr>
          </a:p>
        </p:txBody>
      </p:sp>
      <p:sp>
        <p:nvSpPr>
          <p:cNvPr id="201" name="PlaceHolder 1"/>
          <p:cNvSpPr>
            <a:spLocks noGrp="1"/>
          </p:cNvSpPr>
          <p:nvPr>
            <p:ph type="sldNum" idx="9"/>
          </p:nvPr>
        </p:nvSpPr>
        <p:spPr>
          <a:xfrm>
            <a:off x="11777400" y="6473880"/>
            <a:ext cx="414000" cy="299520"/>
          </a:xfrm>
          <a:prstGeom prst="rect">
            <a:avLst/>
          </a:prstGeom>
          <a:noFill/>
          <a:ln w="0">
            <a:noFill/>
          </a:ln>
        </p:spPr>
        <p:txBody>
          <a:bodyPr lIns="88920" rIns="8892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3227693D-48E0-45A6-BDED-0E83B577E80B}" type="slidenum">
              <a:rPr b="0" lang="en-US" sz="800" spc="-1" strike="noStrike">
                <a:solidFill>
                  <a:srgbClr val="678296"/>
                </a:solidFill>
                <a:latin typeface="Aptos"/>
                <a:ea typeface="Aptos"/>
              </a:rPr>
              <a:t>6</a:t>
            </a:fld>
            <a:endParaRPr b="0" lang="en-US" sz="8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Text 0"/>
          <p:cNvSpPr/>
          <p:nvPr/>
        </p:nvSpPr>
        <p:spPr>
          <a:xfrm>
            <a:off x="548640" y="347400"/>
            <a:ext cx="110638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3f8fb"/>
                </a:solidFill>
                <a:latin typeface="Aptos Display"/>
                <a:ea typeface="Aptos Display"/>
              </a:rPr>
              <a:t>06 — Grafana: 8 core dashboards / 83 panels</a:t>
            </a:r>
            <a:endParaRPr b="0" lang="en-US" sz="2800" spc="-1" strike="noStrike">
              <a:solidFill>
                <a:srgbClr val="ffffff"/>
              </a:solidFill>
              <a:latin typeface="Arial"/>
            </a:endParaRPr>
          </a:p>
        </p:txBody>
      </p:sp>
      <p:sp>
        <p:nvSpPr>
          <p:cNvPr id="203" name="Text 1"/>
          <p:cNvSpPr/>
          <p:nvPr/>
        </p:nvSpPr>
        <p:spPr>
          <a:xfrm>
            <a:off x="567000" y="896040"/>
            <a:ext cx="107895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9ab0be"/>
                </a:solidFill>
                <a:latin typeface="Aptos"/>
              </a:rPr>
              <a:t>Dashboard được chia theo user journey và operational question, không chỉ theo từng service.</a:t>
            </a:r>
            <a:endParaRPr b="0" lang="en-US" sz="1500" spc="-1" strike="noStrike">
              <a:solidFill>
                <a:srgbClr val="ffffff"/>
              </a:solidFill>
              <a:latin typeface="Arial"/>
            </a:endParaRPr>
          </a:p>
        </p:txBody>
      </p:sp>
      <p:sp>
        <p:nvSpPr>
          <p:cNvPr id="204" name="Shape 2"/>
          <p:cNvSpPr/>
          <p:nvPr/>
        </p:nvSpPr>
        <p:spPr>
          <a:xfrm>
            <a:off x="685800" y="1371600"/>
            <a:ext cx="3428640" cy="116100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05" name="Text 3"/>
          <p:cNvSpPr/>
          <p:nvPr/>
        </p:nvSpPr>
        <p:spPr>
          <a:xfrm>
            <a:off x="850320" y="1536120"/>
            <a:ext cx="4111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42b4e6"/>
                </a:solidFill>
                <a:latin typeface="Aptos"/>
              </a:rPr>
              <a:t>01</a:t>
            </a:r>
            <a:endParaRPr b="0" lang="en-US" sz="1600" spc="-1" strike="noStrike">
              <a:solidFill>
                <a:srgbClr val="ffffff"/>
              </a:solidFill>
              <a:latin typeface="Arial"/>
            </a:endParaRPr>
          </a:p>
        </p:txBody>
      </p:sp>
      <p:sp>
        <p:nvSpPr>
          <p:cNvPr id="206" name="Text 4"/>
          <p:cNvSpPr/>
          <p:nvPr/>
        </p:nvSpPr>
        <p:spPr>
          <a:xfrm>
            <a:off x="1344240" y="1517760"/>
            <a:ext cx="254160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f3f8fb"/>
                </a:solidFill>
                <a:latin typeface="Aptos"/>
              </a:rPr>
              <a:t>Overview</a:t>
            </a:r>
            <a:endParaRPr b="0" lang="en-US" sz="1600" spc="-1" strike="noStrike">
              <a:solidFill>
                <a:srgbClr val="ffffff"/>
              </a:solidFill>
              <a:latin typeface="Arial"/>
            </a:endParaRPr>
          </a:p>
        </p:txBody>
      </p:sp>
      <p:sp>
        <p:nvSpPr>
          <p:cNvPr id="207" name="Text 5"/>
          <p:cNvSpPr/>
          <p:nvPr/>
        </p:nvSpPr>
        <p:spPr>
          <a:xfrm>
            <a:off x="1344240" y="1911240"/>
            <a:ext cx="2514240" cy="383760"/>
          </a:xfrm>
          <a:prstGeom prst="rect">
            <a:avLst/>
          </a:prstGeom>
          <a:noFill/>
          <a:ln w="0">
            <a:noFill/>
          </a:ln>
        </p:spPr>
        <p:style>
          <a:lnRef idx="0"/>
          <a:fillRef idx="0"/>
          <a:effectRef idx="0"/>
          <a:fontRef idx="minor"/>
        </p:style>
        <p:txBody>
          <a:bodyPr lIns="0" rIns="0" tIns="0" bIns="0" anchor="ctr">
            <a:normAutofit fontScale="87222" lnSpcReduction="10000"/>
          </a:bodyPr>
          <a:p>
            <a:pPr defTabSz="914400">
              <a:lnSpc>
                <a:spcPct val="100000"/>
              </a:lnSpc>
              <a:tabLst>
                <a:tab algn="l" pos="0"/>
              </a:tabLst>
            </a:pPr>
            <a:r>
              <a:rPr b="0" lang="en-US" sz="1600" spc="-1" strike="noStrike">
                <a:solidFill>
                  <a:srgbClr val="9ab0be"/>
                </a:solidFill>
                <a:latin typeface="Aptos"/>
              </a:rPr>
              <a:t>AuthN • OTP • token • platform</a:t>
            </a:r>
            <a:endParaRPr b="0" lang="en-US" sz="1600" spc="-1" strike="noStrike">
              <a:solidFill>
                <a:srgbClr val="ffffff"/>
              </a:solidFill>
              <a:latin typeface="Arial"/>
            </a:endParaRPr>
          </a:p>
        </p:txBody>
      </p:sp>
      <p:sp>
        <p:nvSpPr>
          <p:cNvPr id="208" name="Shape 6"/>
          <p:cNvSpPr/>
          <p:nvPr/>
        </p:nvSpPr>
        <p:spPr>
          <a:xfrm>
            <a:off x="4526280" y="1371600"/>
            <a:ext cx="3428640" cy="116100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09" name="Text 7"/>
          <p:cNvSpPr/>
          <p:nvPr/>
        </p:nvSpPr>
        <p:spPr>
          <a:xfrm>
            <a:off x="4690800" y="1536120"/>
            <a:ext cx="4111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42b4e6"/>
                </a:solidFill>
                <a:latin typeface="Aptos"/>
              </a:rPr>
              <a:t>02</a:t>
            </a:r>
            <a:endParaRPr b="0" lang="en-US" sz="1600" spc="-1" strike="noStrike">
              <a:solidFill>
                <a:srgbClr val="ffffff"/>
              </a:solidFill>
              <a:latin typeface="Arial"/>
            </a:endParaRPr>
          </a:p>
        </p:txBody>
      </p:sp>
      <p:sp>
        <p:nvSpPr>
          <p:cNvPr id="210" name="Text 8"/>
          <p:cNvSpPr/>
          <p:nvPr/>
        </p:nvSpPr>
        <p:spPr>
          <a:xfrm>
            <a:off x="5184720" y="1517760"/>
            <a:ext cx="254160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f3f8fb"/>
                </a:solidFill>
                <a:latin typeface="Aptos"/>
              </a:rPr>
              <a:t>Authentication</a:t>
            </a:r>
            <a:endParaRPr b="0" lang="en-US" sz="1600" spc="-1" strike="noStrike">
              <a:solidFill>
                <a:srgbClr val="ffffff"/>
              </a:solidFill>
              <a:latin typeface="Arial"/>
            </a:endParaRPr>
          </a:p>
        </p:txBody>
      </p:sp>
      <p:sp>
        <p:nvSpPr>
          <p:cNvPr id="211" name="Text 9"/>
          <p:cNvSpPr/>
          <p:nvPr/>
        </p:nvSpPr>
        <p:spPr>
          <a:xfrm>
            <a:off x="5184720" y="1911240"/>
            <a:ext cx="25142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login / verify / latency</a:t>
            </a:r>
            <a:endParaRPr b="0" lang="en-US" sz="1600" spc="-1" strike="noStrike">
              <a:solidFill>
                <a:srgbClr val="ffffff"/>
              </a:solidFill>
              <a:latin typeface="Arial"/>
            </a:endParaRPr>
          </a:p>
        </p:txBody>
      </p:sp>
      <p:sp>
        <p:nvSpPr>
          <p:cNvPr id="212" name="Shape 10"/>
          <p:cNvSpPr/>
          <p:nvPr/>
        </p:nvSpPr>
        <p:spPr>
          <a:xfrm>
            <a:off x="8366760" y="1371600"/>
            <a:ext cx="3428640" cy="116100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13" name="Text 11"/>
          <p:cNvSpPr/>
          <p:nvPr/>
        </p:nvSpPr>
        <p:spPr>
          <a:xfrm>
            <a:off x="8531280" y="1536120"/>
            <a:ext cx="4111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42b4e6"/>
                </a:solidFill>
                <a:latin typeface="Aptos"/>
              </a:rPr>
              <a:t>03</a:t>
            </a:r>
            <a:endParaRPr b="0" lang="en-US" sz="1600" spc="-1" strike="noStrike">
              <a:solidFill>
                <a:srgbClr val="ffffff"/>
              </a:solidFill>
              <a:latin typeface="Arial"/>
            </a:endParaRPr>
          </a:p>
        </p:txBody>
      </p:sp>
      <p:sp>
        <p:nvSpPr>
          <p:cNvPr id="214" name="Text 12"/>
          <p:cNvSpPr/>
          <p:nvPr/>
        </p:nvSpPr>
        <p:spPr>
          <a:xfrm>
            <a:off x="9025200" y="1517760"/>
            <a:ext cx="254160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f3f8fb"/>
                </a:solidFill>
                <a:latin typeface="Aptos"/>
              </a:rPr>
              <a:t>MFA &amp; OTP</a:t>
            </a:r>
            <a:endParaRPr b="0" lang="en-US" sz="1600" spc="-1" strike="noStrike">
              <a:solidFill>
                <a:srgbClr val="ffffff"/>
              </a:solidFill>
              <a:latin typeface="Arial"/>
            </a:endParaRPr>
          </a:p>
        </p:txBody>
      </p:sp>
      <p:sp>
        <p:nvSpPr>
          <p:cNvPr id="215" name="Text 13"/>
          <p:cNvSpPr/>
          <p:nvPr/>
        </p:nvSpPr>
        <p:spPr>
          <a:xfrm>
            <a:off x="9025200" y="1911240"/>
            <a:ext cx="25142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send • delivery • verify</a:t>
            </a:r>
            <a:endParaRPr b="0" lang="en-US" sz="1600" spc="-1" strike="noStrike">
              <a:solidFill>
                <a:srgbClr val="ffffff"/>
              </a:solidFill>
              <a:latin typeface="Arial"/>
            </a:endParaRPr>
          </a:p>
        </p:txBody>
      </p:sp>
      <p:sp>
        <p:nvSpPr>
          <p:cNvPr id="216" name="Shape 14"/>
          <p:cNvSpPr/>
          <p:nvPr/>
        </p:nvSpPr>
        <p:spPr>
          <a:xfrm>
            <a:off x="685800" y="2880360"/>
            <a:ext cx="3428640" cy="116100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17" name="Text 15"/>
          <p:cNvSpPr/>
          <p:nvPr/>
        </p:nvSpPr>
        <p:spPr>
          <a:xfrm>
            <a:off x="850320" y="3044880"/>
            <a:ext cx="4111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42b4e6"/>
                </a:solidFill>
                <a:latin typeface="Aptos"/>
              </a:rPr>
              <a:t>04</a:t>
            </a:r>
            <a:endParaRPr b="0" lang="en-US" sz="1600" spc="-1" strike="noStrike">
              <a:solidFill>
                <a:srgbClr val="ffffff"/>
              </a:solidFill>
              <a:latin typeface="Arial"/>
            </a:endParaRPr>
          </a:p>
        </p:txBody>
      </p:sp>
      <p:sp>
        <p:nvSpPr>
          <p:cNvPr id="218" name="Text 16"/>
          <p:cNvSpPr/>
          <p:nvPr/>
        </p:nvSpPr>
        <p:spPr>
          <a:xfrm>
            <a:off x="1344240" y="3026520"/>
            <a:ext cx="254160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f3f8fb"/>
                </a:solidFill>
                <a:latin typeface="Aptos"/>
              </a:rPr>
              <a:t>OTP Journey</a:t>
            </a:r>
            <a:endParaRPr b="0" lang="en-US" sz="1600" spc="-1" strike="noStrike">
              <a:solidFill>
                <a:srgbClr val="ffffff"/>
              </a:solidFill>
              <a:latin typeface="Arial"/>
            </a:endParaRPr>
          </a:p>
        </p:txBody>
      </p:sp>
      <p:sp>
        <p:nvSpPr>
          <p:cNvPr id="219" name="Text 17"/>
          <p:cNvSpPr/>
          <p:nvPr/>
        </p:nvSpPr>
        <p:spPr>
          <a:xfrm>
            <a:off x="1344240" y="3420000"/>
            <a:ext cx="2514240" cy="383760"/>
          </a:xfrm>
          <a:prstGeom prst="rect">
            <a:avLst/>
          </a:prstGeom>
          <a:noFill/>
          <a:ln w="0">
            <a:noFill/>
          </a:ln>
        </p:spPr>
        <p:style>
          <a:lnRef idx="0"/>
          <a:fillRef idx="0"/>
          <a:effectRef idx="0"/>
          <a:fontRef idx="minor"/>
        </p:style>
        <p:txBody>
          <a:bodyPr lIns="0" rIns="0" tIns="0" bIns="0" anchor="ctr">
            <a:normAutofit fontScale="93333" lnSpcReduction="20000"/>
          </a:bodyPr>
          <a:p>
            <a:pPr defTabSz="914400">
              <a:lnSpc>
                <a:spcPct val="100000"/>
              </a:lnSpc>
              <a:tabLst>
                <a:tab algn="l" pos="0"/>
              </a:tabLst>
            </a:pPr>
            <a:r>
              <a:rPr b="0" lang="en-US" sz="1600" spc="-1" strike="noStrike">
                <a:solidFill>
                  <a:srgbClr val="9ab0be"/>
                </a:solidFill>
                <a:latin typeface="Aptos"/>
              </a:rPr>
              <a:t>stage bottleneck + exemplar</a:t>
            </a:r>
            <a:endParaRPr b="0" lang="en-US" sz="1600" spc="-1" strike="noStrike">
              <a:solidFill>
                <a:srgbClr val="ffffff"/>
              </a:solidFill>
              <a:latin typeface="Arial"/>
            </a:endParaRPr>
          </a:p>
        </p:txBody>
      </p:sp>
      <p:sp>
        <p:nvSpPr>
          <p:cNvPr id="220" name="Shape 18"/>
          <p:cNvSpPr/>
          <p:nvPr/>
        </p:nvSpPr>
        <p:spPr>
          <a:xfrm>
            <a:off x="4526280" y="2880360"/>
            <a:ext cx="3428640" cy="116100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21" name="Text 19"/>
          <p:cNvSpPr/>
          <p:nvPr/>
        </p:nvSpPr>
        <p:spPr>
          <a:xfrm>
            <a:off x="4690800" y="3044880"/>
            <a:ext cx="4111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42b4e6"/>
                </a:solidFill>
                <a:latin typeface="Aptos"/>
              </a:rPr>
              <a:t>05</a:t>
            </a:r>
            <a:endParaRPr b="0" lang="en-US" sz="1600" spc="-1" strike="noStrike">
              <a:solidFill>
                <a:srgbClr val="ffffff"/>
              </a:solidFill>
              <a:latin typeface="Arial"/>
            </a:endParaRPr>
          </a:p>
        </p:txBody>
      </p:sp>
      <p:sp>
        <p:nvSpPr>
          <p:cNvPr id="222" name="Text 20"/>
          <p:cNvSpPr/>
          <p:nvPr/>
        </p:nvSpPr>
        <p:spPr>
          <a:xfrm>
            <a:off x="5184720" y="3026520"/>
            <a:ext cx="254160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f3f8fb"/>
                </a:solidFill>
                <a:latin typeface="Aptos"/>
              </a:rPr>
              <a:t>Token Lifecycle</a:t>
            </a:r>
            <a:endParaRPr b="0" lang="en-US" sz="1600" spc="-1" strike="noStrike">
              <a:solidFill>
                <a:srgbClr val="ffffff"/>
              </a:solidFill>
              <a:latin typeface="Arial"/>
            </a:endParaRPr>
          </a:p>
        </p:txBody>
      </p:sp>
      <p:sp>
        <p:nvSpPr>
          <p:cNvPr id="223" name="Text 21"/>
          <p:cNvSpPr/>
          <p:nvPr/>
        </p:nvSpPr>
        <p:spPr>
          <a:xfrm>
            <a:off x="5184720" y="3420000"/>
            <a:ext cx="25142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issuer / grant / success</a:t>
            </a:r>
            <a:endParaRPr b="0" lang="en-US" sz="1600" spc="-1" strike="noStrike">
              <a:solidFill>
                <a:srgbClr val="ffffff"/>
              </a:solidFill>
              <a:latin typeface="Arial"/>
            </a:endParaRPr>
          </a:p>
        </p:txBody>
      </p:sp>
      <p:sp>
        <p:nvSpPr>
          <p:cNvPr id="224" name="Shape 22"/>
          <p:cNvSpPr/>
          <p:nvPr/>
        </p:nvSpPr>
        <p:spPr>
          <a:xfrm>
            <a:off x="8366760" y="2880360"/>
            <a:ext cx="3428640" cy="116100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25" name="Text 23"/>
          <p:cNvSpPr/>
          <p:nvPr/>
        </p:nvSpPr>
        <p:spPr>
          <a:xfrm>
            <a:off x="8531280" y="3044880"/>
            <a:ext cx="4111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42b4e6"/>
                </a:solidFill>
                <a:latin typeface="Aptos"/>
              </a:rPr>
              <a:t>06</a:t>
            </a:r>
            <a:endParaRPr b="0" lang="en-US" sz="1600" spc="-1" strike="noStrike">
              <a:solidFill>
                <a:srgbClr val="ffffff"/>
              </a:solidFill>
              <a:latin typeface="Arial"/>
            </a:endParaRPr>
          </a:p>
        </p:txBody>
      </p:sp>
      <p:sp>
        <p:nvSpPr>
          <p:cNvPr id="226" name="Text 24"/>
          <p:cNvSpPr/>
          <p:nvPr/>
        </p:nvSpPr>
        <p:spPr>
          <a:xfrm>
            <a:off x="9025200" y="3026520"/>
            <a:ext cx="254160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f3f8fb"/>
                </a:solidFill>
                <a:latin typeface="Aptos"/>
              </a:rPr>
              <a:t>Authorization</a:t>
            </a:r>
            <a:endParaRPr b="0" lang="en-US" sz="1600" spc="-1" strike="noStrike">
              <a:solidFill>
                <a:srgbClr val="ffffff"/>
              </a:solidFill>
              <a:latin typeface="Arial"/>
            </a:endParaRPr>
          </a:p>
        </p:txBody>
      </p:sp>
      <p:sp>
        <p:nvSpPr>
          <p:cNvPr id="227" name="Text 25"/>
          <p:cNvSpPr/>
          <p:nvPr/>
        </p:nvSpPr>
        <p:spPr>
          <a:xfrm>
            <a:off x="9025200" y="3420000"/>
            <a:ext cx="25142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decision / denial / errors</a:t>
            </a:r>
            <a:endParaRPr b="0" lang="en-US" sz="1600" spc="-1" strike="noStrike">
              <a:solidFill>
                <a:srgbClr val="ffffff"/>
              </a:solidFill>
              <a:latin typeface="Arial"/>
            </a:endParaRPr>
          </a:p>
        </p:txBody>
      </p:sp>
      <p:sp>
        <p:nvSpPr>
          <p:cNvPr id="228" name="Shape 26"/>
          <p:cNvSpPr/>
          <p:nvPr/>
        </p:nvSpPr>
        <p:spPr>
          <a:xfrm>
            <a:off x="685800" y="4389120"/>
            <a:ext cx="3428640" cy="116100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29" name="Text 27"/>
          <p:cNvSpPr/>
          <p:nvPr/>
        </p:nvSpPr>
        <p:spPr>
          <a:xfrm>
            <a:off x="850320" y="4553640"/>
            <a:ext cx="4111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42b4e6"/>
                </a:solidFill>
                <a:latin typeface="Aptos"/>
              </a:rPr>
              <a:t>07</a:t>
            </a:r>
            <a:endParaRPr b="0" lang="en-US" sz="1600" spc="-1" strike="noStrike">
              <a:solidFill>
                <a:srgbClr val="ffffff"/>
              </a:solidFill>
              <a:latin typeface="Arial"/>
            </a:endParaRPr>
          </a:p>
        </p:txBody>
      </p:sp>
      <p:sp>
        <p:nvSpPr>
          <p:cNvPr id="230" name="Text 28"/>
          <p:cNvSpPr/>
          <p:nvPr/>
        </p:nvSpPr>
        <p:spPr>
          <a:xfrm>
            <a:off x="1344240" y="4535280"/>
            <a:ext cx="2541600" cy="273960"/>
          </a:xfrm>
          <a:prstGeom prst="rect">
            <a:avLst/>
          </a:prstGeom>
          <a:noFill/>
          <a:ln w="0">
            <a:noFill/>
          </a:ln>
        </p:spPr>
        <p:style>
          <a:lnRef idx="0"/>
          <a:fillRef idx="0"/>
          <a:effectRef idx="0"/>
          <a:fontRef idx="minor"/>
        </p:style>
        <p:txBody>
          <a:bodyPr lIns="0" rIns="0" tIns="0" bIns="0" anchor="ctr">
            <a:normAutofit fontScale="93333"/>
          </a:bodyPr>
          <a:p>
            <a:pPr defTabSz="914400">
              <a:lnSpc>
                <a:spcPct val="100000"/>
              </a:lnSpc>
              <a:tabLst>
                <a:tab algn="l" pos="0"/>
              </a:tabLst>
            </a:pPr>
            <a:r>
              <a:rPr b="1" lang="en-US" sz="1600" spc="-1" strike="noStrike">
                <a:solidFill>
                  <a:srgbClr val="f3f8fb"/>
                </a:solidFill>
                <a:latin typeface="Aptos"/>
              </a:rPr>
              <a:t>Platform &amp; Dependencies</a:t>
            </a:r>
            <a:endParaRPr b="0" lang="en-US" sz="1600" spc="-1" strike="noStrike">
              <a:solidFill>
                <a:srgbClr val="ffffff"/>
              </a:solidFill>
              <a:latin typeface="Arial"/>
            </a:endParaRPr>
          </a:p>
        </p:txBody>
      </p:sp>
      <p:sp>
        <p:nvSpPr>
          <p:cNvPr id="231" name="Text 29"/>
          <p:cNvSpPr/>
          <p:nvPr/>
        </p:nvSpPr>
        <p:spPr>
          <a:xfrm>
            <a:off x="1344240" y="4928760"/>
            <a:ext cx="25142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HTTP + infra/dependency</a:t>
            </a:r>
            <a:endParaRPr b="0" lang="en-US" sz="1600" spc="-1" strike="noStrike">
              <a:solidFill>
                <a:srgbClr val="ffffff"/>
              </a:solidFill>
              <a:latin typeface="Arial"/>
            </a:endParaRPr>
          </a:p>
        </p:txBody>
      </p:sp>
      <p:sp>
        <p:nvSpPr>
          <p:cNvPr id="232" name="Shape 30"/>
          <p:cNvSpPr/>
          <p:nvPr/>
        </p:nvSpPr>
        <p:spPr>
          <a:xfrm>
            <a:off x="4526280" y="4389120"/>
            <a:ext cx="3428640" cy="116100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33" name="Text 31"/>
          <p:cNvSpPr/>
          <p:nvPr/>
        </p:nvSpPr>
        <p:spPr>
          <a:xfrm>
            <a:off x="4690800" y="4553640"/>
            <a:ext cx="4111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42b4e6"/>
                </a:solidFill>
                <a:latin typeface="Aptos"/>
              </a:rPr>
              <a:t>08</a:t>
            </a:r>
            <a:endParaRPr b="0" lang="en-US" sz="1600" spc="-1" strike="noStrike">
              <a:solidFill>
                <a:srgbClr val="ffffff"/>
              </a:solidFill>
              <a:latin typeface="Arial"/>
            </a:endParaRPr>
          </a:p>
        </p:txBody>
      </p:sp>
      <p:sp>
        <p:nvSpPr>
          <p:cNvPr id="234" name="Text 32"/>
          <p:cNvSpPr/>
          <p:nvPr/>
        </p:nvSpPr>
        <p:spPr>
          <a:xfrm>
            <a:off x="5184720" y="4535280"/>
            <a:ext cx="254160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f3f8fb"/>
                </a:solidFill>
                <a:latin typeface="Aptos"/>
              </a:rPr>
              <a:t>SLO &amp; Incidents</a:t>
            </a:r>
            <a:endParaRPr b="0" lang="en-US" sz="1600" spc="-1" strike="noStrike">
              <a:solidFill>
                <a:srgbClr val="ffffff"/>
              </a:solidFill>
              <a:latin typeface="Arial"/>
            </a:endParaRPr>
          </a:p>
        </p:txBody>
      </p:sp>
      <p:sp>
        <p:nvSpPr>
          <p:cNvPr id="235" name="Text 33"/>
          <p:cNvSpPr/>
          <p:nvPr/>
        </p:nvSpPr>
        <p:spPr>
          <a:xfrm>
            <a:off x="5184720" y="4928760"/>
            <a:ext cx="25142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error budget + burn rate</a:t>
            </a:r>
            <a:endParaRPr b="0" lang="en-US" sz="1600" spc="-1" strike="noStrike">
              <a:solidFill>
                <a:srgbClr val="ffffff"/>
              </a:solidFill>
              <a:latin typeface="Arial"/>
            </a:endParaRPr>
          </a:p>
        </p:txBody>
      </p:sp>
      <p:sp>
        <p:nvSpPr>
          <p:cNvPr id="236" name="Shape 34"/>
          <p:cNvSpPr/>
          <p:nvPr/>
        </p:nvSpPr>
        <p:spPr>
          <a:xfrm>
            <a:off x="8366760" y="4389120"/>
            <a:ext cx="3428640" cy="116100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37" name="Text 35"/>
          <p:cNvSpPr/>
          <p:nvPr/>
        </p:nvSpPr>
        <p:spPr>
          <a:xfrm>
            <a:off x="8531280" y="4553640"/>
            <a:ext cx="4111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42b4e6"/>
                </a:solidFill>
                <a:latin typeface="Aptos"/>
              </a:rPr>
              <a:t>09</a:t>
            </a:r>
            <a:endParaRPr b="0" lang="en-US" sz="1600" spc="-1" strike="noStrike">
              <a:solidFill>
                <a:srgbClr val="ffffff"/>
              </a:solidFill>
              <a:latin typeface="Arial"/>
            </a:endParaRPr>
          </a:p>
        </p:txBody>
      </p:sp>
      <p:sp>
        <p:nvSpPr>
          <p:cNvPr id="238" name="Text 36"/>
          <p:cNvSpPr/>
          <p:nvPr/>
        </p:nvSpPr>
        <p:spPr>
          <a:xfrm>
            <a:off x="9025200" y="4535280"/>
            <a:ext cx="2541600" cy="273960"/>
          </a:xfrm>
          <a:prstGeom prst="rect">
            <a:avLst/>
          </a:prstGeom>
          <a:noFill/>
          <a:ln w="0">
            <a:noFill/>
          </a:ln>
        </p:spPr>
        <p:style>
          <a:lnRef idx="0"/>
          <a:fillRef idx="0"/>
          <a:effectRef idx="0"/>
          <a:fontRef idx="minor"/>
        </p:style>
        <p:txBody>
          <a:bodyPr lIns="0" rIns="0" tIns="0" bIns="0" anchor="ctr">
            <a:normAutofit fontScale="81111"/>
          </a:bodyPr>
          <a:p>
            <a:pPr defTabSz="914400">
              <a:lnSpc>
                <a:spcPct val="100000"/>
              </a:lnSpc>
              <a:tabLst>
                <a:tab algn="l" pos="0"/>
              </a:tabLst>
            </a:pPr>
            <a:r>
              <a:rPr b="1" lang="en-US" sz="1600" spc="-1" strike="noStrike">
                <a:solidFill>
                  <a:srgbClr val="f3f8fb"/>
                </a:solidFill>
                <a:latin typeface="Aptos"/>
              </a:rPr>
              <a:t>Platform deep-dive Requests</a:t>
            </a:r>
            <a:endParaRPr b="0" lang="en-US" sz="1600" spc="-1" strike="noStrike">
              <a:solidFill>
                <a:srgbClr val="ffffff"/>
              </a:solidFill>
              <a:latin typeface="Arial"/>
            </a:endParaRPr>
          </a:p>
        </p:txBody>
      </p:sp>
      <p:sp>
        <p:nvSpPr>
          <p:cNvPr id="239" name="Text 37"/>
          <p:cNvSpPr/>
          <p:nvPr/>
        </p:nvSpPr>
        <p:spPr>
          <a:xfrm>
            <a:off x="9025200" y="4928760"/>
            <a:ext cx="25142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RED theo destination/hop</a:t>
            </a:r>
            <a:endParaRPr b="0" lang="en-US" sz="1600" spc="-1" strike="noStrike">
              <a:solidFill>
                <a:srgbClr val="ffffff"/>
              </a:solidFill>
              <a:latin typeface="Arial"/>
            </a:endParaRPr>
          </a:p>
        </p:txBody>
      </p:sp>
      <p:sp>
        <p:nvSpPr>
          <p:cNvPr id="240" name="Text 38"/>
          <p:cNvSpPr/>
          <p:nvPr/>
        </p:nvSpPr>
        <p:spPr>
          <a:xfrm>
            <a:off x="777240" y="5970960"/>
            <a:ext cx="1069812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400" spc="-1" strike="noStrike">
                <a:solidFill>
                  <a:srgbClr val="678296"/>
                </a:solidFill>
                <a:latin typeface="Aptos"/>
              </a:rPr>
              <a:t>Dashboard variables mặc định hỗ trợ environment/cluster và các bounded dimensions; stable datasource UID giúp promote giữa environment.</a:t>
            </a:r>
            <a:endParaRPr b="0" lang="en-US" sz="1400" spc="-1" strike="noStrike">
              <a:solidFill>
                <a:srgbClr val="ffffff"/>
              </a:solidFill>
              <a:latin typeface="Arial"/>
            </a:endParaRPr>
          </a:p>
        </p:txBody>
      </p:sp>
      <p:sp>
        <p:nvSpPr>
          <p:cNvPr id="241" name="PlaceHolder 1"/>
          <p:cNvSpPr>
            <a:spLocks noGrp="1"/>
          </p:cNvSpPr>
          <p:nvPr>
            <p:ph type="sldNum" idx="10"/>
          </p:nvPr>
        </p:nvSpPr>
        <p:spPr>
          <a:xfrm>
            <a:off x="11777400" y="6473880"/>
            <a:ext cx="414000" cy="299520"/>
          </a:xfrm>
          <a:prstGeom prst="rect">
            <a:avLst/>
          </a:prstGeom>
          <a:noFill/>
          <a:ln w="0">
            <a:noFill/>
          </a:ln>
        </p:spPr>
        <p:txBody>
          <a:bodyPr lIns="88920" rIns="8892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47FE8410-BE1A-47A8-A471-76A48FCD6203}" type="slidenum">
              <a:rPr b="0" lang="en-US" sz="800" spc="-1" strike="noStrike">
                <a:solidFill>
                  <a:srgbClr val="678296"/>
                </a:solidFill>
                <a:latin typeface="Aptos"/>
                <a:ea typeface="Aptos"/>
              </a:rPr>
              <a:t>7</a:t>
            </a:fld>
            <a:endParaRPr b="0" lang="en-US" sz="8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Text 0"/>
          <p:cNvSpPr/>
          <p:nvPr/>
        </p:nvSpPr>
        <p:spPr>
          <a:xfrm>
            <a:off x="548640" y="347400"/>
            <a:ext cx="110638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3f8fb"/>
                </a:solidFill>
                <a:latin typeface="Aptos Display"/>
                <a:ea typeface="Aptos Display"/>
              </a:rPr>
              <a:t>07 — OTP Journey Monitoring</a:t>
            </a:r>
            <a:endParaRPr b="0" lang="en-US" sz="2800" spc="-1" strike="noStrike">
              <a:solidFill>
                <a:srgbClr val="ffffff"/>
              </a:solidFill>
              <a:latin typeface="Arial"/>
            </a:endParaRPr>
          </a:p>
        </p:txBody>
      </p:sp>
      <p:sp>
        <p:nvSpPr>
          <p:cNvPr id="243" name="Text 1"/>
          <p:cNvSpPr/>
          <p:nvPr/>
        </p:nvSpPr>
        <p:spPr>
          <a:xfrm>
            <a:off x="567000" y="896040"/>
            <a:ext cx="107895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9ab0be"/>
                </a:solidFill>
                <a:latin typeface="Aptos"/>
              </a:rPr>
              <a:t>Điểm khác biệt của project: không chỉ đo “OTP chậm”, mà chỉ ra stage nào đang gây chậm.</a:t>
            </a:r>
            <a:endParaRPr b="0" lang="en-US" sz="1500" spc="-1" strike="noStrike">
              <a:solidFill>
                <a:srgbClr val="ffffff"/>
              </a:solidFill>
              <a:latin typeface="Arial"/>
            </a:endParaRPr>
          </a:p>
        </p:txBody>
      </p:sp>
      <p:sp>
        <p:nvSpPr>
          <p:cNvPr id="244" name="Shape 2"/>
          <p:cNvSpPr/>
          <p:nvPr/>
        </p:nvSpPr>
        <p:spPr>
          <a:xfrm>
            <a:off x="502920" y="1874520"/>
            <a:ext cx="1343880" cy="895680"/>
          </a:xfrm>
          <a:prstGeom prst="roundRect">
            <a:avLst>
              <a:gd name="adj" fmla="val 16667"/>
            </a:avLst>
          </a:prstGeom>
          <a:solidFill>
            <a:srgbClr val="102636"/>
          </a:solidFill>
          <a:ln w="15875">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45" name="Text 3"/>
          <p:cNvSpPr/>
          <p:nvPr/>
        </p:nvSpPr>
        <p:spPr>
          <a:xfrm>
            <a:off x="594360" y="1993320"/>
            <a:ext cx="11610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Edge</a:t>
            </a:r>
            <a:endParaRPr b="0" lang="en-US" sz="1600" spc="-1" strike="noStrike">
              <a:solidFill>
                <a:srgbClr val="ffffff"/>
              </a:solidFill>
              <a:latin typeface="Arial"/>
            </a:endParaRPr>
          </a:p>
        </p:txBody>
      </p:sp>
      <p:sp>
        <p:nvSpPr>
          <p:cNvPr id="246" name="Text 4"/>
          <p:cNvSpPr/>
          <p:nvPr/>
        </p:nvSpPr>
        <p:spPr>
          <a:xfrm>
            <a:off x="594360" y="2240280"/>
            <a:ext cx="1161000" cy="475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600" spc="-1" strike="noStrike">
                <a:solidFill>
                  <a:srgbClr val="9ab0be"/>
                </a:solidFill>
                <a:latin typeface="Aptos"/>
              </a:rPr>
              <a:t>Kong</a:t>
            </a:r>
            <a:endParaRPr b="0" lang="en-US" sz="1600" spc="-1" strike="noStrike">
              <a:solidFill>
                <a:srgbClr val="ffffff"/>
              </a:solidFill>
              <a:latin typeface="Arial"/>
            </a:endParaRPr>
          </a:p>
        </p:txBody>
      </p:sp>
      <p:sp>
        <p:nvSpPr>
          <p:cNvPr id="247" name="Shape 5"/>
          <p:cNvSpPr/>
          <p:nvPr/>
        </p:nvSpPr>
        <p:spPr>
          <a:xfrm>
            <a:off x="1846800" y="2322360"/>
            <a:ext cx="256320" cy="360"/>
          </a:xfrm>
          <a:prstGeom prst="line">
            <a:avLst/>
          </a:prstGeom>
          <a:ln w="21590">
            <a:solidFill>
              <a:srgbClr val="678296"/>
            </a:solidFill>
            <a:round/>
            <a:tailEnd len="med" type="triangle" w="med"/>
          </a:ln>
        </p:spPr>
        <p:style>
          <a:lnRef idx="0"/>
          <a:fillRef idx="0"/>
          <a:effectRef idx="0"/>
          <a:fontRef idx="minor"/>
        </p:style>
        <p:txBody>
          <a:bodyPr lIns="88920" rIns="88920" tIns="-44640" bIns="-44640" anchor="t">
            <a:noAutofit/>
          </a:bodyPr>
          <a:p>
            <a:endParaRPr b="0" lang="en-US" sz="1800" spc="-1" strike="noStrike">
              <a:solidFill>
                <a:schemeClr val="dk1"/>
              </a:solidFill>
              <a:latin typeface="Aptos"/>
            </a:endParaRPr>
          </a:p>
        </p:txBody>
      </p:sp>
      <p:sp>
        <p:nvSpPr>
          <p:cNvPr id="248" name="Shape 6"/>
          <p:cNvSpPr/>
          <p:nvPr/>
        </p:nvSpPr>
        <p:spPr>
          <a:xfrm>
            <a:off x="2130480" y="1874520"/>
            <a:ext cx="1343880" cy="895680"/>
          </a:xfrm>
          <a:prstGeom prst="roundRect">
            <a:avLst>
              <a:gd name="adj" fmla="val 16667"/>
            </a:avLst>
          </a:prstGeom>
          <a:solidFill>
            <a:srgbClr val="102636"/>
          </a:solidFill>
          <a:ln w="15875">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49" name="Text 7"/>
          <p:cNvSpPr/>
          <p:nvPr/>
        </p:nvSpPr>
        <p:spPr>
          <a:xfrm>
            <a:off x="2221920" y="1993320"/>
            <a:ext cx="11610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Kong</a:t>
            </a:r>
            <a:endParaRPr b="0" lang="en-US" sz="1600" spc="-1" strike="noStrike">
              <a:solidFill>
                <a:srgbClr val="ffffff"/>
              </a:solidFill>
              <a:latin typeface="Arial"/>
            </a:endParaRPr>
          </a:p>
        </p:txBody>
      </p:sp>
      <p:sp>
        <p:nvSpPr>
          <p:cNvPr id="250" name="Text 8"/>
          <p:cNvSpPr/>
          <p:nvPr/>
        </p:nvSpPr>
        <p:spPr>
          <a:xfrm>
            <a:off x="2221920" y="2240280"/>
            <a:ext cx="1161000" cy="475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600" spc="-1" strike="noStrike">
                <a:solidFill>
                  <a:srgbClr val="9ab0be"/>
                </a:solidFill>
                <a:latin typeface="Aptos"/>
              </a:rPr>
              <a:t>IdP</a:t>
            </a:r>
            <a:endParaRPr b="0" lang="en-US" sz="1600" spc="-1" strike="noStrike">
              <a:solidFill>
                <a:srgbClr val="ffffff"/>
              </a:solidFill>
              <a:latin typeface="Arial"/>
            </a:endParaRPr>
          </a:p>
        </p:txBody>
      </p:sp>
      <p:sp>
        <p:nvSpPr>
          <p:cNvPr id="251" name="Shape 9"/>
          <p:cNvSpPr/>
          <p:nvPr/>
        </p:nvSpPr>
        <p:spPr>
          <a:xfrm>
            <a:off x="3474720" y="2322360"/>
            <a:ext cx="255960" cy="360"/>
          </a:xfrm>
          <a:prstGeom prst="line">
            <a:avLst/>
          </a:prstGeom>
          <a:ln w="21590">
            <a:solidFill>
              <a:srgbClr val="678296"/>
            </a:solidFill>
            <a:round/>
            <a:tailEnd len="med" type="triangle" w="med"/>
          </a:ln>
        </p:spPr>
        <p:style>
          <a:lnRef idx="0"/>
          <a:fillRef idx="0"/>
          <a:effectRef idx="0"/>
          <a:fontRef idx="minor"/>
        </p:style>
        <p:txBody>
          <a:bodyPr lIns="88920" rIns="88920" tIns="-44640" bIns="-44640" anchor="t">
            <a:noAutofit/>
          </a:bodyPr>
          <a:p>
            <a:endParaRPr b="0" lang="en-US" sz="1800" spc="-1" strike="noStrike">
              <a:solidFill>
                <a:schemeClr val="dk1"/>
              </a:solidFill>
              <a:latin typeface="Aptos"/>
            </a:endParaRPr>
          </a:p>
        </p:txBody>
      </p:sp>
      <p:sp>
        <p:nvSpPr>
          <p:cNvPr id="252" name="Shape 10"/>
          <p:cNvSpPr/>
          <p:nvPr/>
        </p:nvSpPr>
        <p:spPr>
          <a:xfrm>
            <a:off x="3758040" y="1874520"/>
            <a:ext cx="1343880" cy="895680"/>
          </a:xfrm>
          <a:prstGeom prst="roundRect">
            <a:avLst>
              <a:gd name="adj" fmla="val 16667"/>
            </a:avLst>
          </a:prstGeom>
          <a:solidFill>
            <a:srgbClr val="102636"/>
          </a:solidFill>
          <a:ln w="15875">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53" name="Text 11"/>
          <p:cNvSpPr/>
          <p:nvPr/>
        </p:nvSpPr>
        <p:spPr>
          <a:xfrm>
            <a:off x="3849480" y="1993320"/>
            <a:ext cx="11610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Redis</a:t>
            </a:r>
            <a:endParaRPr b="0" lang="en-US" sz="1600" spc="-1" strike="noStrike">
              <a:solidFill>
                <a:srgbClr val="ffffff"/>
              </a:solidFill>
              <a:latin typeface="Arial"/>
            </a:endParaRPr>
          </a:p>
        </p:txBody>
      </p:sp>
      <p:sp>
        <p:nvSpPr>
          <p:cNvPr id="254" name="Text 12"/>
          <p:cNvSpPr/>
          <p:nvPr/>
        </p:nvSpPr>
        <p:spPr>
          <a:xfrm>
            <a:off x="3849480" y="2240280"/>
            <a:ext cx="1161000" cy="475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600" spc="-1" strike="noStrike">
                <a:solidFill>
                  <a:srgbClr val="9ab0be"/>
                </a:solidFill>
                <a:latin typeface="Aptos"/>
              </a:rPr>
              <a:t>challenge</a:t>
            </a:r>
            <a:endParaRPr b="0" lang="en-US" sz="1600" spc="-1" strike="noStrike">
              <a:solidFill>
                <a:srgbClr val="ffffff"/>
              </a:solidFill>
              <a:latin typeface="Arial"/>
            </a:endParaRPr>
          </a:p>
        </p:txBody>
      </p:sp>
      <p:sp>
        <p:nvSpPr>
          <p:cNvPr id="255" name="Shape 13"/>
          <p:cNvSpPr/>
          <p:nvPr/>
        </p:nvSpPr>
        <p:spPr>
          <a:xfrm>
            <a:off x="5102280" y="2322360"/>
            <a:ext cx="255960" cy="360"/>
          </a:xfrm>
          <a:prstGeom prst="line">
            <a:avLst/>
          </a:prstGeom>
          <a:ln w="21590">
            <a:solidFill>
              <a:srgbClr val="678296"/>
            </a:solidFill>
            <a:round/>
            <a:tailEnd len="med" type="triangle" w="med"/>
          </a:ln>
        </p:spPr>
        <p:style>
          <a:lnRef idx="0"/>
          <a:fillRef idx="0"/>
          <a:effectRef idx="0"/>
          <a:fontRef idx="minor"/>
        </p:style>
        <p:txBody>
          <a:bodyPr lIns="88920" rIns="88920" tIns="-44640" bIns="-44640" anchor="t">
            <a:noAutofit/>
          </a:bodyPr>
          <a:p>
            <a:endParaRPr b="0" lang="en-US" sz="1800" spc="-1" strike="noStrike">
              <a:solidFill>
                <a:schemeClr val="dk1"/>
              </a:solidFill>
              <a:latin typeface="Aptos"/>
            </a:endParaRPr>
          </a:p>
        </p:txBody>
      </p:sp>
      <p:sp>
        <p:nvSpPr>
          <p:cNvPr id="256" name="Shape 14"/>
          <p:cNvSpPr/>
          <p:nvPr/>
        </p:nvSpPr>
        <p:spPr>
          <a:xfrm>
            <a:off x="5385960" y="1874520"/>
            <a:ext cx="1343880" cy="895680"/>
          </a:xfrm>
          <a:prstGeom prst="roundRect">
            <a:avLst>
              <a:gd name="adj" fmla="val 16667"/>
            </a:avLst>
          </a:prstGeom>
          <a:solidFill>
            <a:srgbClr val="102636"/>
          </a:solidFill>
          <a:ln w="15875">
            <a:solidFill>
              <a:srgbClr val="f5c45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57" name="Text 15"/>
          <p:cNvSpPr/>
          <p:nvPr/>
        </p:nvSpPr>
        <p:spPr>
          <a:xfrm>
            <a:off x="5477400" y="1993320"/>
            <a:ext cx="11610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Route</a:t>
            </a:r>
            <a:endParaRPr b="0" lang="en-US" sz="1600" spc="-1" strike="noStrike">
              <a:solidFill>
                <a:srgbClr val="ffffff"/>
              </a:solidFill>
              <a:latin typeface="Arial"/>
            </a:endParaRPr>
          </a:p>
        </p:txBody>
      </p:sp>
      <p:sp>
        <p:nvSpPr>
          <p:cNvPr id="258" name="Text 16"/>
          <p:cNvSpPr/>
          <p:nvPr/>
        </p:nvSpPr>
        <p:spPr>
          <a:xfrm>
            <a:off x="5477400" y="2240280"/>
            <a:ext cx="1161000" cy="475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600" spc="-1" strike="noStrike">
                <a:solidFill>
                  <a:srgbClr val="9ab0be"/>
                </a:solidFill>
                <a:latin typeface="Aptos"/>
              </a:rPr>
              <a:t>selection</a:t>
            </a:r>
            <a:endParaRPr b="0" lang="en-US" sz="1600" spc="-1" strike="noStrike">
              <a:solidFill>
                <a:srgbClr val="ffffff"/>
              </a:solidFill>
              <a:latin typeface="Arial"/>
            </a:endParaRPr>
          </a:p>
        </p:txBody>
      </p:sp>
      <p:sp>
        <p:nvSpPr>
          <p:cNvPr id="259" name="Shape 17"/>
          <p:cNvSpPr/>
          <p:nvPr/>
        </p:nvSpPr>
        <p:spPr>
          <a:xfrm>
            <a:off x="6729840" y="2322360"/>
            <a:ext cx="255960" cy="360"/>
          </a:xfrm>
          <a:prstGeom prst="line">
            <a:avLst/>
          </a:prstGeom>
          <a:ln w="21590">
            <a:solidFill>
              <a:srgbClr val="678296"/>
            </a:solidFill>
            <a:round/>
            <a:tailEnd len="med" type="triangle" w="med"/>
          </a:ln>
        </p:spPr>
        <p:style>
          <a:lnRef idx="0"/>
          <a:fillRef idx="0"/>
          <a:effectRef idx="0"/>
          <a:fontRef idx="minor"/>
        </p:style>
        <p:txBody>
          <a:bodyPr lIns="88920" rIns="88920" tIns="-44640" bIns="-44640" anchor="t">
            <a:noAutofit/>
          </a:bodyPr>
          <a:p>
            <a:endParaRPr b="0" lang="en-US" sz="1800" spc="-1" strike="noStrike">
              <a:solidFill>
                <a:schemeClr val="dk1"/>
              </a:solidFill>
              <a:latin typeface="Aptos"/>
            </a:endParaRPr>
          </a:p>
        </p:txBody>
      </p:sp>
      <p:sp>
        <p:nvSpPr>
          <p:cNvPr id="260" name="Shape 18"/>
          <p:cNvSpPr/>
          <p:nvPr/>
        </p:nvSpPr>
        <p:spPr>
          <a:xfrm>
            <a:off x="7013520" y="1874520"/>
            <a:ext cx="1343880" cy="895680"/>
          </a:xfrm>
          <a:prstGeom prst="roundRect">
            <a:avLst>
              <a:gd name="adj" fmla="val 16667"/>
            </a:avLst>
          </a:prstGeom>
          <a:solidFill>
            <a:srgbClr val="102636"/>
          </a:solidFill>
          <a:ln w="15875">
            <a:solidFill>
              <a:srgbClr val="ff6b6b"/>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61" name="Text 19"/>
          <p:cNvSpPr/>
          <p:nvPr/>
        </p:nvSpPr>
        <p:spPr>
          <a:xfrm>
            <a:off x="7104960" y="1993320"/>
            <a:ext cx="11610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Queue</a:t>
            </a:r>
            <a:endParaRPr b="0" lang="en-US" sz="1600" spc="-1" strike="noStrike">
              <a:solidFill>
                <a:srgbClr val="ffffff"/>
              </a:solidFill>
              <a:latin typeface="Arial"/>
            </a:endParaRPr>
          </a:p>
        </p:txBody>
      </p:sp>
      <p:sp>
        <p:nvSpPr>
          <p:cNvPr id="262" name="Text 20"/>
          <p:cNvSpPr/>
          <p:nvPr/>
        </p:nvSpPr>
        <p:spPr>
          <a:xfrm>
            <a:off x="7104960" y="2240280"/>
            <a:ext cx="1161000" cy="475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600" spc="-1" strike="noStrike">
                <a:solidFill>
                  <a:srgbClr val="9ab0be"/>
                </a:solidFill>
                <a:latin typeface="Aptos"/>
              </a:rPr>
              <a:t>wait</a:t>
            </a:r>
            <a:endParaRPr b="0" lang="en-US" sz="1600" spc="-1" strike="noStrike">
              <a:solidFill>
                <a:srgbClr val="ffffff"/>
              </a:solidFill>
              <a:latin typeface="Arial"/>
            </a:endParaRPr>
          </a:p>
        </p:txBody>
      </p:sp>
      <p:sp>
        <p:nvSpPr>
          <p:cNvPr id="263" name="Shape 21"/>
          <p:cNvSpPr/>
          <p:nvPr/>
        </p:nvSpPr>
        <p:spPr>
          <a:xfrm>
            <a:off x="8357400" y="2322360"/>
            <a:ext cx="255960" cy="360"/>
          </a:xfrm>
          <a:prstGeom prst="line">
            <a:avLst/>
          </a:prstGeom>
          <a:ln w="21590">
            <a:solidFill>
              <a:srgbClr val="678296"/>
            </a:solidFill>
            <a:round/>
            <a:tailEnd len="med" type="triangle" w="med"/>
          </a:ln>
        </p:spPr>
        <p:style>
          <a:lnRef idx="0"/>
          <a:fillRef idx="0"/>
          <a:effectRef idx="0"/>
          <a:fontRef idx="minor"/>
        </p:style>
        <p:txBody>
          <a:bodyPr lIns="88920" rIns="88920" tIns="-44640" bIns="-44640" anchor="t">
            <a:noAutofit/>
          </a:bodyPr>
          <a:p>
            <a:endParaRPr b="0" lang="en-US" sz="1800" spc="-1" strike="noStrike">
              <a:solidFill>
                <a:schemeClr val="dk1"/>
              </a:solidFill>
              <a:latin typeface="Aptos"/>
            </a:endParaRPr>
          </a:p>
        </p:txBody>
      </p:sp>
      <p:sp>
        <p:nvSpPr>
          <p:cNvPr id="264" name="Shape 22"/>
          <p:cNvSpPr/>
          <p:nvPr/>
        </p:nvSpPr>
        <p:spPr>
          <a:xfrm>
            <a:off x="8641080" y="1874520"/>
            <a:ext cx="1343880" cy="895680"/>
          </a:xfrm>
          <a:prstGeom prst="roundRect">
            <a:avLst>
              <a:gd name="adj" fmla="val 16667"/>
            </a:avLst>
          </a:prstGeom>
          <a:solidFill>
            <a:srgbClr val="102636"/>
          </a:solidFill>
          <a:ln w="15875">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65" name="Text 23"/>
          <p:cNvSpPr/>
          <p:nvPr/>
        </p:nvSpPr>
        <p:spPr>
          <a:xfrm>
            <a:off x="8732520" y="1993320"/>
            <a:ext cx="11610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GSM</a:t>
            </a:r>
            <a:endParaRPr b="0" lang="en-US" sz="1600" spc="-1" strike="noStrike">
              <a:solidFill>
                <a:srgbClr val="ffffff"/>
              </a:solidFill>
              <a:latin typeface="Arial"/>
            </a:endParaRPr>
          </a:p>
        </p:txBody>
      </p:sp>
      <p:sp>
        <p:nvSpPr>
          <p:cNvPr id="266" name="Text 24"/>
          <p:cNvSpPr/>
          <p:nvPr/>
        </p:nvSpPr>
        <p:spPr>
          <a:xfrm>
            <a:off x="8732520" y="2240280"/>
            <a:ext cx="1161000" cy="475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600" spc="-1" strike="noStrike">
                <a:solidFill>
                  <a:srgbClr val="9ab0be"/>
                </a:solidFill>
                <a:latin typeface="Aptos"/>
              </a:rPr>
              <a:t>submit</a:t>
            </a:r>
            <a:endParaRPr b="0" lang="en-US" sz="1600" spc="-1" strike="noStrike">
              <a:solidFill>
                <a:srgbClr val="ffffff"/>
              </a:solidFill>
              <a:latin typeface="Arial"/>
            </a:endParaRPr>
          </a:p>
        </p:txBody>
      </p:sp>
      <p:sp>
        <p:nvSpPr>
          <p:cNvPr id="267" name="Shape 25"/>
          <p:cNvSpPr/>
          <p:nvPr/>
        </p:nvSpPr>
        <p:spPr>
          <a:xfrm>
            <a:off x="9984960" y="2322360"/>
            <a:ext cx="256320" cy="360"/>
          </a:xfrm>
          <a:prstGeom prst="line">
            <a:avLst/>
          </a:prstGeom>
          <a:ln w="21590">
            <a:solidFill>
              <a:srgbClr val="678296"/>
            </a:solidFill>
            <a:round/>
            <a:tailEnd len="med" type="triangle" w="med"/>
          </a:ln>
        </p:spPr>
        <p:style>
          <a:lnRef idx="0"/>
          <a:fillRef idx="0"/>
          <a:effectRef idx="0"/>
          <a:fontRef idx="minor"/>
        </p:style>
        <p:txBody>
          <a:bodyPr lIns="88920" rIns="88920" tIns="-44640" bIns="-44640" anchor="t">
            <a:noAutofit/>
          </a:bodyPr>
          <a:p>
            <a:endParaRPr b="0" lang="en-US" sz="1800" spc="-1" strike="noStrike">
              <a:solidFill>
                <a:schemeClr val="dk1"/>
              </a:solidFill>
              <a:latin typeface="Aptos"/>
            </a:endParaRPr>
          </a:p>
        </p:txBody>
      </p:sp>
      <p:sp>
        <p:nvSpPr>
          <p:cNvPr id="268" name="Shape 26"/>
          <p:cNvSpPr/>
          <p:nvPr/>
        </p:nvSpPr>
        <p:spPr>
          <a:xfrm>
            <a:off x="10268640" y="1874520"/>
            <a:ext cx="1343880" cy="895680"/>
          </a:xfrm>
          <a:prstGeom prst="roundRect">
            <a:avLst>
              <a:gd name="adj" fmla="val 16667"/>
            </a:avLst>
          </a:prstGeom>
          <a:solidFill>
            <a:srgbClr val="102636"/>
          </a:solidFill>
          <a:ln w="15875">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69" name="Text 27"/>
          <p:cNvSpPr/>
          <p:nvPr/>
        </p:nvSpPr>
        <p:spPr>
          <a:xfrm>
            <a:off x="10360080" y="1993320"/>
            <a:ext cx="11610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Carrier</a:t>
            </a:r>
            <a:endParaRPr b="0" lang="en-US" sz="1600" spc="-1" strike="noStrike">
              <a:solidFill>
                <a:srgbClr val="ffffff"/>
              </a:solidFill>
              <a:latin typeface="Arial"/>
            </a:endParaRPr>
          </a:p>
        </p:txBody>
      </p:sp>
      <p:sp>
        <p:nvSpPr>
          <p:cNvPr id="270" name="Text 28"/>
          <p:cNvSpPr/>
          <p:nvPr/>
        </p:nvSpPr>
        <p:spPr>
          <a:xfrm>
            <a:off x="10360080" y="2240280"/>
            <a:ext cx="1161000" cy="475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600" spc="-1" strike="noStrike">
                <a:solidFill>
                  <a:srgbClr val="9ab0be"/>
                </a:solidFill>
                <a:latin typeface="Aptos"/>
              </a:rPr>
              <a:t>delivery</a:t>
            </a:r>
            <a:endParaRPr b="0" lang="en-US" sz="1600" spc="-1" strike="noStrike">
              <a:solidFill>
                <a:srgbClr val="ffffff"/>
              </a:solidFill>
              <a:latin typeface="Arial"/>
            </a:endParaRPr>
          </a:p>
        </p:txBody>
      </p:sp>
      <p:sp>
        <p:nvSpPr>
          <p:cNvPr id="271" name="Shape 29"/>
          <p:cNvSpPr/>
          <p:nvPr/>
        </p:nvSpPr>
        <p:spPr>
          <a:xfrm>
            <a:off x="731520" y="3401640"/>
            <a:ext cx="3382920" cy="20113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72" name="Shape 30"/>
          <p:cNvSpPr/>
          <p:nvPr/>
        </p:nvSpPr>
        <p:spPr>
          <a:xfrm>
            <a:off x="731520" y="3401640"/>
            <a:ext cx="50040" cy="2011320"/>
          </a:xfrm>
          <a:prstGeom prst="rect">
            <a:avLst/>
          </a:prstGeom>
          <a:solidFill>
            <a:srgbClr val="42b4e6"/>
          </a:solidFill>
          <a:ln w="12700">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73" name="Text 31"/>
          <p:cNvSpPr/>
          <p:nvPr/>
        </p:nvSpPr>
        <p:spPr>
          <a:xfrm>
            <a:off x="932760" y="3566160"/>
            <a:ext cx="30171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Metrics view</a:t>
            </a:r>
            <a:endParaRPr b="0" lang="en-US" sz="1600" spc="-1" strike="noStrike">
              <a:solidFill>
                <a:srgbClr val="ffffff"/>
              </a:solidFill>
              <a:latin typeface="Arial"/>
            </a:endParaRPr>
          </a:p>
        </p:txBody>
      </p:sp>
      <p:sp>
        <p:nvSpPr>
          <p:cNvPr id="274" name="Text 32"/>
          <p:cNvSpPr/>
          <p:nvPr/>
        </p:nvSpPr>
        <p:spPr>
          <a:xfrm>
            <a:off x="951120" y="3931920"/>
            <a:ext cx="2962440" cy="1352880"/>
          </a:xfrm>
          <a:prstGeom prst="rect">
            <a:avLst/>
          </a:prstGeom>
          <a:noFill/>
          <a:ln w="0">
            <a:noFill/>
          </a:ln>
        </p:spPr>
        <p:style>
          <a:lnRef idx="0"/>
          <a:fillRef idx="0"/>
          <a:effectRef idx="0"/>
          <a:fontRef idx="minor"/>
        </p:style>
        <p:txBody>
          <a:bodyPr lIns="360" rIns="360" tIns="360" bIns="360" anchor="ctr">
            <a:normAutofit/>
          </a:bodyPr>
          <a:p>
            <a:pPr marL="152280" indent="-152280" defTabSz="914400">
              <a:lnSpc>
                <a:spcPct val="100000"/>
              </a:lnSpc>
              <a:buClr>
                <a:srgbClr val="9ab0be"/>
              </a:buClr>
              <a:buFont typeface="Symbol" charset="2"/>
              <a:buChar char=""/>
            </a:pPr>
            <a:r>
              <a:rPr b="0" lang="en-US" sz="1400" spc="-1" strike="noStrike">
                <a:solidFill>
                  <a:srgbClr val="9ab0be"/>
                </a:solidFill>
                <a:latin typeface="Aptos"/>
              </a:rPr>
              <a:t>Per-stage p95 + error ratio</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Queue depth / delivery receipt</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Country • provider • channel filters</a:t>
            </a:r>
            <a:endParaRPr b="0" lang="en-US" sz="1400" spc="-1" strike="noStrike">
              <a:solidFill>
                <a:srgbClr val="ffffff"/>
              </a:solidFill>
              <a:latin typeface="Arial"/>
            </a:endParaRPr>
          </a:p>
        </p:txBody>
      </p:sp>
      <p:sp>
        <p:nvSpPr>
          <p:cNvPr id="275" name="Shape 33"/>
          <p:cNvSpPr/>
          <p:nvPr/>
        </p:nvSpPr>
        <p:spPr>
          <a:xfrm>
            <a:off x="4407480" y="3401640"/>
            <a:ext cx="3382920" cy="20113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76" name="Shape 34"/>
          <p:cNvSpPr/>
          <p:nvPr/>
        </p:nvSpPr>
        <p:spPr>
          <a:xfrm>
            <a:off x="4407480" y="3401640"/>
            <a:ext cx="50040" cy="2011320"/>
          </a:xfrm>
          <a:prstGeom prst="rect">
            <a:avLst/>
          </a:prstGeom>
          <a:solidFill>
            <a:srgbClr val="48d597"/>
          </a:solidFill>
          <a:ln w="12700">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77" name="Text 35"/>
          <p:cNvSpPr/>
          <p:nvPr/>
        </p:nvSpPr>
        <p:spPr>
          <a:xfrm>
            <a:off x="4608720" y="3566160"/>
            <a:ext cx="30171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Tracing view</a:t>
            </a:r>
            <a:endParaRPr b="0" lang="en-US" sz="1600" spc="-1" strike="noStrike">
              <a:solidFill>
                <a:srgbClr val="ffffff"/>
              </a:solidFill>
              <a:latin typeface="Arial"/>
            </a:endParaRPr>
          </a:p>
        </p:txBody>
      </p:sp>
      <p:sp>
        <p:nvSpPr>
          <p:cNvPr id="278" name="Text 36"/>
          <p:cNvSpPr/>
          <p:nvPr/>
        </p:nvSpPr>
        <p:spPr>
          <a:xfrm>
            <a:off x="4626720" y="3931920"/>
            <a:ext cx="2962440" cy="1352880"/>
          </a:xfrm>
          <a:prstGeom prst="rect">
            <a:avLst/>
          </a:prstGeom>
          <a:noFill/>
          <a:ln w="0">
            <a:noFill/>
          </a:ln>
        </p:spPr>
        <p:style>
          <a:lnRef idx="0"/>
          <a:fillRef idx="0"/>
          <a:effectRef idx="0"/>
          <a:fontRef idx="minor"/>
        </p:style>
        <p:txBody>
          <a:bodyPr lIns="360" rIns="360" tIns="360" bIns="360" anchor="ctr">
            <a:normAutofit/>
          </a:bodyPr>
          <a:p>
            <a:pPr marL="152280" indent="-152280" defTabSz="914400">
              <a:lnSpc>
                <a:spcPct val="100000"/>
              </a:lnSpc>
              <a:buClr>
                <a:srgbClr val="9ab0be"/>
              </a:buClr>
              <a:buFont typeface="Symbol" charset="2"/>
              <a:buChar char=""/>
            </a:pPr>
            <a:r>
              <a:rPr b="0" lang="en-US" sz="1400" spc="-1" strike="noStrike">
                <a:solidFill>
                  <a:srgbClr val="9ab0be"/>
                </a:solidFill>
                <a:latin typeface="Aptos"/>
              </a:rPr>
              <a:t>~10% synthetic journey sampled</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Histogram exemplar carries trace_id</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Grafana opens Tempo waterfall</a:t>
            </a:r>
            <a:endParaRPr b="0" lang="en-US" sz="1400" spc="-1" strike="noStrike">
              <a:solidFill>
                <a:srgbClr val="ffffff"/>
              </a:solidFill>
              <a:latin typeface="Arial"/>
            </a:endParaRPr>
          </a:p>
        </p:txBody>
      </p:sp>
      <p:sp>
        <p:nvSpPr>
          <p:cNvPr id="279" name="Shape 37"/>
          <p:cNvSpPr/>
          <p:nvPr/>
        </p:nvSpPr>
        <p:spPr>
          <a:xfrm>
            <a:off x="8083440" y="3401640"/>
            <a:ext cx="3382920" cy="20113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80" name="Shape 38"/>
          <p:cNvSpPr/>
          <p:nvPr/>
        </p:nvSpPr>
        <p:spPr>
          <a:xfrm>
            <a:off x="8083440" y="3401640"/>
            <a:ext cx="50040" cy="2011320"/>
          </a:xfrm>
          <a:prstGeom prst="rect">
            <a:avLst/>
          </a:prstGeom>
          <a:solidFill>
            <a:srgbClr val="f5c451"/>
          </a:solidFill>
          <a:ln w="12700">
            <a:solidFill>
              <a:srgbClr val="f5c45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81" name="Text 39"/>
          <p:cNvSpPr/>
          <p:nvPr/>
        </p:nvSpPr>
        <p:spPr>
          <a:xfrm>
            <a:off x="8284320" y="3566160"/>
            <a:ext cx="30171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Triage rule</a:t>
            </a:r>
            <a:endParaRPr b="0" lang="en-US" sz="1600" spc="-1" strike="noStrike">
              <a:solidFill>
                <a:srgbClr val="ffffff"/>
              </a:solidFill>
              <a:latin typeface="Arial"/>
            </a:endParaRPr>
          </a:p>
        </p:txBody>
      </p:sp>
      <p:sp>
        <p:nvSpPr>
          <p:cNvPr id="282" name="Text 40"/>
          <p:cNvSpPr/>
          <p:nvPr/>
        </p:nvSpPr>
        <p:spPr>
          <a:xfrm>
            <a:off x="8302680" y="3931920"/>
            <a:ext cx="2962440" cy="1352880"/>
          </a:xfrm>
          <a:prstGeom prst="rect">
            <a:avLst/>
          </a:prstGeom>
          <a:noFill/>
          <a:ln w="0">
            <a:noFill/>
          </a:ln>
        </p:spPr>
        <p:style>
          <a:lnRef idx="0"/>
          <a:fillRef idx="0"/>
          <a:effectRef idx="0"/>
          <a:fontRef idx="minor"/>
        </p:style>
        <p:txBody>
          <a:bodyPr lIns="360" rIns="360" tIns="360" bIns="360" anchor="ctr">
            <a:normAutofit/>
          </a:bodyPr>
          <a:p>
            <a:pPr marL="152280" indent="-152280" defTabSz="914400">
              <a:lnSpc>
                <a:spcPct val="100000"/>
              </a:lnSpc>
              <a:buClr>
                <a:srgbClr val="9ab0be"/>
              </a:buClr>
              <a:buFont typeface="Symbol" charset="2"/>
              <a:buChar char=""/>
            </a:pPr>
            <a:r>
              <a:rPr b="0" lang="en-US" sz="1400" spc="-1" strike="noStrike">
                <a:solidFill>
                  <a:srgbClr val="9ab0be"/>
                </a:solidFill>
                <a:latin typeface="Aptos"/>
              </a:rPr>
              <a:t>Tìm stage đầu tiên lệch baseline</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Cần ≥2 tín hiệu đồng thuận</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Không kết luận từ một trace đơn lẻ</a:t>
            </a:r>
            <a:endParaRPr b="0" lang="en-US" sz="1400" spc="-1" strike="noStrike">
              <a:solidFill>
                <a:srgbClr val="ffffff"/>
              </a:solidFill>
              <a:latin typeface="Arial"/>
            </a:endParaRPr>
          </a:p>
        </p:txBody>
      </p:sp>
      <p:sp>
        <p:nvSpPr>
          <p:cNvPr id="283" name="PlaceHolder 1"/>
          <p:cNvSpPr>
            <a:spLocks noGrp="1"/>
          </p:cNvSpPr>
          <p:nvPr>
            <p:ph type="sldNum" idx="11"/>
          </p:nvPr>
        </p:nvSpPr>
        <p:spPr>
          <a:xfrm>
            <a:off x="11777400" y="6473880"/>
            <a:ext cx="414000" cy="299520"/>
          </a:xfrm>
          <a:prstGeom prst="rect">
            <a:avLst/>
          </a:prstGeom>
          <a:noFill/>
          <a:ln w="0">
            <a:noFill/>
          </a:ln>
        </p:spPr>
        <p:txBody>
          <a:bodyPr lIns="88920" rIns="8892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EF9D3CCB-8A80-4F33-A2FD-3388179983F7}" type="slidenum">
              <a:rPr b="0" lang="en-US" sz="800" spc="-1" strike="noStrike">
                <a:solidFill>
                  <a:srgbClr val="678296"/>
                </a:solidFill>
                <a:latin typeface="Aptos"/>
                <a:ea typeface="Aptos"/>
              </a:rPr>
              <a:t>8</a:t>
            </a:fld>
            <a:endParaRPr b="0" lang="en-US" sz="8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Text 0"/>
          <p:cNvSpPr/>
          <p:nvPr/>
        </p:nvSpPr>
        <p:spPr>
          <a:xfrm>
            <a:off x="548640" y="347400"/>
            <a:ext cx="110638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3f8fb"/>
                </a:solidFill>
                <a:latin typeface="Aptos Display"/>
                <a:ea typeface="Aptos Display"/>
              </a:rPr>
              <a:t>08 — Ví dụ: carrier delivery là bottleneck</a:t>
            </a:r>
            <a:endParaRPr b="0" lang="en-US" sz="2800" spc="-1" strike="noStrike">
              <a:solidFill>
                <a:srgbClr val="ffffff"/>
              </a:solidFill>
              <a:latin typeface="Arial"/>
            </a:endParaRPr>
          </a:p>
        </p:txBody>
      </p:sp>
      <p:sp>
        <p:nvSpPr>
          <p:cNvPr id="285" name="Text 1"/>
          <p:cNvSpPr/>
          <p:nvPr/>
        </p:nvSpPr>
        <p:spPr>
          <a:xfrm>
            <a:off x="567000" y="896040"/>
            <a:ext cx="107895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9ab0be"/>
                </a:solidFill>
                <a:latin typeface="Aptos"/>
              </a:rPr>
              <a:t>Cùng một “OTP mất 12.4s”, nhưng waterfall giúp tránh đổ lỗi nhầm cho V-ID synchronous path.</a:t>
            </a:r>
            <a:endParaRPr b="0" lang="en-US" sz="1500" spc="-1" strike="noStrike">
              <a:solidFill>
                <a:srgbClr val="ffffff"/>
              </a:solidFill>
              <a:latin typeface="Arial"/>
            </a:endParaRPr>
          </a:p>
        </p:txBody>
      </p:sp>
      <p:sp>
        <p:nvSpPr>
          <p:cNvPr id="286" name="Text 2"/>
          <p:cNvSpPr/>
          <p:nvPr/>
        </p:nvSpPr>
        <p:spPr>
          <a:xfrm>
            <a:off x="777240" y="1417320"/>
            <a:ext cx="1645560" cy="200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600" spc="-1" strike="noStrike">
                <a:solidFill>
                  <a:srgbClr val="9ab0be"/>
                </a:solidFill>
                <a:latin typeface="Aptos"/>
              </a:rPr>
              <a:t>edge→kong</a:t>
            </a:r>
            <a:endParaRPr b="0" lang="en-US" sz="1600" spc="-1" strike="noStrike">
              <a:solidFill>
                <a:srgbClr val="ffffff"/>
              </a:solidFill>
              <a:latin typeface="Arial"/>
            </a:endParaRPr>
          </a:p>
        </p:txBody>
      </p:sp>
      <p:sp>
        <p:nvSpPr>
          <p:cNvPr id="287" name="Shape 3"/>
          <p:cNvSpPr/>
          <p:nvPr/>
        </p:nvSpPr>
        <p:spPr>
          <a:xfrm>
            <a:off x="2651760" y="1417320"/>
            <a:ext cx="63720" cy="255600"/>
          </a:xfrm>
          <a:prstGeom prst="roundRect">
            <a:avLst>
              <a:gd name="adj" fmla="val 16667"/>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88" name="Text 4"/>
          <p:cNvSpPr/>
          <p:nvPr/>
        </p:nvSpPr>
        <p:spPr>
          <a:xfrm>
            <a:off x="9966960" y="1417320"/>
            <a:ext cx="109692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f3f8fb"/>
                </a:solidFill>
                <a:latin typeface="Aptos"/>
              </a:rPr>
              <a:t>0.02 s</a:t>
            </a:r>
            <a:endParaRPr b="0" lang="en-US" sz="1600" spc="-1" strike="noStrike">
              <a:solidFill>
                <a:srgbClr val="ffffff"/>
              </a:solidFill>
              <a:latin typeface="Arial"/>
            </a:endParaRPr>
          </a:p>
        </p:txBody>
      </p:sp>
      <p:sp>
        <p:nvSpPr>
          <p:cNvPr id="289" name="Text 5"/>
          <p:cNvSpPr/>
          <p:nvPr/>
        </p:nvSpPr>
        <p:spPr>
          <a:xfrm>
            <a:off x="777240" y="1984320"/>
            <a:ext cx="1645560" cy="200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600" spc="-1" strike="noStrike">
                <a:solidFill>
                  <a:srgbClr val="9ab0be"/>
                </a:solidFill>
                <a:latin typeface="Aptos"/>
              </a:rPr>
              <a:t>kong→idp</a:t>
            </a:r>
            <a:endParaRPr b="0" lang="en-US" sz="1600" spc="-1" strike="noStrike">
              <a:solidFill>
                <a:srgbClr val="ffffff"/>
              </a:solidFill>
              <a:latin typeface="Arial"/>
            </a:endParaRPr>
          </a:p>
        </p:txBody>
      </p:sp>
      <p:sp>
        <p:nvSpPr>
          <p:cNvPr id="290" name="Shape 6"/>
          <p:cNvSpPr/>
          <p:nvPr/>
        </p:nvSpPr>
        <p:spPr>
          <a:xfrm>
            <a:off x="2651760" y="1984320"/>
            <a:ext cx="63720" cy="255600"/>
          </a:xfrm>
          <a:prstGeom prst="roundRect">
            <a:avLst>
              <a:gd name="adj" fmla="val 16667"/>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91" name="Text 7"/>
          <p:cNvSpPr/>
          <p:nvPr/>
        </p:nvSpPr>
        <p:spPr>
          <a:xfrm>
            <a:off x="9966960" y="1984320"/>
            <a:ext cx="109692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f3f8fb"/>
                </a:solidFill>
                <a:latin typeface="Aptos"/>
              </a:rPr>
              <a:t>0.05 s</a:t>
            </a:r>
            <a:endParaRPr b="0" lang="en-US" sz="1600" spc="-1" strike="noStrike">
              <a:solidFill>
                <a:srgbClr val="ffffff"/>
              </a:solidFill>
              <a:latin typeface="Arial"/>
            </a:endParaRPr>
          </a:p>
        </p:txBody>
      </p:sp>
      <p:sp>
        <p:nvSpPr>
          <p:cNvPr id="292" name="Text 8"/>
          <p:cNvSpPr/>
          <p:nvPr/>
        </p:nvSpPr>
        <p:spPr>
          <a:xfrm>
            <a:off x="777240" y="2551320"/>
            <a:ext cx="1645560" cy="200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600" spc="-1" strike="noStrike">
                <a:solidFill>
                  <a:srgbClr val="9ab0be"/>
                </a:solidFill>
                <a:latin typeface="Aptos"/>
              </a:rPr>
              <a:t>redis</a:t>
            </a:r>
            <a:endParaRPr b="0" lang="en-US" sz="1600" spc="-1" strike="noStrike">
              <a:solidFill>
                <a:srgbClr val="ffffff"/>
              </a:solidFill>
              <a:latin typeface="Arial"/>
            </a:endParaRPr>
          </a:p>
        </p:txBody>
      </p:sp>
      <p:sp>
        <p:nvSpPr>
          <p:cNvPr id="293" name="Shape 9"/>
          <p:cNvSpPr/>
          <p:nvPr/>
        </p:nvSpPr>
        <p:spPr>
          <a:xfrm>
            <a:off x="2651760" y="2551320"/>
            <a:ext cx="63720" cy="255600"/>
          </a:xfrm>
          <a:prstGeom prst="roundRect">
            <a:avLst>
              <a:gd name="adj" fmla="val 16667"/>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94" name="Text 10"/>
          <p:cNvSpPr/>
          <p:nvPr/>
        </p:nvSpPr>
        <p:spPr>
          <a:xfrm>
            <a:off x="9966960" y="2551320"/>
            <a:ext cx="109692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f3f8fb"/>
                </a:solidFill>
                <a:latin typeface="Aptos"/>
              </a:rPr>
              <a:t>0.01 s</a:t>
            </a:r>
            <a:endParaRPr b="0" lang="en-US" sz="1600" spc="-1" strike="noStrike">
              <a:solidFill>
                <a:srgbClr val="ffffff"/>
              </a:solidFill>
              <a:latin typeface="Arial"/>
            </a:endParaRPr>
          </a:p>
        </p:txBody>
      </p:sp>
      <p:sp>
        <p:nvSpPr>
          <p:cNvPr id="295" name="Text 11"/>
          <p:cNvSpPr/>
          <p:nvPr/>
        </p:nvSpPr>
        <p:spPr>
          <a:xfrm>
            <a:off x="777240" y="3117960"/>
            <a:ext cx="1645560" cy="200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600" spc="-1" strike="noStrike">
                <a:solidFill>
                  <a:srgbClr val="9ab0be"/>
                </a:solidFill>
                <a:latin typeface="Aptos"/>
              </a:rPr>
              <a:t>routing</a:t>
            </a:r>
            <a:endParaRPr b="0" lang="en-US" sz="1600" spc="-1" strike="noStrike">
              <a:solidFill>
                <a:srgbClr val="ffffff"/>
              </a:solidFill>
              <a:latin typeface="Arial"/>
            </a:endParaRPr>
          </a:p>
        </p:txBody>
      </p:sp>
      <p:sp>
        <p:nvSpPr>
          <p:cNvPr id="296" name="Shape 12"/>
          <p:cNvSpPr/>
          <p:nvPr/>
        </p:nvSpPr>
        <p:spPr>
          <a:xfrm>
            <a:off x="2651760" y="3117960"/>
            <a:ext cx="63720" cy="255600"/>
          </a:xfrm>
          <a:prstGeom prst="roundRect">
            <a:avLst>
              <a:gd name="adj" fmla="val 16667"/>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97" name="Text 13"/>
          <p:cNvSpPr/>
          <p:nvPr/>
        </p:nvSpPr>
        <p:spPr>
          <a:xfrm>
            <a:off x="9966960" y="3117960"/>
            <a:ext cx="109692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f3f8fb"/>
                </a:solidFill>
                <a:latin typeface="Aptos"/>
              </a:rPr>
              <a:t>0.004 s</a:t>
            </a:r>
            <a:endParaRPr b="0" lang="en-US" sz="1600" spc="-1" strike="noStrike">
              <a:solidFill>
                <a:srgbClr val="ffffff"/>
              </a:solidFill>
              <a:latin typeface="Arial"/>
            </a:endParaRPr>
          </a:p>
        </p:txBody>
      </p:sp>
      <p:sp>
        <p:nvSpPr>
          <p:cNvPr id="298" name="Text 14"/>
          <p:cNvSpPr/>
          <p:nvPr/>
        </p:nvSpPr>
        <p:spPr>
          <a:xfrm>
            <a:off x="777240" y="3684960"/>
            <a:ext cx="1645560" cy="200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600" spc="-1" strike="noStrike">
                <a:solidFill>
                  <a:srgbClr val="9ab0be"/>
                </a:solidFill>
                <a:latin typeface="Aptos"/>
              </a:rPr>
              <a:t>queue</a:t>
            </a:r>
            <a:endParaRPr b="0" lang="en-US" sz="1600" spc="-1" strike="noStrike">
              <a:solidFill>
                <a:srgbClr val="ffffff"/>
              </a:solidFill>
              <a:latin typeface="Arial"/>
            </a:endParaRPr>
          </a:p>
        </p:txBody>
      </p:sp>
      <p:sp>
        <p:nvSpPr>
          <p:cNvPr id="299" name="Shape 15"/>
          <p:cNvSpPr/>
          <p:nvPr/>
        </p:nvSpPr>
        <p:spPr>
          <a:xfrm>
            <a:off x="2651760" y="3684960"/>
            <a:ext cx="63720" cy="255600"/>
          </a:xfrm>
          <a:prstGeom prst="roundRect">
            <a:avLst>
              <a:gd name="adj" fmla="val 16667"/>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00" name="Text 16"/>
          <p:cNvSpPr/>
          <p:nvPr/>
        </p:nvSpPr>
        <p:spPr>
          <a:xfrm>
            <a:off x="9966960" y="3684960"/>
            <a:ext cx="109692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f3f8fb"/>
                </a:solidFill>
                <a:latin typeface="Aptos"/>
              </a:rPr>
              <a:t>0.07 s</a:t>
            </a:r>
            <a:endParaRPr b="0" lang="en-US" sz="1600" spc="-1" strike="noStrike">
              <a:solidFill>
                <a:srgbClr val="ffffff"/>
              </a:solidFill>
              <a:latin typeface="Arial"/>
            </a:endParaRPr>
          </a:p>
        </p:txBody>
      </p:sp>
      <p:sp>
        <p:nvSpPr>
          <p:cNvPr id="301" name="Text 17"/>
          <p:cNvSpPr/>
          <p:nvPr/>
        </p:nvSpPr>
        <p:spPr>
          <a:xfrm>
            <a:off x="777240" y="4251960"/>
            <a:ext cx="1645560" cy="200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600" spc="-1" strike="noStrike">
                <a:solidFill>
                  <a:srgbClr val="9ab0be"/>
                </a:solidFill>
                <a:latin typeface="Aptos"/>
              </a:rPr>
              <a:t>gsm_submit</a:t>
            </a:r>
            <a:endParaRPr b="0" lang="en-US" sz="1600" spc="-1" strike="noStrike">
              <a:solidFill>
                <a:srgbClr val="ffffff"/>
              </a:solidFill>
              <a:latin typeface="Arial"/>
            </a:endParaRPr>
          </a:p>
        </p:txBody>
      </p:sp>
      <p:sp>
        <p:nvSpPr>
          <p:cNvPr id="302" name="Shape 18"/>
          <p:cNvSpPr/>
          <p:nvPr/>
        </p:nvSpPr>
        <p:spPr>
          <a:xfrm>
            <a:off x="2651760" y="4251960"/>
            <a:ext cx="201600" cy="255600"/>
          </a:xfrm>
          <a:prstGeom prst="roundRect">
            <a:avLst>
              <a:gd name="adj" fmla="val 16667"/>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03" name="Text 19"/>
          <p:cNvSpPr/>
          <p:nvPr/>
        </p:nvSpPr>
        <p:spPr>
          <a:xfrm>
            <a:off x="9966960" y="4251960"/>
            <a:ext cx="109692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f3f8fb"/>
                </a:solidFill>
                <a:latin typeface="Aptos"/>
              </a:rPr>
              <a:t>0.34 s</a:t>
            </a:r>
            <a:endParaRPr b="0" lang="en-US" sz="1600" spc="-1" strike="noStrike">
              <a:solidFill>
                <a:srgbClr val="ffffff"/>
              </a:solidFill>
              <a:latin typeface="Arial"/>
            </a:endParaRPr>
          </a:p>
        </p:txBody>
      </p:sp>
      <p:sp>
        <p:nvSpPr>
          <p:cNvPr id="304" name="Text 20"/>
          <p:cNvSpPr/>
          <p:nvPr/>
        </p:nvSpPr>
        <p:spPr>
          <a:xfrm>
            <a:off x="777240" y="4818960"/>
            <a:ext cx="1645560" cy="200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600" spc="-1" strike="noStrike">
                <a:solidFill>
                  <a:srgbClr val="9ab0be"/>
                </a:solidFill>
                <a:latin typeface="Aptos"/>
              </a:rPr>
              <a:t>carrier_delivery</a:t>
            </a:r>
            <a:endParaRPr b="0" lang="en-US" sz="1600" spc="-1" strike="noStrike">
              <a:solidFill>
                <a:srgbClr val="ffffff"/>
              </a:solidFill>
              <a:latin typeface="Arial"/>
            </a:endParaRPr>
          </a:p>
        </p:txBody>
      </p:sp>
      <p:sp>
        <p:nvSpPr>
          <p:cNvPr id="305" name="Shape 21"/>
          <p:cNvSpPr/>
          <p:nvPr/>
        </p:nvSpPr>
        <p:spPr>
          <a:xfrm>
            <a:off x="2651760" y="4818960"/>
            <a:ext cx="7078320" cy="255600"/>
          </a:xfrm>
          <a:prstGeom prst="roundRect">
            <a:avLst>
              <a:gd name="adj" fmla="val 16667"/>
            </a:avLst>
          </a:prstGeom>
          <a:solidFill>
            <a:srgbClr val="ff6b6b"/>
          </a:solidFill>
          <a:ln w="12700">
            <a:solidFill>
              <a:srgbClr val="ff6b6b"/>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06" name="Text 22"/>
          <p:cNvSpPr/>
          <p:nvPr/>
        </p:nvSpPr>
        <p:spPr>
          <a:xfrm>
            <a:off x="9966960" y="4818960"/>
            <a:ext cx="109692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f6b6b"/>
                </a:solidFill>
                <a:latin typeface="Aptos"/>
              </a:rPr>
              <a:t>11.91 s</a:t>
            </a:r>
            <a:endParaRPr b="0" lang="en-US" sz="1600" spc="-1" strike="noStrike">
              <a:solidFill>
                <a:srgbClr val="ffffff"/>
              </a:solidFill>
              <a:latin typeface="Arial"/>
            </a:endParaRPr>
          </a:p>
        </p:txBody>
      </p:sp>
      <p:sp>
        <p:nvSpPr>
          <p:cNvPr id="307" name="Shape 23"/>
          <p:cNvSpPr/>
          <p:nvPr/>
        </p:nvSpPr>
        <p:spPr>
          <a:xfrm>
            <a:off x="822960" y="5486400"/>
            <a:ext cx="2559960" cy="74952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08" name="Text 24"/>
          <p:cNvSpPr/>
          <p:nvPr/>
        </p:nvSpPr>
        <p:spPr>
          <a:xfrm>
            <a:off x="987480" y="5650920"/>
            <a:ext cx="223092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pc="-1" strike="noStrike">
                <a:solidFill>
                  <a:srgbClr val="f3f8fb"/>
                </a:solidFill>
                <a:latin typeface="Aptos"/>
              </a:rPr>
              <a:t>12.40 s</a:t>
            </a:r>
            <a:endParaRPr b="0" lang="en-US" sz="2700" spc="-1" strike="noStrike">
              <a:solidFill>
                <a:srgbClr val="ffffff"/>
              </a:solidFill>
              <a:latin typeface="Arial"/>
            </a:endParaRPr>
          </a:p>
        </p:txBody>
      </p:sp>
      <p:sp>
        <p:nvSpPr>
          <p:cNvPr id="309" name="Text 25"/>
          <p:cNvSpPr/>
          <p:nvPr/>
        </p:nvSpPr>
        <p:spPr>
          <a:xfrm>
            <a:off x="987480" y="6145200"/>
            <a:ext cx="2230920" cy="18000"/>
          </a:xfrm>
          <a:prstGeom prst="rect">
            <a:avLst/>
          </a:prstGeom>
          <a:noFill/>
          <a:ln w="0">
            <a:noFill/>
          </a:ln>
        </p:spPr>
        <p:style>
          <a:lnRef idx="0"/>
          <a:fillRef idx="0"/>
          <a:effectRef idx="0"/>
          <a:fontRef idx="minor"/>
        </p:style>
        <p:txBody>
          <a:bodyPr lIns="0" rIns="0" tIns="0" bIns="0" anchor="ctr">
            <a:normAutofit fontScale="12222"/>
          </a:bodyPr>
          <a:p>
            <a:pPr defTabSz="914400">
              <a:lnSpc>
                <a:spcPct val="100000"/>
              </a:lnSpc>
              <a:tabLst>
                <a:tab algn="l" pos="0"/>
              </a:tabLst>
            </a:pPr>
            <a:r>
              <a:rPr b="0" lang="en-US" sz="1600" spc="-1" strike="noStrike">
                <a:solidFill>
                  <a:srgbClr val="9ab0be"/>
                </a:solidFill>
                <a:latin typeface="Aptos"/>
              </a:rPr>
              <a:t>End-to-end OTP journey</a:t>
            </a:r>
            <a:endParaRPr b="0" lang="en-US" sz="1600" spc="-1" strike="noStrike">
              <a:solidFill>
                <a:srgbClr val="ffffff"/>
              </a:solidFill>
              <a:latin typeface="Arial"/>
            </a:endParaRPr>
          </a:p>
        </p:txBody>
      </p:sp>
      <p:sp>
        <p:nvSpPr>
          <p:cNvPr id="310" name="Shape 26"/>
          <p:cNvSpPr/>
          <p:nvPr/>
        </p:nvSpPr>
        <p:spPr>
          <a:xfrm>
            <a:off x="3657600" y="5486400"/>
            <a:ext cx="2559960" cy="74952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11" name="Text 27"/>
          <p:cNvSpPr/>
          <p:nvPr/>
        </p:nvSpPr>
        <p:spPr>
          <a:xfrm>
            <a:off x="3822120" y="5650920"/>
            <a:ext cx="223092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pc="-1" strike="noStrike">
                <a:solidFill>
                  <a:srgbClr val="42b4e6"/>
                </a:solidFill>
                <a:latin typeface="Aptos"/>
              </a:rPr>
              <a:t>0.34 s</a:t>
            </a:r>
            <a:endParaRPr b="0" lang="en-US" sz="2700" spc="-1" strike="noStrike">
              <a:solidFill>
                <a:srgbClr val="ffffff"/>
              </a:solidFill>
              <a:latin typeface="Arial"/>
            </a:endParaRPr>
          </a:p>
        </p:txBody>
      </p:sp>
      <p:sp>
        <p:nvSpPr>
          <p:cNvPr id="312" name="Text 28"/>
          <p:cNvSpPr/>
          <p:nvPr/>
        </p:nvSpPr>
        <p:spPr>
          <a:xfrm>
            <a:off x="3822120" y="6145200"/>
            <a:ext cx="2230920" cy="18000"/>
          </a:xfrm>
          <a:prstGeom prst="rect">
            <a:avLst/>
          </a:prstGeom>
          <a:noFill/>
          <a:ln w="0">
            <a:noFill/>
          </a:ln>
        </p:spPr>
        <p:style>
          <a:lnRef idx="0"/>
          <a:fillRef idx="0"/>
          <a:effectRef idx="0"/>
          <a:fontRef idx="minor"/>
        </p:style>
        <p:txBody>
          <a:bodyPr lIns="0" rIns="0" tIns="0" bIns="0" anchor="ctr">
            <a:normAutofit fontScale="12222"/>
          </a:bodyPr>
          <a:p>
            <a:pPr defTabSz="914400">
              <a:lnSpc>
                <a:spcPct val="100000"/>
              </a:lnSpc>
              <a:tabLst>
                <a:tab algn="l" pos="0"/>
              </a:tabLst>
            </a:pPr>
            <a:r>
              <a:rPr b="0" lang="en-US" sz="1600" spc="-1" strike="noStrike">
                <a:solidFill>
                  <a:srgbClr val="9ab0be"/>
                </a:solidFill>
                <a:latin typeface="Aptos"/>
              </a:rPr>
              <a:t>Provider submit</a:t>
            </a:r>
            <a:endParaRPr b="0" lang="en-US" sz="1600" spc="-1" strike="noStrike">
              <a:solidFill>
                <a:srgbClr val="ffffff"/>
              </a:solidFill>
              <a:latin typeface="Arial"/>
            </a:endParaRPr>
          </a:p>
        </p:txBody>
      </p:sp>
      <p:sp>
        <p:nvSpPr>
          <p:cNvPr id="313" name="Shape 29"/>
          <p:cNvSpPr/>
          <p:nvPr/>
        </p:nvSpPr>
        <p:spPr>
          <a:xfrm>
            <a:off x="6492240" y="5486400"/>
            <a:ext cx="2559960" cy="74952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14" name="Text 30"/>
          <p:cNvSpPr/>
          <p:nvPr/>
        </p:nvSpPr>
        <p:spPr>
          <a:xfrm>
            <a:off x="6656760" y="5650920"/>
            <a:ext cx="223092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pc="-1" strike="noStrike">
                <a:solidFill>
                  <a:srgbClr val="ff6b6b"/>
                </a:solidFill>
                <a:latin typeface="Aptos"/>
              </a:rPr>
              <a:t>11.91 s</a:t>
            </a:r>
            <a:endParaRPr b="0" lang="en-US" sz="2700" spc="-1" strike="noStrike">
              <a:solidFill>
                <a:srgbClr val="ffffff"/>
              </a:solidFill>
              <a:latin typeface="Arial"/>
            </a:endParaRPr>
          </a:p>
        </p:txBody>
      </p:sp>
      <p:sp>
        <p:nvSpPr>
          <p:cNvPr id="315" name="Text 31"/>
          <p:cNvSpPr/>
          <p:nvPr/>
        </p:nvSpPr>
        <p:spPr>
          <a:xfrm>
            <a:off x="6656760" y="6145200"/>
            <a:ext cx="2230920" cy="18000"/>
          </a:xfrm>
          <a:prstGeom prst="rect">
            <a:avLst/>
          </a:prstGeom>
          <a:noFill/>
          <a:ln w="0">
            <a:noFill/>
          </a:ln>
        </p:spPr>
        <p:style>
          <a:lnRef idx="0"/>
          <a:fillRef idx="0"/>
          <a:effectRef idx="0"/>
          <a:fontRef idx="minor"/>
        </p:style>
        <p:txBody>
          <a:bodyPr lIns="0" rIns="0" tIns="0" bIns="0" anchor="ctr">
            <a:normAutofit fontScale="12222"/>
          </a:bodyPr>
          <a:p>
            <a:pPr defTabSz="914400">
              <a:lnSpc>
                <a:spcPct val="100000"/>
              </a:lnSpc>
              <a:tabLst>
                <a:tab algn="l" pos="0"/>
              </a:tabLst>
            </a:pPr>
            <a:r>
              <a:rPr b="0" lang="en-US" sz="1600" spc="-1" strike="noStrike">
                <a:solidFill>
                  <a:srgbClr val="9ab0be"/>
                </a:solidFill>
                <a:latin typeface="Aptos"/>
              </a:rPr>
              <a:t>Carrier delivery</a:t>
            </a:r>
            <a:endParaRPr b="0" lang="en-US" sz="1600" spc="-1" strike="noStrike">
              <a:solidFill>
                <a:srgbClr val="ffffff"/>
              </a:solidFill>
              <a:latin typeface="Arial"/>
            </a:endParaRPr>
          </a:p>
        </p:txBody>
      </p:sp>
      <p:sp>
        <p:nvSpPr>
          <p:cNvPr id="316" name="Shape 32"/>
          <p:cNvSpPr/>
          <p:nvPr/>
        </p:nvSpPr>
        <p:spPr>
          <a:xfrm>
            <a:off x="9235440" y="5276160"/>
            <a:ext cx="2239920" cy="9871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17" name="Shape 33"/>
          <p:cNvSpPr/>
          <p:nvPr/>
        </p:nvSpPr>
        <p:spPr>
          <a:xfrm>
            <a:off x="9235440" y="5276160"/>
            <a:ext cx="50040" cy="987120"/>
          </a:xfrm>
          <a:prstGeom prst="rect">
            <a:avLst/>
          </a:prstGeom>
          <a:solidFill>
            <a:srgbClr val="ff6b6b"/>
          </a:solidFill>
          <a:ln w="12700">
            <a:solidFill>
              <a:srgbClr val="ff6b6b"/>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18" name="Text 34"/>
          <p:cNvSpPr/>
          <p:nvPr/>
        </p:nvSpPr>
        <p:spPr>
          <a:xfrm>
            <a:off x="9436680" y="5440680"/>
            <a:ext cx="18741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Kết luận</a:t>
            </a:r>
            <a:endParaRPr b="0" lang="en-US" sz="1600" spc="-1" strike="noStrike">
              <a:solidFill>
                <a:srgbClr val="ffffff"/>
              </a:solidFill>
              <a:latin typeface="Arial"/>
            </a:endParaRPr>
          </a:p>
        </p:txBody>
      </p:sp>
      <p:sp>
        <p:nvSpPr>
          <p:cNvPr id="319" name="Text 35"/>
          <p:cNvSpPr/>
          <p:nvPr/>
        </p:nvSpPr>
        <p:spPr>
          <a:xfrm>
            <a:off x="9455040" y="5806440"/>
            <a:ext cx="1819440" cy="328680"/>
          </a:xfrm>
          <a:prstGeom prst="rect">
            <a:avLst/>
          </a:prstGeom>
          <a:noFill/>
          <a:ln w="0">
            <a:noFill/>
          </a:ln>
        </p:spPr>
        <p:style>
          <a:lnRef idx="0"/>
          <a:fillRef idx="0"/>
          <a:effectRef idx="0"/>
          <a:fontRef idx="minor"/>
        </p:style>
        <p:txBody>
          <a:bodyPr lIns="360" rIns="360" tIns="360" bIns="360" anchor="t">
            <a:normAutofit fontScale="62222" lnSpcReduction="20000"/>
          </a:bodyPr>
          <a:p>
            <a:pPr defTabSz="914400">
              <a:lnSpc>
                <a:spcPct val="100000"/>
              </a:lnSpc>
              <a:tabLst>
                <a:tab algn="l" pos="0"/>
              </a:tabLst>
            </a:pPr>
            <a:r>
              <a:rPr b="0" lang="en-US" sz="1400" spc="-1" strike="noStrike">
                <a:solidFill>
                  <a:srgbClr val="9ab0be"/>
                </a:solidFill>
                <a:latin typeface="Aptos"/>
              </a:rPr>
              <a:t>Carrier chiếm ~96% tổng latency → nghi ngờ downstream provider/carrier.</a:t>
            </a:r>
            <a:endParaRPr b="0" lang="en-US" sz="1400" spc="-1" strike="noStrike">
              <a:solidFill>
                <a:srgbClr val="ffffff"/>
              </a:solidFill>
              <a:latin typeface="Arial"/>
            </a:endParaRPr>
          </a:p>
        </p:txBody>
      </p:sp>
      <p:sp>
        <p:nvSpPr>
          <p:cNvPr id="320" name="PlaceHolder 1"/>
          <p:cNvSpPr>
            <a:spLocks noGrp="1"/>
          </p:cNvSpPr>
          <p:nvPr>
            <p:ph type="sldNum" idx="12"/>
          </p:nvPr>
        </p:nvSpPr>
        <p:spPr>
          <a:xfrm>
            <a:off x="11777400" y="6473880"/>
            <a:ext cx="414000" cy="299520"/>
          </a:xfrm>
          <a:prstGeom prst="rect">
            <a:avLst/>
          </a:prstGeom>
          <a:noFill/>
          <a:ln w="0">
            <a:noFill/>
          </a:ln>
        </p:spPr>
        <p:txBody>
          <a:bodyPr lIns="88920" rIns="8892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25D2FDBB-EC8B-4CFF-947D-86E905CF0E4A}" type="slidenum">
              <a:rPr b="0" lang="en-US" sz="800" spc="-1" strike="noStrike">
                <a:solidFill>
                  <a:srgbClr val="678296"/>
                </a:solidFill>
                <a:latin typeface="Aptos"/>
                <a:ea typeface="Aptos"/>
              </a:rPr>
              <a:t>9</a:t>
            </a:fld>
            <a:endParaRPr b="0" lang="en-US" sz="8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Rectangle 1"/>
          <p:cNvSpPr/>
          <p:nvPr/>
        </p:nvSpPr>
        <p:spPr>
          <a:xfrm>
            <a:off x="0" y="0"/>
            <a:ext cx="12191760" cy="6857640"/>
          </a:xfrm>
          <a:prstGeom prst="rect">
            <a:avLst/>
          </a:prstGeom>
          <a:solidFill>
            <a:srgbClr val="0a111d"/>
          </a:solidFill>
          <a:ln>
            <a:no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322" name="TextBox 2"/>
          <p:cNvSpPr/>
          <p:nvPr/>
        </p:nvSpPr>
        <p:spPr>
          <a:xfrm>
            <a:off x="685800" y="411480"/>
            <a:ext cx="10789560" cy="48564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pPr>
            <a:r>
              <a:rPr b="1" lang="en-US" sz="2600" spc="-1" strike="noStrike">
                <a:solidFill>
                  <a:srgbClr val="f2f6fc"/>
                </a:solidFill>
                <a:latin typeface="Aptos"/>
              </a:rPr>
              <a:t>09 — Synthetic traffic &amp; incident simulation</a:t>
            </a:r>
            <a:endParaRPr b="0" lang="en-US" sz="2600" spc="-1" strike="noStrike">
              <a:solidFill>
                <a:srgbClr val="ffffff"/>
              </a:solidFill>
              <a:latin typeface="Arial"/>
            </a:endParaRPr>
          </a:p>
        </p:txBody>
      </p:sp>
      <p:sp>
        <p:nvSpPr>
          <p:cNvPr id="323" name="TextBox 3"/>
          <p:cNvSpPr/>
          <p:nvPr/>
        </p:nvSpPr>
        <p:spPr>
          <a:xfrm>
            <a:off x="685800" y="987480"/>
            <a:ext cx="10698120" cy="54684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pPr>
            <a:r>
              <a:rPr b="0" lang="en-US" sz="1500" spc="-1" strike="noStrike">
                <a:solidFill>
                  <a:srgbClr val="a6b4c8"/>
                </a:solidFill>
                <a:latin typeface="Aptos"/>
              </a:rPr>
              <a:t>Khi chưa có telemetry UAT thật, simulator tạo traffic có kiểm soát để kiểm thử KPI, dashboard, alert và quy trình triage.</a:t>
            </a:r>
            <a:endParaRPr b="0" lang="en-US" sz="1500" spc="-1" strike="noStrike">
              <a:solidFill>
                <a:srgbClr val="ffffff"/>
              </a:solidFill>
              <a:latin typeface="Arial"/>
            </a:endParaRPr>
          </a:p>
        </p:txBody>
      </p:sp>
      <p:sp>
        <p:nvSpPr>
          <p:cNvPr id="324" name="Rounded Rectangle 4"/>
          <p:cNvSpPr/>
          <p:nvPr/>
        </p:nvSpPr>
        <p:spPr>
          <a:xfrm>
            <a:off x="685800" y="1828800"/>
            <a:ext cx="2422800" cy="2971440"/>
          </a:xfrm>
          <a:prstGeom prst="roundRect">
            <a:avLst>
              <a:gd name="adj" fmla="val 16667"/>
            </a:avLst>
          </a:prstGeom>
          <a:solidFill>
            <a:srgbClr val="141f30"/>
          </a:solidFill>
          <a:ln>
            <a:solidFill>
              <a:srgbClr val="2d425c"/>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325" name="TextBox 5"/>
          <p:cNvSpPr/>
          <p:nvPr/>
        </p:nvSpPr>
        <p:spPr>
          <a:xfrm>
            <a:off x="868680" y="2011680"/>
            <a:ext cx="2057040" cy="33336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pPr>
            <a:r>
              <a:rPr b="1" lang="en-US" sz="1600" spc="-1" strike="noStrike">
                <a:solidFill>
                  <a:srgbClr val="56a6ff"/>
                </a:solidFill>
                <a:latin typeface="Aptos"/>
              </a:rPr>
              <a:t>Traffic profiles</a:t>
            </a:r>
            <a:endParaRPr b="0" lang="en-US" sz="1600" spc="-1" strike="noStrike">
              <a:solidFill>
                <a:srgbClr val="ffffff"/>
              </a:solidFill>
              <a:latin typeface="Arial"/>
            </a:endParaRPr>
          </a:p>
        </p:txBody>
      </p:sp>
      <p:sp>
        <p:nvSpPr>
          <p:cNvPr id="326" name="TextBox 6"/>
          <p:cNvSpPr/>
          <p:nvPr/>
        </p:nvSpPr>
        <p:spPr>
          <a:xfrm>
            <a:off x="868680" y="2578680"/>
            <a:ext cx="2057040" cy="138600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Development 20 TPS</a:t>
            </a:r>
            <a:endParaRPr b="0" lang="en-US" sz="1300" spc="-1" strike="noStrike">
              <a:solidFill>
                <a:srgbClr val="ffffff"/>
              </a:solidFill>
              <a:latin typeface="Arial"/>
            </a:endParaRPr>
          </a:p>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UAT 100 TPS</a:t>
            </a:r>
            <a:endParaRPr b="0" lang="en-US" sz="1300" spc="-1" strike="noStrike">
              <a:solidFill>
                <a:srgbClr val="ffffff"/>
              </a:solidFill>
              <a:latin typeface="Arial"/>
            </a:endParaRPr>
          </a:p>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Production-like 500 TPS</a:t>
            </a:r>
            <a:endParaRPr b="0" lang="en-US" sz="1300" spc="-1" strike="noStrike">
              <a:solidFill>
                <a:srgbClr val="ffffff"/>
              </a:solidFill>
              <a:latin typeface="Arial"/>
            </a:endParaRPr>
          </a:p>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Peak 2000 TPS</a:t>
            </a:r>
            <a:endParaRPr b="0" lang="en-US" sz="1300" spc="-1" strike="noStrike">
              <a:solidFill>
                <a:srgbClr val="ffffff"/>
              </a:solidFill>
              <a:latin typeface="Arial"/>
            </a:endParaRPr>
          </a:p>
        </p:txBody>
      </p:sp>
      <p:sp>
        <p:nvSpPr>
          <p:cNvPr id="327" name="Rounded Rectangle 7"/>
          <p:cNvSpPr/>
          <p:nvPr/>
        </p:nvSpPr>
        <p:spPr>
          <a:xfrm>
            <a:off x="3566160" y="1828800"/>
            <a:ext cx="2422800" cy="2971440"/>
          </a:xfrm>
          <a:prstGeom prst="roundRect">
            <a:avLst>
              <a:gd name="adj" fmla="val 16667"/>
            </a:avLst>
          </a:prstGeom>
          <a:solidFill>
            <a:srgbClr val="141f30"/>
          </a:solidFill>
          <a:ln>
            <a:solidFill>
              <a:srgbClr val="2d425c"/>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328" name="TextBox 8"/>
          <p:cNvSpPr/>
          <p:nvPr/>
        </p:nvSpPr>
        <p:spPr>
          <a:xfrm>
            <a:off x="3749040" y="2011680"/>
            <a:ext cx="2057040" cy="33336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pPr>
            <a:r>
              <a:rPr b="1" lang="en-US" sz="1600" spc="-1" strike="noStrike">
                <a:solidFill>
                  <a:srgbClr val="56a6ff"/>
                </a:solidFill>
                <a:latin typeface="Aptos"/>
              </a:rPr>
              <a:t>Workload signals</a:t>
            </a:r>
            <a:endParaRPr b="0" lang="en-US" sz="1600" spc="-1" strike="noStrike">
              <a:solidFill>
                <a:srgbClr val="ffffff"/>
              </a:solidFill>
              <a:latin typeface="Arial"/>
            </a:endParaRPr>
          </a:p>
        </p:txBody>
      </p:sp>
      <p:sp>
        <p:nvSpPr>
          <p:cNvPr id="329" name="TextBox 9"/>
          <p:cNvSpPr/>
          <p:nvPr/>
        </p:nvSpPr>
        <p:spPr>
          <a:xfrm>
            <a:off x="3749040" y="2578680"/>
            <a:ext cx="2057040" cy="138600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Authentication</a:t>
            </a:r>
            <a:endParaRPr b="0" lang="en-US" sz="1300" spc="-1" strike="noStrike">
              <a:solidFill>
                <a:srgbClr val="ffffff"/>
              </a:solidFill>
              <a:latin typeface="Arial"/>
            </a:endParaRPr>
          </a:p>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OTP send / delivery / verify</a:t>
            </a:r>
            <a:endParaRPr b="0" lang="en-US" sz="1300" spc="-1" strike="noStrike">
              <a:solidFill>
                <a:srgbClr val="ffffff"/>
              </a:solidFill>
              <a:latin typeface="Arial"/>
            </a:endParaRPr>
          </a:p>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Token issuance</a:t>
            </a:r>
            <a:endParaRPr b="0" lang="en-US" sz="1300" spc="-1" strike="noStrike">
              <a:solidFill>
                <a:srgbClr val="ffffff"/>
              </a:solidFill>
              <a:latin typeface="Arial"/>
            </a:endParaRPr>
          </a:p>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HTTP + dependencies</a:t>
            </a:r>
            <a:endParaRPr b="0" lang="en-US" sz="1300" spc="-1" strike="noStrike">
              <a:solidFill>
                <a:srgbClr val="ffffff"/>
              </a:solidFill>
              <a:latin typeface="Arial"/>
            </a:endParaRPr>
          </a:p>
        </p:txBody>
      </p:sp>
      <p:sp>
        <p:nvSpPr>
          <p:cNvPr id="330" name="Rounded Rectangle 10"/>
          <p:cNvSpPr/>
          <p:nvPr/>
        </p:nvSpPr>
        <p:spPr>
          <a:xfrm>
            <a:off x="6446520" y="1828800"/>
            <a:ext cx="2422800" cy="2971440"/>
          </a:xfrm>
          <a:prstGeom prst="roundRect">
            <a:avLst>
              <a:gd name="adj" fmla="val 16667"/>
            </a:avLst>
          </a:prstGeom>
          <a:solidFill>
            <a:srgbClr val="141f30"/>
          </a:solidFill>
          <a:ln>
            <a:solidFill>
              <a:srgbClr val="2d425c"/>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331" name="TextBox 11"/>
          <p:cNvSpPr/>
          <p:nvPr/>
        </p:nvSpPr>
        <p:spPr>
          <a:xfrm>
            <a:off x="6629400" y="2011680"/>
            <a:ext cx="2057040" cy="33336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pPr>
            <a:r>
              <a:rPr b="1" lang="en-US" sz="1600" spc="-1" strike="noStrike">
                <a:solidFill>
                  <a:srgbClr val="56a6ff"/>
                </a:solidFill>
                <a:latin typeface="Aptos"/>
              </a:rPr>
              <a:t>Failure scenarios</a:t>
            </a:r>
            <a:endParaRPr b="0" lang="en-US" sz="1600" spc="-1" strike="noStrike">
              <a:solidFill>
                <a:srgbClr val="ffffff"/>
              </a:solidFill>
              <a:latin typeface="Arial"/>
            </a:endParaRPr>
          </a:p>
        </p:txBody>
      </p:sp>
      <p:sp>
        <p:nvSpPr>
          <p:cNvPr id="332" name="TextBox 12"/>
          <p:cNvSpPr/>
          <p:nvPr/>
        </p:nvSpPr>
        <p:spPr>
          <a:xfrm>
            <a:off x="6629400" y="2578680"/>
            <a:ext cx="2057040" cy="138600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Latency degradation</a:t>
            </a:r>
            <a:endParaRPr b="0" lang="en-US" sz="1300" spc="-1" strike="noStrike">
              <a:solidFill>
                <a:srgbClr val="ffffff"/>
              </a:solidFill>
              <a:latin typeface="Arial"/>
            </a:endParaRPr>
          </a:p>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Error-rate increase</a:t>
            </a:r>
            <a:endParaRPr b="0" lang="en-US" sz="1300" spc="-1" strike="noStrike">
              <a:solidFill>
                <a:srgbClr val="ffffff"/>
              </a:solidFill>
              <a:latin typeface="Arial"/>
            </a:endParaRPr>
          </a:p>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Queue backlog</a:t>
            </a:r>
            <a:endParaRPr b="0" lang="en-US" sz="1300" spc="-1" strike="noStrike">
              <a:solidFill>
                <a:srgbClr val="ffffff"/>
              </a:solidFill>
              <a:latin typeface="Arial"/>
            </a:endParaRPr>
          </a:p>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Provider / delivery delay</a:t>
            </a:r>
            <a:endParaRPr b="0" lang="en-US" sz="1300" spc="-1" strike="noStrike">
              <a:solidFill>
                <a:srgbClr val="ffffff"/>
              </a:solidFill>
              <a:latin typeface="Arial"/>
            </a:endParaRPr>
          </a:p>
        </p:txBody>
      </p:sp>
      <p:sp>
        <p:nvSpPr>
          <p:cNvPr id="333" name="Rounded Rectangle 13"/>
          <p:cNvSpPr/>
          <p:nvPr/>
        </p:nvSpPr>
        <p:spPr>
          <a:xfrm>
            <a:off x="9326880" y="1828800"/>
            <a:ext cx="2422800" cy="2971440"/>
          </a:xfrm>
          <a:prstGeom prst="roundRect">
            <a:avLst>
              <a:gd name="adj" fmla="val 16667"/>
            </a:avLst>
          </a:prstGeom>
          <a:solidFill>
            <a:srgbClr val="141f30"/>
          </a:solidFill>
          <a:ln>
            <a:solidFill>
              <a:srgbClr val="2d425c"/>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334" name="TextBox 14"/>
          <p:cNvSpPr/>
          <p:nvPr/>
        </p:nvSpPr>
        <p:spPr>
          <a:xfrm>
            <a:off x="9509760" y="2011680"/>
            <a:ext cx="2057040" cy="33336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pPr>
            <a:r>
              <a:rPr b="1" lang="en-US" sz="1600" spc="-1" strike="noStrike">
                <a:solidFill>
                  <a:srgbClr val="56a6ff"/>
                </a:solidFill>
                <a:latin typeface="Aptos"/>
              </a:rPr>
              <a:t>What we validate</a:t>
            </a:r>
            <a:endParaRPr b="0" lang="en-US" sz="1600" spc="-1" strike="noStrike">
              <a:solidFill>
                <a:srgbClr val="ffffff"/>
              </a:solidFill>
              <a:latin typeface="Arial"/>
            </a:endParaRPr>
          </a:p>
        </p:txBody>
      </p:sp>
      <p:sp>
        <p:nvSpPr>
          <p:cNvPr id="335" name="TextBox 15"/>
          <p:cNvSpPr/>
          <p:nvPr/>
        </p:nvSpPr>
        <p:spPr>
          <a:xfrm>
            <a:off x="9509760" y="2578680"/>
            <a:ext cx="2057040" cy="118764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Recording rules</a:t>
            </a:r>
            <a:endParaRPr b="0" lang="en-US" sz="1300" spc="-1" strike="noStrike">
              <a:solidFill>
                <a:srgbClr val="ffffff"/>
              </a:solidFill>
              <a:latin typeface="Arial"/>
            </a:endParaRPr>
          </a:p>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SLO / burn rate</a:t>
            </a:r>
            <a:endParaRPr b="0" lang="en-US" sz="1300" spc="-1" strike="noStrike">
              <a:solidFill>
                <a:srgbClr val="ffffff"/>
              </a:solidFill>
              <a:latin typeface="Arial"/>
            </a:endParaRPr>
          </a:p>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Grafana behavior</a:t>
            </a:r>
            <a:endParaRPr b="0" lang="en-US" sz="1300" spc="-1" strike="noStrike">
              <a:solidFill>
                <a:srgbClr val="ffffff"/>
              </a:solidFill>
              <a:latin typeface="Arial"/>
            </a:endParaRPr>
          </a:p>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Alert + runbook flow</a:t>
            </a:r>
            <a:endParaRPr b="0" lang="en-US" sz="1300" spc="-1" strike="noStrike">
              <a:solidFill>
                <a:srgbClr val="ffffff"/>
              </a:solidFill>
              <a:latin typeface="Arial"/>
            </a:endParaRPr>
          </a:p>
        </p:txBody>
      </p:sp>
      <p:sp>
        <p:nvSpPr>
          <p:cNvPr id="336" name="Rounded Rectangle 16"/>
          <p:cNvSpPr/>
          <p:nvPr/>
        </p:nvSpPr>
        <p:spPr>
          <a:xfrm>
            <a:off x="685800" y="5166360"/>
            <a:ext cx="11063880" cy="959760"/>
          </a:xfrm>
          <a:prstGeom prst="roundRect">
            <a:avLst>
              <a:gd name="adj" fmla="val 16667"/>
            </a:avLst>
          </a:prstGeom>
          <a:solidFill>
            <a:srgbClr val="0f2c2a"/>
          </a:solidFill>
          <a:ln>
            <a:solidFill>
              <a:srgbClr val="5bcd9a"/>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337" name="TextBox 17"/>
          <p:cNvSpPr/>
          <p:nvPr/>
        </p:nvSpPr>
        <p:spPr>
          <a:xfrm>
            <a:off x="914400" y="5394960"/>
            <a:ext cx="10606680" cy="57708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600" spc="-1" strike="noStrike">
                <a:solidFill>
                  <a:srgbClr val="f2f6fc"/>
                </a:solidFill>
                <a:latin typeface="Aptos"/>
              </a:rPr>
              <a:t>Mục tiêu: kiểm thử observability contract trước UAT — synthetic data không được dùng để suy ra production baseline hoặc capacity.</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Text 0"/>
          <p:cNvSpPr/>
          <p:nvPr/>
        </p:nvSpPr>
        <p:spPr>
          <a:xfrm>
            <a:off x="548640" y="347400"/>
            <a:ext cx="110638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3f8fb"/>
                </a:solidFill>
                <a:latin typeface="Aptos Display"/>
                <a:ea typeface="Aptos Display"/>
              </a:rPr>
              <a:t>10 — SLO, error budget &amp; burn rate</a:t>
            </a:r>
            <a:endParaRPr b="0" lang="en-US" sz="2800" spc="-1" strike="noStrike">
              <a:solidFill>
                <a:srgbClr val="ffffff"/>
              </a:solidFill>
              <a:latin typeface="Arial"/>
            </a:endParaRPr>
          </a:p>
        </p:txBody>
      </p:sp>
      <p:sp>
        <p:nvSpPr>
          <p:cNvPr id="339" name="Text 1"/>
          <p:cNvSpPr/>
          <p:nvPr/>
        </p:nvSpPr>
        <p:spPr>
          <a:xfrm>
            <a:off x="567000" y="896040"/>
            <a:ext cx="107895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9ab0be"/>
                </a:solidFill>
                <a:latin typeface="Aptos"/>
              </a:rPr>
              <a:t>Alert dựa trên user impact / budget burn, thay vì page chỉ vì CPU hoặc pod tăng.</a:t>
            </a:r>
            <a:endParaRPr b="0" lang="en-US" sz="1500" spc="-1" strike="noStrike">
              <a:solidFill>
                <a:srgbClr val="ffffff"/>
              </a:solidFill>
              <a:latin typeface="Arial"/>
            </a:endParaRPr>
          </a:p>
        </p:txBody>
      </p:sp>
      <p:sp>
        <p:nvSpPr>
          <p:cNvPr id="340" name="Shape 2"/>
          <p:cNvSpPr/>
          <p:nvPr/>
        </p:nvSpPr>
        <p:spPr>
          <a:xfrm>
            <a:off x="822960" y="1417320"/>
            <a:ext cx="4571640" cy="420588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41" name="Text 3"/>
          <p:cNvSpPr/>
          <p:nvPr/>
        </p:nvSpPr>
        <p:spPr>
          <a:xfrm>
            <a:off x="1097280" y="1737360"/>
            <a:ext cx="201132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f3f8fb"/>
                </a:solidFill>
                <a:latin typeface="Aptos"/>
              </a:rPr>
              <a:t>SLO math</a:t>
            </a:r>
            <a:endParaRPr b="0" lang="en-US" sz="1700" spc="-1" strike="noStrike">
              <a:solidFill>
                <a:srgbClr val="ffffff"/>
              </a:solidFill>
              <a:latin typeface="Arial"/>
            </a:endParaRPr>
          </a:p>
        </p:txBody>
      </p:sp>
      <p:sp>
        <p:nvSpPr>
          <p:cNvPr id="342" name="Text 4"/>
          <p:cNvSpPr/>
          <p:nvPr/>
        </p:nvSpPr>
        <p:spPr>
          <a:xfrm>
            <a:off x="1097280" y="2331720"/>
            <a:ext cx="3885840" cy="1325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700" spc="-1" strike="noStrike">
                <a:solidFill>
                  <a:srgbClr val="a9e6de"/>
                </a:solidFill>
                <a:latin typeface="Courier New"/>
                <a:ea typeface="Courier New"/>
              </a:rPr>
              <a:t>allowed_bad_ratio = 1 − SLO</a:t>
            </a:r>
            <a:endParaRPr b="0" lang="en-US" sz="1700" spc="-1" strike="noStrike">
              <a:solidFill>
                <a:srgbClr val="ffffff"/>
              </a:solidFill>
              <a:latin typeface="Arial"/>
            </a:endParaRPr>
          </a:p>
          <a:p>
            <a:pPr defTabSz="914400">
              <a:lnSpc>
                <a:spcPct val="100000"/>
              </a:lnSpc>
              <a:tabLst>
                <a:tab algn="l" pos="0"/>
              </a:tabLst>
            </a:pPr>
            <a:endParaRPr b="0" lang="en-US" sz="1700" spc="-1" strike="noStrike">
              <a:solidFill>
                <a:srgbClr val="ffffff"/>
              </a:solidFill>
              <a:latin typeface="Arial"/>
            </a:endParaRPr>
          </a:p>
          <a:p>
            <a:pPr defTabSz="914400">
              <a:lnSpc>
                <a:spcPct val="100000"/>
              </a:lnSpc>
              <a:tabLst>
                <a:tab algn="l" pos="0"/>
              </a:tabLst>
            </a:pPr>
            <a:r>
              <a:rPr b="0" lang="en-US" sz="1700" spc="-1" strike="noStrike">
                <a:solidFill>
                  <a:srgbClr val="a9e6de"/>
                </a:solidFill>
                <a:latin typeface="Courier New"/>
                <a:ea typeface="Courier New"/>
              </a:rPr>
              <a:t>burn_rate = observed_bad_ratio / allowed_bad_ratio</a:t>
            </a:r>
            <a:endParaRPr b="0" lang="en-US" sz="1700" spc="-1" strike="noStrike">
              <a:solidFill>
                <a:srgbClr val="ffffff"/>
              </a:solidFill>
              <a:latin typeface="Arial"/>
            </a:endParaRPr>
          </a:p>
        </p:txBody>
      </p:sp>
      <p:sp>
        <p:nvSpPr>
          <p:cNvPr id="343" name="Text 5"/>
          <p:cNvSpPr/>
          <p:nvPr/>
        </p:nvSpPr>
        <p:spPr>
          <a:xfrm>
            <a:off x="1097280" y="4160520"/>
            <a:ext cx="3840120" cy="776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9ab0be"/>
                </a:solidFill>
                <a:latin typeface="Aptos"/>
              </a:rPr>
              <a:t>Ví dụ SLO 99.9% → error budget 0.1%. Burn rate &gt; 1 nghĩa là đang tiêu budget nhanh hơn tốc độ cho phép.</a:t>
            </a:r>
            <a:endParaRPr b="0" lang="en-US" sz="1400" spc="-1" strike="noStrike">
              <a:solidFill>
                <a:srgbClr val="ffffff"/>
              </a:solidFill>
              <a:latin typeface="Arial"/>
            </a:endParaRPr>
          </a:p>
        </p:txBody>
      </p:sp>
      <p:sp>
        <p:nvSpPr>
          <p:cNvPr id="344" name="Shape 6"/>
          <p:cNvSpPr/>
          <p:nvPr/>
        </p:nvSpPr>
        <p:spPr>
          <a:xfrm>
            <a:off x="5760720" y="1417320"/>
            <a:ext cx="5440320" cy="118836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45" name="Shape 7"/>
          <p:cNvSpPr/>
          <p:nvPr/>
        </p:nvSpPr>
        <p:spPr>
          <a:xfrm>
            <a:off x="5760720" y="1417320"/>
            <a:ext cx="50040" cy="1188360"/>
          </a:xfrm>
          <a:prstGeom prst="rect">
            <a:avLst/>
          </a:prstGeom>
          <a:solidFill>
            <a:srgbClr val="ff6b6b"/>
          </a:solidFill>
          <a:ln w="12700">
            <a:solidFill>
              <a:srgbClr val="ff6b6b"/>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46" name="Text 8"/>
          <p:cNvSpPr/>
          <p:nvPr/>
        </p:nvSpPr>
        <p:spPr>
          <a:xfrm>
            <a:off x="5961960" y="1581840"/>
            <a:ext cx="50745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Multi-window burn rate</a:t>
            </a:r>
            <a:endParaRPr b="0" lang="en-US" sz="1600" spc="-1" strike="noStrike">
              <a:solidFill>
                <a:srgbClr val="ffffff"/>
              </a:solidFill>
              <a:latin typeface="Arial"/>
            </a:endParaRPr>
          </a:p>
        </p:txBody>
      </p:sp>
      <p:sp>
        <p:nvSpPr>
          <p:cNvPr id="347" name="Text 9"/>
          <p:cNvSpPr/>
          <p:nvPr/>
        </p:nvSpPr>
        <p:spPr>
          <a:xfrm>
            <a:off x="5980320" y="1947600"/>
            <a:ext cx="5019840" cy="52992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400" spc="-1" strike="noStrike">
                <a:solidFill>
                  <a:srgbClr val="9ab0be"/>
                </a:solidFill>
                <a:latin typeface="Aptos"/>
              </a:rPr>
              <a:t>Page khi đủ traffic và các window đồng thuận; no-data ≠ 0% error ≠ 100% success.</a:t>
            </a:r>
            <a:endParaRPr b="0" lang="en-US" sz="1400" spc="-1" strike="noStrike">
              <a:solidFill>
                <a:srgbClr val="ffffff"/>
              </a:solidFill>
              <a:latin typeface="Arial"/>
            </a:endParaRPr>
          </a:p>
        </p:txBody>
      </p:sp>
      <p:sp>
        <p:nvSpPr>
          <p:cNvPr id="348" name="Shape 10"/>
          <p:cNvSpPr/>
          <p:nvPr/>
        </p:nvSpPr>
        <p:spPr>
          <a:xfrm>
            <a:off x="5760720" y="2816280"/>
            <a:ext cx="5440320" cy="118836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49" name="Shape 11"/>
          <p:cNvSpPr/>
          <p:nvPr/>
        </p:nvSpPr>
        <p:spPr>
          <a:xfrm>
            <a:off x="5760720" y="2816280"/>
            <a:ext cx="50040" cy="1188360"/>
          </a:xfrm>
          <a:prstGeom prst="rect">
            <a:avLst/>
          </a:prstGeom>
          <a:solidFill>
            <a:srgbClr val="f5c451"/>
          </a:solidFill>
          <a:ln w="12700">
            <a:solidFill>
              <a:srgbClr val="f5c45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50" name="Text 12"/>
          <p:cNvSpPr/>
          <p:nvPr/>
        </p:nvSpPr>
        <p:spPr>
          <a:xfrm>
            <a:off x="5961960" y="2980800"/>
            <a:ext cx="50745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Business outcome ≠ outage</a:t>
            </a:r>
            <a:endParaRPr b="0" lang="en-US" sz="1600" spc="-1" strike="noStrike">
              <a:solidFill>
                <a:srgbClr val="ffffff"/>
              </a:solidFill>
              <a:latin typeface="Arial"/>
            </a:endParaRPr>
          </a:p>
        </p:txBody>
      </p:sp>
      <p:sp>
        <p:nvSpPr>
          <p:cNvPr id="351" name="Text 13"/>
          <p:cNvSpPr/>
          <p:nvPr/>
        </p:nvSpPr>
        <p:spPr>
          <a:xfrm>
            <a:off x="5980320" y="3346560"/>
            <a:ext cx="5019840" cy="52992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400" spc="-1" strike="noStrike">
                <a:solidFill>
                  <a:srgbClr val="9ab0be"/>
                </a:solidFill>
                <a:latin typeface="Aptos"/>
              </a:rPr>
              <a:t>Invalid credential, wrong/expired OTP và policy denial không mặc định tính là platform failure.</a:t>
            </a:r>
            <a:endParaRPr b="0" lang="en-US" sz="1400" spc="-1" strike="noStrike">
              <a:solidFill>
                <a:srgbClr val="ffffff"/>
              </a:solidFill>
              <a:latin typeface="Arial"/>
            </a:endParaRPr>
          </a:p>
        </p:txBody>
      </p:sp>
      <p:sp>
        <p:nvSpPr>
          <p:cNvPr id="352" name="Shape 14"/>
          <p:cNvSpPr/>
          <p:nvPr/>
        </p:nvSpPr>
        <p:spPr>
          <a:xfrm>
            <a:off x="5760720" y="4215240"/>
            <a:ext cx="5440320" cy="118836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53" name="Shape 15"/>
          <p:cNvSpPr/>
          <p:nvPr/>
        </p:nvSpPr>
        <p:spPr>
          <a:xfrm>
            <a:off x="5760720" y="4215240"/>
            <a:ext cx="50040" cy="1188360"/>
          </a:xfrm>
          <a:prstGeom prst="rect">
            <a:avLst/>
          </a:prstGeom>
          <a:solidFill>
            <a:srgbClr val="48d597"/>
          </a:solidFill>
          <a:ln w="12700">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54" name="Text 16"/>
          <p:cNvSpPr/>
          <p:nvPr/>
        </p:nvSpPr>
        <p:spPr>
          <a:xfrm>
            <a:off x="5961960" y="4380120"/>
            <a:ext cx="50745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KPI-04 có chủ ý chưa page</a:t>
            </a:r>
            <a:endParaRPr b="0" lang="en-US" sz="1600" spc="-1" strike="noStrike">
              <a:solidFill>
                <a:srgbClr val="ffffff"/>
              </a:solidFill>
              <a:latin typeface="Arial"/>
            </a:endParaRPr>
          </a:p>
        </p:txBody>
      </p:sp>
      <p:sp>
        <p:nvSpPr>
          <p:cNvPr id="355" name="Text 17"/>
          <p:cNvSpPr/>
          <p:nvPr/>
        </p:nvSpPr>
        <p:spPr>
          <a:xfrm>
            <a:off x="5980320" y="4745880"/>
            <a:ext cx="5019840" cy="52992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400" spc="-1" strike="noStrike">
                <a:solidFill>
                  <a:srgbClr val="9ab0be"/>
                </a:solidFill>
                <a:latin typeface="Aptos"/>
              </a:rPr>
              <a:t>OTP verification hiện baseline để thu dữ liệu trước khi owner duyệt SLO/threshold.</a:t>
            </a:r>
            <a:endParaRPr b="0" lang="en-US" sz="1400" spc="-1" strike="noStrike">
              <a:solidFill>
                <a:srgbClr val="ffffff"/>
              </a:solidFill>
              <a:latin typeface="Arial"/>
            </a:endParaRPr>
          </a:p>
        </p:txBody>
      </p:sp>
      <p:sp>
        <p:nvSpPr>
          <p:cNvPr id="356" name="PlaceHolder 1"/>
          <p:cNvSpPr>
            <a:spLocks noGrp="1"/>
          </p:cNvSpPr>
          <p:nvPr>
            <p:ph type="sldNum" idx="13"/>
          </p:nvPr>
        </p:nvSpPr>
        <p:spPr>
          <a:xfrm>
            <a:off x="11777400" y="6473880"/>
            <a:ext cx="414000" cy="299520"/>
          </a:xfrm>
          <a:prstGeom prst="rect">
            <a:avLst/>
          </a:prstGeom>
          <a:noFill/>
          <a:ln w="0">
            <a:noFill/>
          </a:ln>
        </p:spPr>
        <p:txBody>
          <a:bodyPr lIns="88920" rIns="8892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CDFA6286-9A9F-435E-8CBC-0A3911B208AE}" type="slidenum">
              <a:rPr b="0" lang="en-US" sz="800" spc="-1" strike="noStrike">
                <a:solidFill>
                  <a:srgbClr val="678296"/>
                </a:solidFill>
                <a:latin typeface="Aptos"/>
                <a:ea typeface="Aptos"/>
              </a:rPr>
              <a:t>11</a:t>
            </a:fld>
            <a:endParaRPr b="0" lang="en-US" sz="8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Text 0"/>
          <p:cNvSpPr/>
          <p:nvPr/>
        </p:nvSpPr>
        <p:spPr>
          <a:xfrm>
            <a:off x="548640" y="347400"/>
            <a:ext cx="110638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3f8fb"/>
                </a:solidFill>
                <a:latin typeface="Aptos Display"/>
                <a:ea typeface="Aptos Display"/>
              </a:rPr>
              <a:t>11 — Alerting &amp; runbook</a:t>
            </a:r>
            <a:endParaRPr b="0" lang="en-US" sz="2800" spc="-1" strike="noStrike">
              <a:solidFill>
                <a:srgbClr val="ffffff"/>
              </a:solidFill>
              <a:latin typeface="Arial"/>
            </a:endParaRPr>
          </a:p>
        </p:txBody>
      </p:sp>
      <p:sp>
        <p:nvSpPr>
          <p:cNvPr id="358" name="Text 1"/>
          <p:cNvSpPr/>
          <p:nvPr/>
        </p:nvSpPr>
        <p:spPr>
          <a:xfrm>
            <a:off x="567000" y="896040"/>
            <a:ext cx="107895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9ab0be"/>
                </a:solidFill>
                <a:latin typeface="Aptos"/>
              </a:rPr>
              <a:t>17 alert rules + Alertmanager routing + quy trình triage thống nhất.</a:t>
            </a:r>
            <a:endParaRPr b="0" lang="en-US" sz="1500" spc="-1" strike="noStrike">
              <a:solidFill>
                <a:srgbClr val="ffffff"/>
              </a:solidFill>
              <a:latin typeface="Arial"/>
            </a:endParaRPr>
          </a:p>
        </p:txBody>
      </p:sp>
      <p:sp>
        <p:nvSpPr>
          <p:cNvPr id="359" name="Shape 2"/>
          <p:cNvSpPr/>
          <p:nvPr/>
        </p:nvSpPr>
        <p:spPr>
          <a:xfrm>
            <a:off x="731520" y="1325880"/>
            <a:ext cx="2377080" cy="114264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60" name="Text 3"/>
          <p:cNvSpPr/>
          <p:nvPr/>
        </p:nvSpPr>
        <p:spPr>
          <a:xfrm>
            <a:off x="896040" y="1490400"/>
            <a:ext cx="204804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pc="-1" strike="noStrike">
                <a:solidFill>
                  <a:srgbClr val="f5c451"/>
                </a:solidFill>
                <a:latin typeface="Aptos"/>
              </a:rPr>
              <a:t>17</a:t>
            </a:r>
            <a:endParaRPr b="0" lang="en-US" sz="2700" spc="-1" strike="noStrike">
              <a:solidFill>
                <a:srgbClr val="ffffff"/>
              </a:solidFill>
              <a:latin typeface="Arial"/>
            </a:endParaRPr>
          </a:p>
        </p:txBody>
      </p:sp>
      <p:sp>
        <p:nvSpPr>
          <p:cNvPr id="361" name="Text 4"/>
          <p:cNvSpPr/>
          <p:nvPr/>
        </p:nvSpPr>
        <p:spPr>
          <a:xfrm>
            <a:off x="896040" y="2002680"/>
            <a:ext cx="2048040" cy="374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alert rules</a:t>
            </a:r>
            <a:endParaRPr b="0" lang="en-US" sz="1600" spc="-1" strike="noStrike">
              <a:solidFill>
                <a:srgbClr val="ffffff"/>
              </a:solidFill>
              <a:latin typeface="Arial"/>
            </a:endParaRPr>
          </a:p>
        </p:txBody>
      </p:sp>
      <p:sp>
        <p:nvSpPr>
          <p:cNvPr id="362" name="Shape 5"/>
          <p:cNvSpPr/>
          <p:nvPr/>
        </p:nvSpPr>
        <p:spPr>
          <a:xfrm>
            <a:off x="3337560" y="1325880"/>
            <a:ext cx="2377080" cy="114264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63" name="Text 6"/>
          <p:cNvSpPr/>
          <p:nvPr/>
        </p:nvSpPr>
        <p:spPr>
          <a:xfrm>
            <a:off x="3502080" y="1490400"/>
            <a:ext cx="204804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pc="-1" strike="noStrike">
                <a:solidFill>
                  <a:srgbClr val="48d597"/>
                </a:solidFill>
                <a:latin typeface="Aptos"/>
              </a:rPr>
              <a:t>1</a:t>
            </a:r>
            <a:endParaRPr b="0" lang="en-US" sz="2700" spc="-1" strike="noStrike">
              <a:solidFill>
                <a:srgbClr val="ffffff"/>
              </a:solidFill>
              <a:latin typeface="Arial"/>
            </a:endParaRPr>
          </a:p>
        </p:txBody>
      </p:sp>
      <p:sp>
        <p:nvSpPr>
          <p:cNvPr id="364" name="Text 7"/>
          <p:cNvSpPr/>
          <p:nvPr/>
        </p:nvSpPr>
        <p:spPr>
          <a:xfrm>
            <a:off x="3502080" y="2002680"/>
            <a:ext cx="2048040" cy="374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runbook entrypoint</a:t>
            </a:r>
            <a:endParaRPr b="0" lang="en-US" sz="1600" spc="-1" strike="noStrike">
              <a:solidFill>
                <a:srgbClr val="ffffff"/>
              </a:solidFill>
              <a:latin typeface="Arial"/>
            </a:endParaRPr>
          </a:p>
        </p:txBody>
      </p:sp>
      <p:sp>
        <p:nvSpPr>
          <p:cNvPr id="365" name="Shape 8"/>
          <p:cNvSpPr/>
          <p:nvPr/>
        </p:nvSpPr>
        <p:spPr>
          <a:xfrm>
            <a:off x="5943600" y="1325880"/>
            <a:ext cx="2377080" cy="114264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66" name="Text 9"/>
          <p:cNvSpPr/>
          <p:nvPr/>
        </p:nvSpPr>
        <p:spPr>
          <a:xfrm>
            <a:off x="6108120" y="1490400"/>
            <a:ext cx="204804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pc="-1" strike="noStrike">
                <a:solidFill>
                  <a:srgbClr val="42b4e6"/>
                </a:solidFill>
                <a:latin typeface="Aptos"/>
              </a:rPr>
              <a:t>≥</a:t>
            </a:r>
            <a:r>
              <a:rPr b="1" lang="en-US" sz="2700" spc="-1" strike="noStrike">
                <a:solidFill>
                  <a:srgbClr val="42b4e6"/>
                </a:solidFill>
                <a:latin typeface="Aptos"/>
              </a:rPr>
              <a:t>2</a:t>
            </a:r>
            <a:endParaRPr b="0" lang="en-US" sz="2700" spc="-1" strike="noStrike">
              <a:solidFill>
                <a:srgbClr val="ffffff"/>
              </a:solidFill>
              <a:latin typeface="Arial"/>
            </a:endParaRPr>
          </a:p>
        </p:txBody>
      </p:sp>
      <p:sp>
        <p:nvSpPr>
          <p:cNvPr id="367" name="Text 10"/>
          <p:cNvSpPr/>
          <p:nvPr/>
        </p:nvSpPr>
        <p:spPr>
          <a:xfrm>
            <a:off x="6108120" y="2002680"/>
            <a:ext cx="2048040" cy="374400"/>
          </a:xfrm>
          <a:prstGeom prst="rect">
            <a:avLst/>
          </a:prstGeom>
          <a:noFill/>
          <a:ln w="0">
            <a:noFill/>
          </a:ln>
        </p:spPr>
        <p:style>
          <a:lnRef idx="0"/>
          <a:fillRef idx="0"/>
          <a:effectRef idx="0"/>
          <a:fontRef idx="minor"/>
        </p:style>
        <p:txBody>
          <a:bodyPr lIns="0" rIns="0" tIns="0" bIns="0" anchor="ctr">
            <a:normAutofit fontScale="87222" lnSpcReduction="10000"/>
          </a:bodyPr>
          <a:p>
            <a:pPr defTabSz="914400">
              <a:lnSpc>
                <a:spcPct val="100000"/>
              </a:lnSpc>
              <a:tabLst>
                <a:tab algn="l" pos="0"/>
              </a:tabLst>
            </a:pPr>
            <a:r>
              <a:rPr b="0" lang="en-US" sz="1600" spc="-1" strike="noStrike">
                <a:solidFill>
                  <a:srgbClr val="9ab0be"/>
                </a:solidFill>
                <a:latin typeface="Aptos"/>
              </a:rPr>
              <a:t>signals before bottleneck conclusion</a:t>
            </a:r>
            <a:endParaRPr b="0" lang="en-US" sz="1600" spc="-1" strike="noStrike">
              <a:solidFill>
                <a:srgbClr val="ffffff"/>
              </a:solidFill>
              <a:latin typeface="Arial"/>
            </a:endParaRPr>
          </a:p>
        </p:txBody>
      </p:sp>
      <p:sp>
        <p:nvSpPr>
          <p:cNvPr id="368" name="Shape 11"/>
          <p:cNvSpPr/>
          <p:nvPr/>
        </p:nvSpPr>
        <p:spPr>
          <a:xfrm>
            <a:off x="8549640" y="1325880"/>
            <a:ext cx="2377080" cy="114264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69" name="Text 12"/>
          <p:cNvSpPr/>
          <p:nvPr/>
        </p:nvSpPr>
        <p:spPr>
          <a:xfrm>
            <a:off x="8714160" y="1490400"/>
            <a:ext cx="204804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pc="-1" strike="noStrike">
                <a:solidFill>
                  <a:srgbClr val="19c3b1"/>
                </a:solidFill>
                <a:latin typeface="Aptos"/>
              </a:rPr>
              <a:t>0</a:t>
            </a:r>
            <a:endParaRPr b="0" lang="en-US" sz="2700" spc="-1" strike="noStrike">
              <a:solidFill>
                <a:srgbClr val="ffffff"/>
              </a:solidFill>
              <a:latin typeface="Arial"/>
            </a:endParaRPr>
          </a:p>
        </p:txBody>
      </p:sp>
      <p:sp>
        <p:nvSpPr>
          <p:cNvPr id="370" name="Text 13"/>
          <p:cNvSpPr/>
          <p:nvPr/>
        </p:nvSpPr>
        <p:spPr>
          <a:xfrm>
            <a:off x="8714160" y="2002680"/>
            <a:ext cx="2048040" cy="374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PII in alert labels</a:t>
            </a:r>
            <a:endParaRPr b="0" lang="en-US" sz="1600" spc="-1" strike="noStrike">
              <a:solidFill>
                <a:srgbClr val="ffffff"/>
              </a:solidFill>
              <a:latin typeface="Arial"/>
            </a:endParaRPr>
          </a:p>
        </p:txBody>
      </p:sp>
      <p:sp>
        <p:nvSpPr>
          <p:cNvPr id="371" name="Shape 14"/>
          <p:cNvSpPr/>
          <p:nvPr/>
        </p:nvSpPr>
        <p:spPr>
          <a:xfrm>
            <a:off x="914400" y="2834640"/>
            <a:ext cx="255600" cy="255600"/>
          </a:xfrm>
          <a:prstGeom prst="ellipse">
            <a:avLst/>
          </a:prstGeom>
          <a:solidFill>
            <a:srgbClr val="42b4e6"/>
          </a:solidFill>
          <a:ln w="12700">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72" name="Text 15"/>
          <p:cNvSpPr/>
          <p:nvPr/>
        </p:nvSpPr>
        <p:spPr>
          <a:xfrm>
            <a:off x="914400" y="2885040"/>
            <a:ext cx="255600" cy="127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1</a:t>
            </a:r>
            <a:endParaRPr b="0" lang="en-US" sz="1600" spc="-1" strike="noStrike">
              <a:solidFill>
                <a:srgbClr val="ffffff"/>
              </a:solidFill>
              <a:latin typeface="Arial"/>
            </a:endParaRPr>
          </a:p>
        </p:txBody>
      </p:sp>
      <p:sp>
        <p:nvSpPr>
          <p:cNvPr id="373" name="Text 16"/>
          <p:cNvSpPr/>
          <p:nvPr/>
        </p:nvSpPr>
        <p:spPr>
          <a:xfrm>
            <a:off x="1371600" y="2834640"/>
            <a:ext cx="96008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f3f8fb"/>
                </a:solidFill>
                <a:latin typeface="Aptos"/>
              </a:rPr>
              <a:t>Confirm environment / time / client / flow</a:t>
            </a:r>
            <a:endParaRPr b="0" lang="en-US" sz="1600" spc="-1" strike="noStrike">
              <a:solidFill>
                <a:srgbClr val="ffffff"/>
              </a:solidFill>
              <a:latin typeface="Arial"/>
            </a:endParaRPr>
          </a:p>
        </p:txBody>
      </p:sp>
      <p:sp>
        <p:nvSpPr>
          <p:cNvPr id="374" name="Shape 17"/>
          <p:cNvSpPr/>
          <p:nvPr/>
        </p:nvSpPr>
        <p:spPr>
          <a:xfrm>
            <a:off x="1042200" y="3090600"/>
            <a:ext cx="360" cy="255960"/>
          </a:xfrm>
          <a:prstGeom prst="line">
            <a:avLst/>
          </a:prstGeom>
          <a:ln w="19050">
            <a:solidFill>
              <a:srgbClr val="1b3445"/>
            </a:solidFill>
            <a:roun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375" name="Shape 18"/>
          <p:cNvSpPr/>
          <p:nvPr/>
        </p:nvSpPr>
        <p:spPr>
          <a:xfrm>
            <a:off x="914400" y="3346560"/>
            <a:ext cx="255600" cy="255600"/>
          </a:xfrm>
          <a:prstGeom prst="ellipse">
            <a:avLst/>
          </a:prstGeom>
          <a:solidFill>
            <a:srgbClr val="42b4e6"/>
          </a:solidFill>
          <a:ln w="12700">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76" name="Text 19"/>
          <p:cNvSpPr/>
          <p:nvPr/>
        </p:nvSpPr>
        <p:spPr>
          <a:xfrm>
            <a:off x="914400" y="3396960"/>
            <a:ext cx="255600" cy="127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2</a:t>
            </a:r>
            <a:endParaRPr b="0" lang="en-US" sz="1600" spc="-1" strike="noStrike">
              <a:solidFill>
                <a:srgbClr val="ffffff"/>
              </a:solidFill>
              <a:latin typeface="Arial"/>
            </a:endParaRPr>
          </a:p>
        </p:txBody>
      </p:sp>
      <p:sp>
        <p:nvSpPr>
          <p:cNvPr id="377" name="Text 20"/>
          <p:cNvSpPr/>
          <p:nvPr/>
        </p:nvSpPr>
        <p:spPr>
          <a:xfrm>
            <a:off x="1371600" y="3346560"/>
            <a:ext cx="96008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f3f8fb"/>
                </a:solidFill>
                <a:latin typeface="Aptos"/>
              </a:rPr>
              <a:t>Open Overview → detail dashboard</a:t>
            </a:r>
            <a:endParaRPr b="0" lang="en-US" sz="1600" spc="-1" strike="noStrike">
              <a:solidFill>
                <a:srgbClr val="ffffff"/>
              </a:solidFill>
              <a:latin typeface="Arial"/>
            </a:endParaRPr>
          </a:p>
        </p:txBody>
      </p:sp>
      <p:sp>
        <p:nvSpPr>
          <p:cNvPr id="378" name="Shape 21"/>
          <p:cNvSpPr/>
          <p:nvPr/>
        </p:nvSpPr>
        <p:spPr>
          <a:xfrm>
            <a:off x="1042200" y="3602520"/>
            <a:ext cx="360" cy="255960"/>
          </a:xfrm>
          <a:prstGeom prst="line">
            <a:avLst/>
          </a:prstGeom>
          <a:ln w="19050">
            <a:solidFill>
              <a:srgbClr val="1b3445"/>
            </a:solidFill>
            <a:roun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379" name="Shape 22"/>
          <p:cNvSpPr/>
          <p:nvPr/>
        </p:nvSpPr>
        <p:spPr>
          <a:xfrm>
            <a:off x="914400" y="3858840"/>
            <a:ext cx="255600" cy="255600"/>
          </a:xfrm>
          <a:prstGeom prst="ellipse">
            <a:avLst/>
          </a:prstGeom>
          <a:solidFill>
            <a:srgbClr val="42b4e6"/>
          </a:solidFill>
          <a:ln w="12700">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80" name="Text 23"/>
          <p:cNvSpPr/>
          <p:nvPr/>
        </p:nvSpPr>
        <p:spPr>
          <a:xfrm>
            <a:off x="914400" y="3909240"/>
            <a:ext cx="255600" cy="127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3</a:t>
            </a:r>
            <a:endParaRPr b="0" lang="en-US" sz="1600" spc="-1" strike="noStrike">
              <a:solidFill>
                <a:srgbClr val="ffffff"/>
              </a:solidFill>
              <a:latin typeface="Arial"/>
            </a:endParaRPr>
          </a:p>
        </p:txBody>
      </p:sp>
      <p:sp>
        <p:nvSpPr>
          <p:cNvPr id="381" name="Text 24"/>
          <p:cNvSpPr/>
          <p:nvPr/>
        </p:nvSpPr>
        <p:spPr>
          <a:xfrm>
            <a:off x="1371600" y="3858840"/>
            <a:ext cx="96008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f3f8fb"/>
                </a:solidFill>
                <a:latin typeface="Aptos"/>
              </a:rPr>
              <a:t>Find first degraded service/stage</a:t>
            </a:r>
            <a:endParaRPr b="0" lang="en-US" sz="1600" spc="-1" strike="noStrike">
              <a:solidFill>
                <a:srgbClr val="ffffff"/>
              </a:solidFill>
              <a:latin typeface="Arial"/>
            </a:endParaRPr>
          </a:p>
        </p:txBody>
      </p:sp>
      <p:sp>
        <p:nvSpPr>
          <p:cNvPr id="382" name="Shape 25"/>
          <p:cNvSpPr/>
          <p:nvPr/>
        </p:nvSpPr>
        <p:spPr>
          <a:xfrm>
            <a:off x="1042200" y="4114800"/>
            <a:ext cx="360" cy="255960"/>
          </a:xfrm>
          <a:prstGeom prst="line">
            <a:avLst/>
          </a:prstGeom>
          <a:ln w="19050">
            <a:solidFill>
              <a:srgbClr val="1b3445"/>
            </a:solidFill>
            <a:roun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383" name="Shape 26"/>
          <p:cNvSpPr/>
          <p:nvPr/>
        </p:nvSpPr>
        <p:spPr>
          <a:xfrm>
            <a:off x="914400" y="4370760"/>
            <a:ext cx="255600" cy="255600"/>
          </a:xfrm>
          <a:prstGeom prst="ellipse">
            <a:avLst/>
          </a:prstGeom>
          <a:solidFill>
            <a:srgbClr val="48d597"/>
          </a:solidFill>
          <a:ln w="12700">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84" name="Text 27"/>
          <p:cNvSpPr/>
          <p:nvPr/>
        </p:nvSpPr>
        <p:spPr>
          <a:xfrm>
            <a:off x="914400" y="4421160"/>
            <a:ext cx="255600" cy="127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4</a:t>
            </a:r>
            <a:endParaRPr b="0" lang="en-US" sz="1600" spc="-1" strike="noStrike">
              <a:solidFill>
                <a:srgbClr val="ffffff"/>
              </a:solidFill>
              <a:latin typeface="Arial"/>
            </a:endParaRPr>
          </a:p>
        </p:txBody>
      </p:sp>
      <p:sp>
        <p:nvSpPr>
          <p:cNvPr id="385" name="Text 28"/>
          <p:cNvSpPr/>
          <p:nvPr/>
        </p:nvSpPr>
        <p:spPr>
          <a:xfrm>
            <a:off x="1371600" y="4370760"/>
            <a:ext cx="96008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f3f8fb"/>
                </a:solidFill>
                <a:latin typeface="Aptos"/>
              </a:rPr>
              <a:t>Open Tempo exemplar &amp; correlate changes</a:t>
            </a:r>
            <a:endParaRPr b="0" lang="en-US" sz="1600" spc="-1" strike="noStrike">
              <a:solidFill>
                <a:srgbClr val="ffffff"/>
              </a:solidFill>
              <a:latin typeface="Arial"/>
            </a:endParaRPr>
          </a:p>
        </p:txBody>
      </p:sp>
      <p:sp>
        <p:nvSpPr>
          <p:cNvPr id="386" name="Shape 29"/>
          <p:cNvSpPr/>
          <p:nvPr/>
        </p:nvSpPr>
        <p:spPr>
          <a:xfrm>
            <a:off x="1042200" y="4626720"/>
            <a:ext cx="360" cy="255960"/>
          </a:xfrm>
          <a:prstGeom prst="line">
            <a:avLst/>
          </a:prstGeom>
          <a:ln w="19050">
            <a:solidFill>
              <a:srgbClr val="1b3445"/>
            </a:solidFill>
            <a:roun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387" name="Shape 30"/>
          <p:cNvSpPr/>
          <p:nvPr/>
        </p:nvSpPr>
        <p:spPr>
          <a:xfrm>
            <a:off x="914400" y="4883040"/>
            <a:ext cx="255600" cy="255600"/>
          </a:xfrm>
          <a:prstGeom prst="ellipse">
            <a:avLst/>
          </a:prstGeom>
          <a:solidFill>
            <a:srgbClr val="48d597"/>
          </a:solidFill>
          <a:ln w="12700">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88" name="Text 31"/>
          <p:cNvSpPr/>
          <p:nvPr/>
        </p:nvSpPr>
        <p:spPr>
          <a:xfrm>
            <a:off x="914400" y="4933080"/>
            <a:ext cx="255600" cy="127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5</a:t>
            </a:r>
            <a:endParaRPr b="0" lang="en-US" sz="1600" spc="-1" strike="noStrike">
              <a:solidFill>
                <a:srgbClr val="ffffff"/>
              </a:solidFill>
              <a:latin typeface="Arial"/>
            </a:endParaRPr>
          </a:p>
        </p:txBody>
      </p:sp>
      <p:sp>
        <p:nvSpPr>
          <p:cNvPr id="389" name="Text 32"/>
          <p:cNvSpPr/>
          <p:nvPr/>
        </p:nvSpPr>
        <p:spPr>
          <a:xfrm>
            <a:off x="1371600" y="4883040"/>
            <a:ext cx="96008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f3f8fb"/>
                </a:solidFill>
                <a:latin typeface="Aptos"/>
              </a:rPr>
              <a:t>Mitigate within owner-approved procedure</a:t>
            </a:r>
            <a:endParaRPr b="0" lang="en-US" sz="1600" spc="-1" strike="noStrike">
              <a:solidFill>
                <a:srgbClr val="ffffff"/>
              </a:solidFill>
              <a:latin typeface="Arial"/>
            </a:endParaRPr>
          </a:p>
        </p:txBody>
      </p:sp>
      <p:sp>
        <p:nvSpPr>
          <p:cNvPr id="390" name="Shape 33"/>
          <p:cNvSpPr/>
          <p:nvPr/>
        </p:nvSpPr>
        <p:spPr>
          <a:xfrm>
            <a:off x="1042200" y="5138640"/>
            <a:ext cx="360" cy="256320"/>
          </a:xfrm>
          <a:prstGeom prst="line">
            <a:avLst/>
          </a:prstGeom>
          <a:ln w="19050">
            <a:solidFill>
              <a:srgbClr val="1b3445"/>
            </a:solidFill>
            <a:roun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391" name="Shape 34"/>
          <p:cNvSpPr/>
          <p:nvPr/>
        </p:nvSpPr>
        <p:spPr>
          <a:xfrm>
            <a:off x="914400" y="5394960"/>
            <a:ext cx="255600" cy="255600"/>
          </a:xfrm>
          <a:prstGeom prst="ellipse">
            <a:avLst/>
          </a:prstGeom>
          <a:solidFill>
            <a:srgbClr val="48d597"/>
          </a:solidFill>
          <a:ln w="12700">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92" name="Text 35"/>
          <p:cNvSpPr/>
          <p:nvPr/>
        </p:nvSpPr>
        <p:spPr>
          <a:xfrm>
            <a:off x="914400" y="5445360"/>
            <a:ext cx="255600" cy="127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6</a:t>
            </a:r>
            <a:endParaRPr b="0" lang="en-US" sz="1600" spc="-1" strike="noStrike">
              <a:solidFill>
                <a:srgbClr val="ffffff"/>
              </a:solidFill>
              <a:latin typeface="Arial"/>
            </a:endParaRPr>
          </a:p>
        </p:txBody>
      </p:sp>
      <p:sp>
        <p:nvSpPr>
          <p:cNvPr id="393" name="Text 36"/>
          <p:cNvSpPr/>
          <p:nvPr/>
        </p:nvSpPr>
        <p:spPr>
          <a:xfrm>
            <a:off x="1371600" y="5394960"/>
            <a:ext cx="96008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f3f8fb"/>
                </a:solidFill>
                <a:latin typeface="Aptos"/>
              </a:rPr>
              <a:t>Verify SLI recovery + no retry/backlog wave</a:t>
            </a:r>
            <a:endParaRPr b="0" lang="en-US" sz="1600" spc="-1" strike="noStrike">
              <a:solidFill>
                <a:srgbClr val="ffffff"/>
              </a:solidFill>
              <a:latin typeface="Arial"/>
            </a:endParaRPr>
          </a:p>
        </p:txBody>
      </p:sp>
      <p:sp>
        <p:nvSpPr>
          <p:cNvPr id="394" name="PlaceHolder 1"/>
          <p:cNvSpPr>
            <a:spLocks noGrp="1"/>
          </p:cNvSpPr>
          <p:nvPr>
            <p:ph type="sldNum" idx="14"/>
          </p:nvPr>
        </p:nvSpPr>
        <p:spPr>
          <a:xfrm>
            <a:off x="11777400" y="6473880"/>
            <a:ext cx="414000" cy="299520"/>
          </a:xfrm>
          <a:prstGeom prst="rect">
            <a:avLst/>
          </a:prstGeom>
          <a:noFill/>
          <a:ln w="0">
            <a:noFill/>
          </a:ln>
        </p:spPr>
        <p:txBody>
          <a:bodyPr lIns="88920" rIns="8892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6EF709BB-EE8A-4949-ABAB-DBCCBDF289E8}" type="slidenum">
              <a:rPr b="0" lang="en-US" sz="800" spc="-1" strike="noStrike">
                <a:solidFill>
                  <a:srgbClr val="678296"/>
                </a:solidFill>
                <a:latin typeface="Aptos"/>
                <a:ea typeface="Aptos"/>
              </a:rPr>
              <a:t>12</a:t>
            </a:fld>
            <a:endParaRPr b="0" lang="en-US" sz="8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Text 0"/>
          <p:cNvSpPr/>
          <p:nvPr/>
        </p:nvSpPr>
        <p:spPr>
          <a:xfrm>
            <a:off x="548640" y="347400"/>
            <a:ext cx="110638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3f8fb"/>
                </a:solidFill>
                <a:latin typeface="Aptos Display"/>
                <a:ea typeface="Aptos Display"/>
              </a:rPr>
              <a:t>12 — Deployment profiles &amp; validation gates</a:t>
            </a:r>
            <a:endParaRPr b="0" lang="en-US" sz="2800" spc="-1" strike="noStrike">
              <a:solidFill>
                <a:srgbClr val="ffffff"/>
              </a:solidFill>
              <a:latin typeface="Arial"/>
            </a:endParaRPr>
          </a:p>
        </p:txBody>
      </p:sp>
      <p:sp>
        <p:nvSpPr>
          <p:cNvPr id="396" name="Text 1"/>
          <p:cNvSpPr/>
          <p:nvPr/>
        </p:nvSpPr>
        <p:spPr>
          <a:xfrm>
            <a:off x="567000" y="896040"/>
            <a:ext cx="107895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9ab0be"/>
                </a:solidFill>
                <a:latin typeface="Aptos"/>
              </a:rPr>
              <a:t>Config được render theo environment; generated artifacts không phải source of truth.</a:t>
            </a:r>
            <a:endParaRPr b="0" lang="en-US" sz="1500" spc="-1" strike="noStrike">
              <a:solidFill>
                <a:srgbClr val="ffffff"/>
              </a:solidFill>
              <a:latin typeface="Arial"/>
            </a:endParaRPr>
          </a:p>
        </p:txBody>
      </p:sp>
      <p:sp>
        <p:nvSpPr>
          <p:cNvPr id="397" name="Shape 2"/>
          <p:cNvSpPr/>
          <p:nvPr/>
        </p:nvSpPr>
        <p:spPr>
          <a:xfrm>
            <a:off x="685800" y="1371600"/>
            <a:ext cx="3337200" cy="20113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98" name="Shape 3"/>
          <p:cNvSpPr/>
          <p:nvPr/>
        </p:nvSpPr>
        <p:spPr>
          <a:xfrm>
            <a:off x="685800" y="1371600"/>
            <a:ext cx="50040" cy="2011320"/>
          </a:xfrm>
          <a:prstGeom prst="rect">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99" name="Text 4"/>
          <p:cNvSpPr/>
          <p:nvPr/>
        </p:nvSpPr>
        <p:spPr>
          <a:xfrm>
            <a:off x="887040" y="1536120"/>
            <a:ext cx="29714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Profiles</a:t>
            </a:r>
            <a:endParaRPr b="0" lang="en-US" sz="1600" spc="-1" strike="noStrike">
              <a:solidFill>
                <a:srgbClr val="ffffff"/>
              </a:solidFill>
              <a:latin typeface="Arial"/>
            </a:endParaRPr>
          </a:p>
        </p:txBody>
      </p:sp>
      <p:sp>
        <p:nvSpPr>
          <p:cNvPr id="400" name="Text 5"/>
          <p:cNvSpPr/>
          <p:nvPr/>
        </p:nvSpPr>
        <p:spPr>
          <a:xfrm>
            <a:off x="905400" y="1901880"/>
            <a:ext cx="2916720" cy="1352880"/>
          </a:xfrm>
          <a:prstGeom prst="rect">
            <a:avLst/>
          </a:prstGeom>
          <a:noFill/>
          <a:ln w="0">
            <a:noFill/>
          </a:ln>
        </p:spPr>
        <p:style>
          <a:lnRef idx="0"/>
          <a:fillRef idx="0"/>
          <a:effectRef idx="0"/>
          <a:fontRef idx="minor"/>
        </p:style>
        <p:txBody>
          <a:bodyPr lIns="360" rIns="360" tIns="360" bIns="360" anchor="ctr">
            <a:normAutofit/>
          </a:bodyPr>
          <a:p>
            <a:pPr marL="152280" indent="-152280" defTabSz="914400">
              <a:lnSpc>
                <a:spcPct val="100000"/>
              </a:lnSpc>
              <a:buClr>
                <a:srgbClr val="9ab0be"/>
              </a:buClr>
              <a:buFont typeface="Symbol" charset="2"/>
              <a:buChar char=""/>
            </a:pPr>
            <a:r>
              <a:rPr b="0" lang="en-US" sz="1400" spc="-1" strike="noStrike">
                <a:solidFill>
                  <a:srgbClr val="9ab0be"/>
                </a:solidFill>
                <a:latin typeface="Aptos"/>
              </a:rPr>
              <a:t>local / UAT / production renderer</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Traffic profiles: 20 / 100 / 500 / 2000 TPS</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Peak có thể nén 1 ngày synthetic vào 1 giờ</a:t>
            </a:r>
            <a:endParaRPr b="0" lang="en-US" sz="1400" spc="-1" strike="noStrike">
              <a:solidFill>
                <a:srgbClr val="ffffff"/>
              </a:solidFill>
              <a:latin typeface="Arial"/>
            </a:endParaRPr>
          </a:p>
        </p:txBody>
      </p:sp>
      <p:sp>
        <p:nvSpPr>
          <p:cNvPr id="401" name="Shape 6"/>
          <p:cNvSpPr/>
          <p:nvPr/>
        </p:nvSpPr>
        <p:spPr>
          <a:xfrm>
            <a:off x="4407480" y="1371600"/>
            <a:ext cx="3337200" cy="20113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02" name="Shape 7"/>
          <p:cNvSpPr/>
          <p:nvPr/>
        </p:nvSpPr>
        <p:spPr>
          <a:xfrm>
            <a:off x="4407480" y="1371600"/>
            <a:ext cx="50040" cy="2011320"/>
          </a:xfrm>
          <a:prstGeom prst="rect">
            <a:avLst/>
          </a:prstGeom>
          <a:solidFill>
            <a:srgbClr val="42b4e6"/>
          </a:solidFill>
          <a:ln w="12700">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03" name="Text 8"/>
          <p:cNvSpPr/>
          <p:nvPr/>
        </p:nvSpPr>
        <p:spPr>
          <a:xfrm>
            <a:off x="4608720" y="1536120"/>
            <a:ext cx="29714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Generated stack</a:t>
            </a:r>
            <a:endParaRPr b="0" lang="en-US" sz="1600" spc="-1" strike="noStrike">
              <a:solidFill>
                <a:srgbClr val="ffffff"/>
              </a:solidFill>
              <a:latin typeface="Arial"/>
            </a:endParaRPr>
          </a:p>
        </p:txBody>
      </p:sp>
      <p:sp>
        <p:nvSpPr>
          <p:cNvPr id="404" name="Text 9"/>
          <p:cNvSpPr/>
          <p:nvPr/>
        </p:nvSpPr>
        <p:spPr>
          <a:xfrm>
            <a:off x="4626720" y="1901880"/>
            <a:ext cx="2916720" cy="1352880"/>
          </a:xfrm>
          <a:prstGeom prst="rect">
            <a:avLst/>
          </a:prstGeom>
          <a:noFill/>
          <a:ln w="0">
            <a:noFill/>
          </a:ln>
        </p:spPr>
        <p:style>
          <a:lnRef idx="0"/>
          <a:fillRef idx="0"/>
          <a:effectRef idx="0"/>
          <a:fontRef idx="minor"/>
        </p:style>
        <p:txBody>
          <a:bodyPr lIns="360" rIns="360" tIns="360" bIns="360" anchor="ctr">
            <a:normAutofit/>
          </a:bodyPr>
          <a:p>
            <a:pPr marL="152280" indent="-152280" defTabSz="914400">
              <a:lnSpc>
                <a:spcPct val="100000"/>
              </a:lnSpc>
              <a:buClr>
                <a:srgbClr val="9ab0be"/>
              </a:buClr>
              <a:buFont typeface="Symbol" charset="2"/>
              <a:buChar char=""/>
            </a:pPr>
            <a:r>
              <a:rPr b="0" lang="en-US" sz="1400" spc="-1" strike="noStrike">
                <a:solidFill>
                  <a:srgbClr val="9ab0be"/>
                </a:solidFill>
                <a:latin typeface="Aptos"/>
              </a:rPr>
              <a:t>Docker Compose</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Prometheus config/rules</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Alertmanager config</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Grafana datasource</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resolved environment config</a:t>
            </a:r>
            <a:endParaRPr b="0" lang="en-US" sz="1400" spc="-1" strike="noStrike">
              <a:solidFill>
                <a:srgbClr val="ffffff"/>
              </a:solidFill>
              <a:latin typeface="Arial"/>
            </a:endParaRPr>
          </a:p>
        </p:txBody>
      </p:sp>
      <p:sp>
        <p:nvSpPr>
          <p:cNvPr id="405" name="Shape 10"/>
          <p:cNvSpPr/>
          <p:nvPr/>
        </p:nvSpPr>
        <p:spPr>
          <a:xfrm>
            <a:off x="8129160" y="1371600"/>
            <a:ext cx="3337200" cy="20113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06" name="Shape 11"/>
          <p:cNvSpPr/>
          <p:nvPr/>
        </p:nvSpPr>
        <p:spPr>
          <a:xfrm>
            <a:off x="8129160" y="1371600"/>
            <a:ext cx="50040" cy="2011320"/>
          </a:xfrm>
          <a:prstGeom prst="rect">
            <a:avLst/>
          </a:prstGeom>
          <a:solidFill>
            <a:srgbClr val="f5c451"/>
          </a:solidFill>
          <a:ln w="12700">
            <a:solidFill>
              <a:srgbClr val="f5c45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07" name="Text 12"/>
          <p:cNvSpPr/>
          <p:nvPr/>
        </p:nvSpPr>
        <p:spPr>
          <a:xfrm>
            <a:off x="8330040" y="1536120"/>
            <a:ext cx="29714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Secrets &amp; promotion</a:t>
            </a:r>
            <a:endParaRPr b="0" lang="en-US" sz="1600" spc="-1" strike="noStrike">
              <a:solidFill>
                <a:srgbClr val="ffffff"/>
              </a:solidFill>
              <a:latin typeface="Arial"/>
            </a:endParaRPr>
          </a:p>
        </p:txBody>
      </p:sp>
      <p:sp>
        <p:nvSpPr>
          <p:cNvPr id="408" name="Text 13"/>
          <p:cNvSpPr/>
          <p:nvPr/>
        </p:nvSpPr>
        <p:spPr>
          <a:xfrm>
            <a:off x="8348400" y="1901880"/>
            <a:ext cx="2916720" cy="1352880"/>
          </a:xfrm>
          <a:prstGeom prst="rect">
            <a:avLst/>
          </a:prstGeom>
          <a:noFill/>
          <a:ln w="0">
            <a:noFill/>
          </a:ln>
        </p:spPr>
        <p:style>
          <a:lnRef idx="0"/>
          <a:fillRef idx="0"/>
          <a:effectRef idx="0"/>
          <a:fontRef idx="minor"/>
        </p:style>
        <p:txBody>
          <a:bodyPr lIns="360" rIns="360" tIns="360" bIns="360" anchor="ctr">
            <a:normAutofit/>
          </a:bodyPr>
          <a:p>
            <a:pPr marL="152280" indent="-152280" defTabSz="914400">
              <a:lnSpc>
                <a:spcPct val="100000"/>
              </a:lnSpc>
              <a:buClr>
                <a:srgbClr val="9ab0be"/>
              </a:buClr>
              <a:buFont typeface="Symbol" charset="2"/>
              <a:buChar char=""/>
            </a:pPr>
            <a:r>
              <a:rPr b="0" lang="en-US" sz="1400" spc="-1" strike="noStrike">
                <a:solidFill>
                  <a:srgbClr val="9ab0be"/>
                </a:solidFill>
                <a:latin typeface="Aptos"/>
              </a:rPr>
              <a:t>Secret không nằm trong config JSON</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Production dùng Secret manager / K8s Secret</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Không chỉnh generated/* thủ công</a:t>
            </a:r>
            <a:endParaRPr b="0" lang="en-US" sz="1400" spc="-1" strike="noStrike">
              <a:solidFill>
                <a:srgbClr val="ffffff"/>
              </a:solidFill>
              <a:latin typeface="Arial"/>
            </a:endParaRPr>
          </a:p>
        </p:txBody>
      </p:sp>
      <p:sp>
        <p:nvSpPr>
          <p:cNvPr id="409" name="Shape 14"/>
          <p:cNvSpPr/>
          <p:nvPr/>
        </p:nvSpPr>
        <p:spPr>
          <a:xfrm>
            <a:off x="685800" y="3703320"/>
            <a:ext cx="10789560" cy="16639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10" name="Shape 15"/>
          <p:cNvSpPr/>
          <p:nvPr/>
        </p:nvSpPr>
        <p:spPr>
          <a:xfrm>
            <a:off x="685800" y="3703320"/>
            <a:ext cx="50040" cy="1663920"/>
          </a:xfrm>
          <a:prstGeom prst="rect">
            <a:avLst/>
          </a:prstGeom>
          <a:solidFill>
            <a:srgbClr val="48d597"/>
          </a:solidFill>
          <a:ln w="12700">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11" name="Text 16"/>
          <p:cNvSpPr/>
          <p:nvPr/>
        </p:nvSpPr>
        <p:spPr>
          <a:xfrm>
            <a:off x="887040" y="3867840"/>
            <a:ext cx="1042380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Quality gate</a:t>
            </a:r>
            <a:endParaRPr b="0" lang="en-US" sz="1600" spc="-1" strike="noStrike">
              <a:solidFill>
                <a:srgbClr val="ffffff"/>
              </a:solidFill>
              <a:latin typeface="Arial"/>
            </a:endParaRPr>
          </a:p>
        </p:txBody>
      </p:sp>
      <p:sp>
        <p:nvSpPr>
          <p:cNvPr id="412" name="Text 17"/>
          <p:cNvSpPr/>
          <p:nvPr/>
        </p:nvSpPr>
        <p:spPr>
          <a:xfrm>
            <a:off x="905400" y="4233600"/>
            <a:ext cx="10369080" cy="100548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250" spc="-1" strike="noStrike">
                <a:solidFill>
                  <a:srgbClr val="9ab0be"/>
                </a:solidFill>
                <a:latin typeface="Aptos"/>
              </a:rPr>
              <a:t>Python syntax/tests • dashboard JSON contract • Prometheus config/rules • 6 KPI rule tests • Alertmanager config • Docker Compose • smoke test. Không merge nếu validation fail.</a:t>
            </a:r>
            <a:endParaRPr b="0" lang="en-US" sz="1250" spc="-1" strike="noStrike">
              <a:solidFill>
                <a:srgbClr val="ffffff"/>
              </a:solidFill>
              <a:latin typeface="Arial"/>
            </a:endParaRPr>
          </a:p>
        </p:txBody>
      </p:sp>
      <p:sp>
        <p:nvSpPr>
          <p:cNvPr id="413" name="PlaceHolder 1"/>
          <p:cNvSpPr>
            <a:spLocks noGrp="1"/>
          </p:cNvSpPr>
          <p:nvPr>
            <p:ph type="sldNum" idx="15"/>
          </p:nvPr>
        </p:nvSpPr>
        <p:spPr>
          <a:xfrm>
            <a:off x="11777400" y="6473880"/>
            <a:ext cx="414000" cy="299520"/>
          </a:xfrm>
          <a:prstGeom prst="rect">
            <a:avLst/>
          </a:prstGeom>
          <a:noFill/>
          <a:ln w="0">
            <a:noFill/>
          </a:ln>
        </p:spPr>
        <p:txBody>
          <a:bodyPr lIns="88920" rIns="8892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E04844A4-D6E6-4673-875F-915C1C7D1A1C}" type="slidenum">
              <a:rPr b="0" lang="en-US" sz="800" spc="-1" strike="noStrike">
                <a:solidFill>
                  <a:srgbClr val="678296"/>
                </a:solidFill>
                <a:latin typeface="Aptos"/>
                <a:ea typeface="Aptos"/>
              </a:rPr>
              <a:t>13</a:t>
            </a:fld>
            <a:endParaRPr b="0" lang="en-US" sz="8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Text 0"/>
          <p:cNvSpPr/>
          <p:nvPr/>
        </p:nvSpPr>
        <p:spPr>
          <a:xfrm>
            <a:off x="548640" y="347400"/>
            <a:ext cx="110638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3f8fb"/>
                </a:solidFill>
                <a:latin typeface="Aptos Display"/>
                <a:ea typeface="Aptos Display"/>
              </a:rPr>
              <a:t>13 — Những gì project đã hoàn thành</a:t>
            </a:r>
            <a:endParaRPr b="0" lang="en-US" sz="2800" spc="-1" strike="noStrike">
              <a:solidFill>
                <a:srgbClr val="ffffff"/>
              </a:solidFill>
              <a:latin typeface="Arial"/>
            </a:endParaRPr>
          </a:p>
        </p:txBody>
      </p:sp>
      <p:sp>
        <p:nvSpPr>
          <p:cNvPr id="415" name="Text 1"/>
          <p:cNvSpPr/>
          <p:nvPr/>
        </p:nvSpPr>
        <p:spPr>
          <a:xfrm>
            <a:off x="567000" y="896040"/>
            <a:ext cx="107895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9ab0be"/>
                </a:solidFill>
                <a:latin typeface="Aptos"/>
              </a:rPr>
              <a:t>Các con số dưới đây là artifact version-controlled trong repo — không đồng nghĩa production readiness.</a:t>
            </a:r>
            <a:endParaRPr b="0" lang="en-US" sz="1400" spc="-1" strike="noStrike">
              <a:solidFill>
                <a:srgbClr val="ffffff"/>
              </a:solidFill>
              <a:latin typeface="Arial"/>
            </a:endParaRPr>
          </a:p>
        </p:txBody>
      </p:sp>
      <p:sp>
        <p:nvSpPr>
          <p:cNvPr id="416" name="Shape 2"/>
          <p:cNvSpPr/>
          <p:nvPr/>
        </p:nvSpPr>
        <p:spPr>
          <a:xfrm>
            <a:off x="777240" y="1417320"/>
            <a:ext cx="2377080" cy="132552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17" name="Text 3"/>
          <p:cNvSpPr/>
          <p:nvPr/>
        </p:nvSpPr>
        <p:spPr>
          <a:xfrm>
            <a:off x="941760" y="1581840"/>
            <a:ext cx="204804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pc="-1" strike="noStrike">
                <a:solidFill>
                  <a:srgbClr val="42b4e6"/>
                </a:solidFill>
                <a:latin typeface="Aptos"/>
              </a:rPr>
              <a:t>9</a:t>
            </a:r>
            <a:endParaRPr b="0" lang="en-US" sz="2700" spc="-1" strike="noStrike">
              <a:solidFill>
                <a:srgbClr val="ffffff"/>
              </a:solidFill>
              <a:latin typeface="Arial"/>
            </a:endParaRPr>
          </a:p>
        </p:txBody>
      </p:sp>
      <p:sp>
        <p:nvSpPr>
          <p:cNvPr id="418" name="Text 4"/>
          <p:cNvSpPr/>
          <p:nvPr/>
        </p:nvSpPr>
        <p:spPr>
          <a:xfrm>
            <a:off x="941760" y="2094120"/>
            <a:ext cx="2048040" cy="5572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Grafana dashboards</a:t>
            </a:r>
            <a:endParaRPr b="0" lang="en-US" sz="1600" spc="-1" strike="noStrike">
              <a:solidFill>
                <a:srgbClr val="ffffff"/>
              </a:solidFill>
              <a:latin typeface="Arial"/>
            </a:endParaRPr>
          </a:p>
        </p:txBody>
      </p:sp>
      <p:sp>
        <p:nvSpPr>
          <p:cNvPr id="419" name="Shape 5"/>
          <p:cNvSpPr/>
          <p:nvPr/>
        </p:nvSpPr>
        <p:spPr>
          <a:xfrm>
            <a:off x="3337560" y="1417320"/>
            <a:ext cx="2377080" cy="132552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20" name="Text 6"/>
          <p:cNvSpPr/>
          <p:nvPr/>
        </p:nvSpPr>
        <p:spPr>
          <a:xfrm>
            <a:off x="3502080" y="1581840"/>
            <a:ext cx="204804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pc="-1" strike="noStrike">
                <a:solidFill>
                  <a:srgbClr val="19c3b1"/>
                </a:solidFill>
                <a:latin typeface="Aptos"/>
              </a:rPr>
              <a:t>83</a:t>
            </a:r>
            <a:endParaRPr b="0" lang="en-US" sz="2700" spc="-1" strike="noStrike">
              <a:solidFill>
                <a:srgbClr val="ffffff"/>
              </a:solidFill>
              <a:latin typeface="Arial"/>
            </a:endParaRPr>
          </a:p>
        </p:txBody>
      </p:sp>
      <p:sp>
        <p:nvSpPr>
          <p:cNvPr id="421" name="Text 7"/>
          <p:cNvSpPr/>
          <p:nvPr/>
        </p:nvSpPr>
        <p:spPr>
          <a:xfrm>
            <a:off x="3502080" y="2094120"/>
            <a:ext cx="2048040" cy="5572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dashboard panels</a:t>
            </a:r>
            <a:endParaRPr b="0" lang="en-US" sz="1600" spc="-1" strike="noStrike">
              <a:solidFill>
                <a:srgbClr val="ffffff"/>
              </a:solidFill>
              <a:latin typeface="Arial"/>
            </a:endParaRPr>
          </a:p>
        </p:txBody>
      </p:sp>
      <p:sp>
        <p:nvSpPr>
          <p:cNvPr id="422" name="Shape 8"/>
          <p:cNvSpPr/>
          <p:nvPr/>
        </p:nvSpPr>
        <p:spPr>
          <a:xfrm>
            <a:off x="5897880" y="1417320"/>
            <a:ext cx="2377080" cy="132552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23" name="Text 9"/>
          <p:cNvSpPr/>
          <p:nvPr/>
        </p:nvSpPr>
        <p:spPr>
          <a:xfrm>
            <a:off x="6062400" y="1581840"/>
            <a:ext cx="204804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pc="-1" strike="noStrike">
                <a:solidFill>
                  <a:srgbClr val="48d597"/>
                </a:solidFill>
                <a:latin typeface="Aptos"/>
              </a:rPr>
              <a:t>62</a:t>
            </a:r>
            <a:endParaRPr b="0" lang="en-US" sz="2700" spc="-1" strike="noStrike">
              <a:solidFill>
                <a:srgbClr val="ffffff"/>
              </a:solidFill>
              <a:latin typeface="Arial"/>
            </a:endParaRPr>
          </a:p>
        </p:txBody>
      </p:sp>
      <p:sp>
        <p:nvSpPr>
          <p:cNvPr id="424" name="Text 10"/>
          <p:cNvSpPr/>
          <p:nvPr/>
        </p:nvSpPr>
        <p:spPr>
          <a:xfrm>
            <a:off x="6062400" y="2094120"/>
            <a:ext cx="2048040" cy="5572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recording rules</a:t>
            </a:r>
            <a:endParaRPr b="0" lang="en-US" sz="1600" spc="-1" strike="noStrike">
              <a:solidFill>
                <a:srgbClr val="ffffff"/>
              </a:solidFill>
              <a:latin typeface="Arial"/>
            </a:endParaRPr>
          </a:p>
        </p:txBody>
      </p:sp>
      <p:sp>
        <p:nvSpPr>
          <p:cNvPr id="425" name="Shape 11"/>
          <p:cNvSpPr/>
          <p:nvPr/>
        </p:nvSpPr>
        <p:spPr>
          <a:xfrm>
            <a:off x="8458200" y="1417320"/>
            <a:ext cx="2377080" cy="132552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26" name="Text 12"/>
          <p:cNvSpPr/>
          <p:nvPr/>
        </p:nvSpPr>
        <p:spPr>
          <a:xfrm>
            <a:off x="8622720" y="1581840"/>
            <a:ext cx="204804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pc="-1" strike="noStrike">
                <a:solidFill>
                  <a:srgbClr val="f5c451"/>
                </a:solidFill>
                <a:latin typeface="Aptos"/>
              </a:rPr>
              <a:t>17</a:t>
            </a:r>
            <a:endParaRPr b="0" lang="en-US" sz="2700" spc="-1" strike="noStrike">
              <a:solidFill>
                <a:srgbClr val="ffffff"/>
              </a:solidFill>
              <a:latin typeface="Arial"/>
            </a:endParaRPr>
          </a:p>
        </p:txBody>
      </p:sp>
      <p:sp>
        <p:nvSpPr>
          <p:cNvPr id="427" name="Text 13"/>
          <p:cNvSpPr/>
          <p:nvPr/>
        </p:nvSpPr>
        <p:spPr>
          <a:xfrm>
            <a:off x="8622720" y="2094120"/>
            <a:ext cx="2048040" cy="5572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alert rules</a:t>
            </a:r>
            <a:endParaRPr b="0" lang="en-US" sz="1600" spc="-1" strike="noStrike">
              <a:solidFill>
                <a:srgbClr val="ffffff"/>
              </a:solidFill>
              <a:latin typeface="Arial"/>
            </a:endParaRPr>
          </a:p>
        </p:txBody>
      </p:sp>
      <p:sp>
        <p:nvSpPr>
          <p:cNvPr id="428" name="Shape 14"/>
          <p:cNvSpPr/>
          <p:nvPr/>
        </p:nvSpPr>
        <p:spPr>
          <a:xfrm>
            <a:off x="777240" y="3127320"/>
            <a:ext cx="3245760" cy="20113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29" name="Shape 15"/>
          <p:cNvSpPr/>
          <p:nvPr/>
        </p:nvSpPr>
        <p:spPr>
          <a:xfrm>
            <a:off x="777240" y="3127320"/>
            <a:ext cx="50040" cy="2011320"/>
          </a:xfrm>
          <a:prstGeom prst="rect">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30" name="Text 16"/>
          <p:cNvSpPr/>
          <p:nvPr/>
        </p:nvSpPr>
        <p:spPr>
          <a:xfrm>
            <a:off x="978480" y="3291840"/>
            <a:ext cx="288000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Synthetic simulator</a:t>
            </a:r>
            <a:endParaRPr b="0" lang="en-US" sz="1600" spc="-1" strike="noStrike">
              <a:solidFill>
                <a:srgbClr val="ffffff"/>
              </a:solidFill>
              <a:latin typeface="Arial"/>
            </a:endParaRPr>
          </a:p>
        </p:txBody>
      </p:sp>
      <p:sp>
        <p:nvSpPr>
          <p:cNvPr id="431" name="Text 17"/>
          <p:cNvSpPr/>
          <p:nvPr/>
        </p:nvSpPr>
        <p:spPr>
          <a:xfrm>
            <a:off x="996840" y="3657600"/>
            <a:ext cx="2825280" cy="135288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400" spc="-1" strike="noStrike">
                <a:solidFill>
                  <a:srgbClr val="9ab0be"/>
                </a:solidFill>
                <a:latin typeface="Aptos"/>
              </a:rPr>
              <a:t>AuthN • OTP • token • AuthZ • HTTP • dependencies • sampled OTP traces</a:t>
            </a:r>
            <a:endParaRPr b="0" lang="en-US" sz="1400" spc="-1" strike="noStrike">
              <a:solidFill>
                <a:srgbClr val="ffffff"/>
              </a:solidFill>
              <a:latin typeface="Arial"/>
            </a:endParaRPr>
          </a:p>
        </p:txBody>
      </p:sp>
      <p:sp>
        <p:nvSpPr>
          <p:cNvPr id="432" name="Shape 18"/>
          <p:cNvSpPr/>
          <p:nvPr/>
        </p:nvSpPr>
        <p:spPr>
          <a:xfrm>
            <a:off x="4407480" y="3127320"/>
            <a:ext cx="3245760" cy="20113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33" name="Shape 19"/>
          <p:cNvSpPr/>
          <p:nvPr/>
        </p:nvSpPr>
        <p:spPr>
          <a:xfrm>
            <a:off x="4407480" y="3127320"/>
            <a:ext cx="50040" cy="2011320"/>
          </a:xfrm>
          <a:prstGeom prst="rect">
            <a:avLst/>
          </a:prstGeom>
          <a:solidFill>
            <a:srgbClr val="42b4e6"/>
          </a:solidFill>
          <a:ln w="12700">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34" name="Text 20"/>
          <p:cNvSpPr/>
          <p:nvPr/>
        </p:nvSpPr>
        <p:spPr>
          <a:xfrm>
            <a:off x="4608720" y="3291840"/>
            <a:ext cx="288000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Observability stack</a:t>
            </a:r>
            <a:endParaRPr b="0" lang="en-US" sz="1600" spc="-1" strike="noStrike">
              <a:solidFill>
                <a:srgbClr val="ffffff"/>
              </a:solidFill>
              <a:latin typeface="Arial"/>
            </a:endParaRPr>
          </a:p>
        </p:txBody>
      </p:sp>
      <p:sp>
        <p:nvSpPr>
          <p:cNvPr id="435" name="Text 21"/>
          <p:cNvSpPr/>
          <p:nvPr/>
        </p:nvSpPr>
        <p:spPr>
          <a:xfrm>
            <a:off x="4626720" y="3657600"/>
            <a:ext cx="2825280" cy="135288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400" spc="-1" strike="noStrike">
                <a:solidFill>
                  <a:srgbClr val="9ab0be"/>
                </a:solidFill>
                <a:latin typeface="Aptos"/>
              </a:rPr>
              <a:t>Prometheus • Grafana • Alertmanager • OpenTelemetry Collector • Tempo</a:t>
            </a:r>
            <a:endParaRPr b="0" lang="en-US" sz="1400" spc="-1" strike="noStrike">
              <a:solidFill>
                <a:srgbClr val="ffffff"/>
              </a:solidFill>
              <a:latin typeface="Arial"/>
            </a:endParaRPr>
          </a:p>
        </p:txBody>
      </p:sp>
      <p:sp>
        <p:nvSpPr>
          <p:cNvPr id="436" name="Shape 22"/>
          <p:cNvSpPr/>
          <p:nvPr/>
        </p:nvSpPr>
        <p:spPr>
          <a:xfrm>
            <a:off x="8037720" y="3127320"/>
            <a:ext cx="3245760" cy="20113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37" name="Shape 23"/>
          <p:cNvSpPr/>
          <p:nvPr/>
        </p:nvSpPr>
        <p:spPr>
          <a:xfrm>
            <a:off x="8037720" y="3127320"/>
            <a:ext cx="50040" cy="2011320"/>
          </a:xfrm>
          <a:prstGeom prst="rect">
            <a:avLst/>
          </a:prstGeom>
          <a:solidFill>
            <a:srgbClr val="48d597"/>
          </a:solidFill>
          <a:ln w="12700">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38" name="Text 24"/>
          <p:cNvSpPr/>
          <p:nvPr/>
        </p:nvSpPr>
        <p:spPr>
          <a:xfrm>
            <a:off x="8238600" y="3291840"/>
            <a:ext cx="288000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Operational artifacts</a:t>
            </a:r>
            <a:endParaRPr b="0" lang="en-US" sz="1600" spc="-1" strike="noStrike">
              <a:solidFill>
                <a:srgbClr val="ffffff"/>
              </a:solidFill>
              <a:latin typeface="Arial"/>
            </a:endParaRPr>
          </a:p>
        </p:txBody>
      </p:sp>
      <p:sp>
        <p:nvSpPr>
          <p:cNvPr id="439" name="Text 25"/>
          <p:cNvSpPr/>
          <p:nvPr/>
        </p:nvSpPr>
        <p:spPr>
          <a:xfrm>
            <a:off x="8256960" y="3657600"/>
            <a:ext cx="2825280" cy="135288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400" spc="-1" strike="noStrike">
                <a:solidFill>
                  <a:srgbClr val="9ab0be"/>
                </a:solidFill>
                <a:latin typeface="Aptos"/>
              </a:rPr>
              <a:t>KPI contract • runbook • environment renderer • rule tests • smoke scripts</a:t>
            </a:r>
            <a:endParaRPr b="0" lang="en-US" sz="1400" spc="-1" strike="noStrike">
              <a:solidFill>
                <a:srgbClr val="ffffff"/>
              </a:solidFill>
              <a:latin typeface="Arial"/>
            </a:endParaRPr>
          </a:p>
        </p:txBody>
      </p:sp>
      <p:sp>
        <p:nvSpPr>
          <p:cNvPr id="440" name="Text 26"/>
          <p:cNvSpPr/>
          <p:nvPr/>
        </p:nvSpPr>
        <p:spPr>
          <a:xfrm>
            <a:off x="914400" y="5650920"/>
            <a:ext cx="10332360" cy="456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400" spc="-1" strike="noStrike">
                <a:solidFill>
                  <a:srgbClr val="9ab0be"/>
                </a:solidFill>
                <a:latin typeface="Aptos"/>
              </a:rPr>
              <a:t>Repo hiện là một baseline local/UAT theo hướng production — đủ để review contract, demo failure scenarios và chuẩn bị instrumentation thật.</a:t>
            </a:r>
            <a:endParaRPr b="0" lang="en-US" sz="1400" spc="-1" strike="noStrike">
              <a:solidFill>
                <a:srgbClr val="ffffff"/>
              </a:solidFill>
              <a:latin typeface="Arial"/>
            </a:endParaRPr>
          </a:p>
        </p:txBody>
      </p:sp>
      <p:sp>
        <p:nvSpPr>
          <p:cNvPr id="441" name="PlaceHolder 1"/>
          <p:cNvSpPr>
            <a:spLocks noGrp="1"/>
          </p:cNvSpPr>
          <p:nvPr>
            <p:ph type="sldNum" idx="16"/>
          </p:nvPr>
        </p:nvSpPr>
        <p:spPr>
          <a:xfrm>
            <a:off x="11777400" y="6473880"/>
            <a:ext cx="414000" cy="299520"/>
          </a:xfrm>
          <a:prstGeom prst="rect">
            <a:avLst/>
          </a:prstGeom>
          <a:noFill/>
          <a:ln w="0">
            <a:noFill/>
          </a:ln>
        </p:spPr>
        <p:txBody>
          <a:bodyPr lIns="88920" rIns="8892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87DD4412-0E49-471C-985E-3E16EB13893B}" type="slidenum">
              <a:rPr b="0" lang="en-US" sz="800" spc="-1" strike="noStrike">
                <a:solidFill>
                  <a:srgbClr val="678296"/>
                </a:solidFill>
                <a:latin typeface="Aptos"/>
                <a:ea typeface="Aptos"/>
              </a:rPr>
              <a:t>14</a:t>
            </a:fld>
            <a:endParaRPr b="0" lang="en-US" sz="8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Text 0"/>
          <p:cNvSpPr/>
          <p:nvPr/>
        </p:nvSpPr>
        <p:spPr>
          <a:xfrm>
            <a:off x="548640" y="347400"/>
            <a:ext cx="110638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3f8fb"/>
                </a:solidFill>
                <a:latin typeface="Aptos Display"/>
                <a:ea typeface="Aptos Display"/>
              </a:rPr>
              <a:t>14 — Roadmap tới UAT / Production</a:t>
            </a:r>
            <a:endParaRPr b="0" lang="en-US" sz="2800" spc="-1" strike="noStrike">
              <a:solidFill>
                <a:srgbClr val="ffffff"/>
              </a:solidFill>
              <a:latin typeface="Arial"/>
            </a:endParaRPr>
          </a:p>
        </p:txBody>
      </p:sp>
      <p:sp>
        <p:nvSpPr>
          <p:cNvPr id="443" name="Text 1"/>
          <p:cNvSpPr/>
          <p:nvPr/>
        </p:nvSpPr>
        <p:spPr>
          <a:xfrm>
            <a:off x="567000" y="896040"/>
            <a:ext cx="107895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9ab0be"/>
                </a:solidFill>
                <a:latin typeface="Aptos"/>
              </a:rPr>
              <a:t>Bước tiếp theo không phải thêm nhiều dashboard hơn, mà là thay synthetic assumptions bằng evidence và ownership thật.</a:t>
            </a:r>
            <a:endParaRPr b="0" lang="en-US" sz="1400" spc="-1" strike="noStrike">
              <a:solidFill>
                <a:srgbClr val="ffffff"/>
              </a:solidFill>
              <a:latin typeface="Arial"/>
            </a:endParaRPr>
          </a:p>
        </p:txBody>
      </p:sp>
      <p:sp>
        <p:nvSpPr>
          <p:cNvPr id="444" name="Shape 2"/>
          <p:cNvSpPr/>
          <p:nvPr/>
        </p:nvSpPr>
        <p:spPr>
          <a:xfrm>
            <a:off x="822960" y="1417320"/>
            <a:ext cx="10515240" cy="65808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45" name="Shape 3"/>
          <p:cNvSpPr/>
          <p:nvPr/>
        </p:nvSpPr>
        <p:spPr>
          <a:xfrm>
            <a:off x="1005840" y="1563480"/>
            <a:ext cx="347040" cy="347040"/>
          </a:xfrm>
          <a:prstGeom prst="ellipse">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46" name="Text 4"/>
          <p:cNvSpPr/>
          <p:nvPr/>
        </p:nvSpPr>
        <p:spPr>
          <a:xfrm>
            <a:off x="1005840" y="1641240"/>
            <a:ext cx="34704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1</a:t>
            </a:r>
            <a:endParaRPr b="0" lang="en-US" sz="1600" spc="-1" strike="noStrike">
              <a:solidFill>
                <a:srgbClr val="ffffff"/>
              </a:solidFill>
              <a:latin typeface="Arial"/>
            </a:endParaRPr>
          </a:p>
        </p:txBody>
      </p:sp>
      <p:sp>
        <p:nvSpPr>
          <p:cNvPr id="447" name="Text 5"/>
          <p:cNvSpPr/>
          <p:nvPr/>
        </p:nvSpPr>
        <p:spPr>
          <a:xfrm>
            <a:off x="1572840" y="1554480"/>
            <a:ext cx="21027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Owner approval</a:t>
            </a:r>
            <a:endParaRPr b="0" lang="en-US" sz="1600" spc="-1" strike="noStrike">
              <a:solidFill>
                <a:srgbClr val="ffffff"/>
              </a:solidFill>
              <a:latin typeface="Arial"/>
            </a:endParaRPr>
          </a:p>
        </p:txBody>
      </p:sp>
      <p:sp>
        <p:nvSpPr>
          <p:cNvPr id="448" name="Text 6"/>
          <p:cNvSpPr/>
          <p:nvPr/>
        </p:nvSpPr>
        <p:spPr>
          <a:xfrm>
            <a:off x="3749040" y="1572840"/>
            <a:ext cx="713196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9ab0be"/>
                </a:solidFill>
                <a:latin typeface="Aptos"/>
              </a:rPr>
              <a:t>KPI boundaries • exclusions • target/window • notification route</a:t>
            </a:r>
            <a:endParaRPr b="0" lang="en-US" sz="1400" spc="-1" strike="noStrike">
              <a:solidFill>
                <a:srgbClr val="ffffff"/>
              </a:solidFill>
              <a:latin typeface="Arial"/>
            </a:endParaRPr>
          </a:p>
        </p:txBody>
      </p:sp>
      <p:sp>
        <p:nvSpPr>
          <p:cNvPr id="449" name="Shape 7"/>
          <p:cNvSpPr/>
          <p:nvPr/>
        </p:nvSpPr>
        <p:spPr>
          <a:xfrm>
            <a:off x="822960" y="2295000"/>
            <a:ext cx="10515240" cy="65808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50" name="Shape 8"/>
          <p:cNvSpPr/>
          <p:nvPr/>
        </p:nvSpPr>
        <p:spPr>
          <a:xfrm>
            <a:off x="1005840" y="2441520"/>
            <a:ext cx="347040" cy="347040"/>
          </a:xfrm>
          <a:prstGeom prst="ellipse">
            <a:avLst/>
          </a:prstGeom>
          <a:solidFill>
            <a:srgbClr val="42b4e6"/>
          </a:solidFill>
          <a:ln w="12700">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51" name="Text 9"/>
          <p:cNvSpPr/>
          <p:nvPr/>
        </p:nvSpPr>
        <p:spPr>
          <a:xfrm>
            <a:off x="1005840" y="2519280"/>
            <a:ext cx="34704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2</a:t>
            </a:r>
            <a:endParaRPr b="0" lang="en-US" sz="1600" spc="-1" strike="noStrike">
              <a:solidFill>
                <a:srgbClr val="ffffff"/>
              </a:solidFill>
              <a:latin typeface="Arial"/>
            </a:endParaRPr>
          </a:p>
        </p:txBody>
      </p:sp>
      <p:sp>
        <p:nvSpPr>
          <p:cNvPr id="452" name="Text 10"/>
          <p:cNvSpPr/>
          <p:nvPr/>
        </p:nvSpPr>
        <p:spPr>
          <a:xfrm>
            <a:off x="1572840" y="2432160"/>
            <a:ext cx="21027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Real instrumentation</a:t>
            </a:r>
            <a:endParaRPr b="0" lang="en-US" sz="1600" spc="-1" strike="noStrike">
              <a:solidFill>
                <a:srgbClr val="ffffff"/>
              </a:solidFill>
              <a:latin typeface="Arial"/>
            </a:endParaRPr>
          </a:p>
        </p:txBody>
      </p:sp>
      <p:sp>
        <p:nvSpPr>
          <p:cNvPr id="453" name="Text 11"/>
          <p:cNvSpPr/>
          <p:nvPr/>
        </p:nvSpPr>
        <p:spPr>
          <a:xfrm>
            <a:off x="3749040" y="2450520"/>
            <a:ext cx="713196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9ab0be"/>
                </a:solidFill>
                <a:latin typeface="Aptos"/>
              </a:rPr>
              <a:t>ServiceMonitor/PodMonitor • OTel middleware • trace propagation</a:t>
            </a:r>
            <a:endParaRPr b="0" lang="en-US" sz="1400" spc="-1" strike="noStrike">
              <a:solidFill>
                <a:srgbClr val="ffffff"/>
              </a:solidFill>
              <a:latin typeface="Arial"/>
            </a:endParaRPr>
          </a:p>
        </p:txBody>
      </p:sp>
      <p:sp>
        <p:nvSpPr>
          <p:cNvPr id="454" name="Shape 12"/>
          <p:cNvSpPr/>
          <p:nvPr/>
        </p:nvSpPr>
        <p:spPr>
          <a:xfrm>
            <a:off x="822960" y="3173040"/>
            <a:ext cx="10515240" cy="65808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55" name="Shape 13"/>
          <p:cNvSpPr/>
          <p:nvPr/>
        </p:nvSpPr>
        <p:spPr>
          <a:xfrm>
            <a:off x="1005840" y="3319200"/>
            <a:ext cx="347040" cy="347040"/>
          </a:xfrm>
          <a:prstGeom prst="ellipse">
            <a:avLst/>
          </a:prstGeom>
          <a:solidFill>
            <a:srgbClr val="f5c451"/>
          </a:solidFill>
          <a:ln w="12700">
            <a:solidFill>
              <a:srgbClr val="f5c45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56" name="Text 14"/>
          <p:cNvSpPr/>
          <p:nvPr/>
        </p:nvSpPr>
        <p:spPr>
          <a:xfrm>
            <a:off x="1005840" y="3396960"/>
            <a:ext cx="34704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3</a:t>
            </a:r>
            <a:endParaRPr b="0" lang="en-US" sz="1600" spc="-1" strike="noStrike">
              <a:solidFill>
                <a:srgbClr val="ffffff"/>
              </a:solidFill>
              <a:latin typeface="Arial"/>
            </a:endParaRPr>
          </a:p>
        </p:txBody>
      </p:sp>
      <p:sp>
        <p:nvSpPr>
          <p:cNvPr id="457" name="Text 15"/>
          <p:cNvSpPr/>
          <p:nvPr/>
        </p:nvSpPr>
        <p:spPr>
          <a:xfrm>
            <a:off x="1572840" y="3310200"/>
            <a:ext cx="21027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Production controls</a:t>
            </a:r>
            <a:endParaRPr b="0" lang="en-US" sz="1600" spc="-1" strike="noStrike">
              <a:solidFill>
                <a:srgbClr val="ffffff"/>
              </a:solidFill>
              <a:latin typeface="Arial"/>
            </a:endParaRPr>
          </a:p>
        </p:txBody>
      </p:sp>
      <p:sp>
        <p:nvSpPr>
          <p:cNvPr id="458" name="Text 16"/>
          <p:cNvSpPr/>
          <p:nvPr/>
        </p:nvSpPr>
        <p:spPr>
          <a:xfrm>
            <a:off x="3749040" y="3328560"/>
            <a:ext cx="713196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9ab0be"/>
                </a:solidFill>
                <a:latin typeface="Aptos"/>
              </a:rPr>
              <a:t>SSO/RBAC/TLS • secret manager • HA • storage • retention</a:t>
            </a:r>
            <a:endParaRPr b="0" lang="en-US" sz="1400" spc="-1" strike="noStrike">
              <a:solidFill>
                <a:srgbClr val="ffffff"/>
              </a:solidFill>
              <a:latin typeface="Arial"/>
            </a:endParaRPr>
          </a:p>
        </p:txBody>
      </p:sp>
      <p:sp>
        <p:nvSpPr>
          <p:cNvPr id="459" name="Shape 17"/>
          <p:cNvSpPr/>
          <p:nvPr/>
        </p:nvSpPr>
        <p:spPr>
          <a:xfrm>
            <a:off x="822960" y="4050720"/>
            <a:ext cx="10515240" cy="65808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60" name="Shape 18"/>
          <p:cNvSpPr/>
          <p:nvPr/>
        </p:nvSpPr>
        <p:spPr>
          <a:xfrm>
            <a:off x="1005840" y="4197240"/>
            <a:ext cx="347040" cy="347040"/>
          </a:xfrm>
          <a:prstGeom prst="ellipse">
            <a:avLst/>
          </a:prstGeom>
          <a:solidFill>
            <a:srgbClr val="48d597"/>
          </a:solidFill>
          <a:ln w="12700">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61" name="Text 19"/>
          <p:cNvSpPr/>
          <p:nvPr/>
        </p:nvSpPr>
        <p:spPr>
          <a:xfrm>
            <a:off x="1005840" y="4275000"/>
            <a:ext cx="34704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4</a:t>
            </a:r>
            <a:endParaRPr b="0" lang="en-US" sz="1600" spc="-1" strike="noStrike">
              <a:solidFill>
                <a:srgbClr val="ffffff"/>
              </a:solidFill>
              <a:latin typeface="Arial"/>
            </a:endParaRPr>
          </a:p>
        </p:txBody>
      </p:sp>
      <p:sp>
        <p:nvSpPr>
          <p:cNvPr id="462" name="Text 20"/>
          <p:cNvSpPr/>
          <p:nvPr/>
        </p:nvSpPr>
        <p:spPr>
          <a:xfrm>
            <a:off x="1572840" y="4187880"/>
            <a:ext cx="21027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UAT evidence</a:t>
            </a:r>
            <a:endParaRPr b="0" lang="en-US" sz="1600" spc="-1" strike="noStrike">
              <a:solidFill>
                <a:srgbClr val="ffffff"/>
              </a:solidFill>
              <a:latin typeface="Arial"/>
            </a:endParaRPr>
          </a:p>
        </p:txBody>
      </p:sp>
      <p:sp>
        <p:nvSpPr>
          <p:cNvPr id="463" name="Text 21"/>
          <p:cNvSpPr/>
          <p:nvPr/>
        </p:nvSpPr>
        <p:spPr>
          <a:xfrm>
            <a:off x="3749040" y="4206240"/>
            <a:ext cx="713196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9ab0be"/>
                </a:solidFill>
                <a:latin typeface="Aptos"/>
              </a:rPr>
              <a:t>normal/degradation/no-data/low-traffic tests • threshold tuning</a:t>
            </a:r>
            <a:endParaRPr b="0" lang="en-US" sz="1400" spc="-1" strike="noStrike">
              <a:solidFill>
                <a:srgbClr val="ffffff"/>
              </a:solidFill>
              <a:latin typeface="Arial"/>
            </a:endParaRPr>
          </a:p>
        </p:txBody>
      </p:sp>
      <p:sp>
        <p:nvSpPr>
          <p:cNvPr id="464" name="Shape 22"/>
          <p:cNvSpPr/>
          <p:nvPr/>
        </p:nvSpPr>
        <p:spPr>
          <a:xfrm>
            <a:off x="822960" y="4928760"/>
            <a:ext cx="10515240" cy="65808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65" name="Shape 23"/>
          <p:cNvSpPr/>
          <p:nvPr/>
        </p:nvSpPr>
        <p:spPr>
          <a:xfrm>
            <a:off x="1005840" y="5074920"/>
            <a:ext cx="347040" cy="347040"/>
          </a:xfrm>
          <a:prstGeom prst="ellipse">
            <a:avLst/>
          </a:prstGeom>
          <a:solidFill>
            <a:srgbClr val="ff6b6b"/>
          </a:solidFill>
          <a:ln w="12700">
            <a:solidFill>
              <a:srgbClr val="ff6b6b"/>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66" name="Text 24"/>
          <p:cNvSpPr/>
          <p:nvPr/>
        </p:nvSpPr>
        <p:spPr>
          <a:xfrm>
            <a:off x="1005840" y="5152680"/>
            <a:ext cx="34704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5</a:t>
            </a:r>
            <a:endParaRPr b="0" lang="en-US" sz="1600" spc="-1" strike="noStrike">
              <a:solidFill>
                <a:srgbClr val="ffffff"/>
              </a:solidFill>
              <a:latin typeface="Arial"/>
            </a:endParaRPr>
          </a:p>
        </p:txBody>
      </p:sp>
      <p:sp>
        <p:nvSpPr>
          <p:cNvPr id="467" name="Text 25"/>
          <p:cNvSpPr/>
          <p:nvPr/>
        </p:nvSpPr>
        <p:spPr>
          <a:xfrm>
            <a:off x="1572840" y="5065920"/>
            <a:ext cx="21027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Promote / rollback</a:t>
            </a:r>
            <a:endParaRPr b="0" lang="en-US" sz="1600" spc="-1" strike="noStrike">
              <a:solidFill>
                <a:srgbClr val="ffffff"/>
              </a:solidFill>
              <a:latin typeface="Arial"/>
            </a:endParaRPr>
          </a:p>
        </p:txBody>
      </p:sp>
      <p:sp>
        <p:nvSpPr>
          <p:cNvPr id="468" name="Text 26"/>
          <p:cNvSpPr/>
          <p:nvPr/>
        </p:nvSpPr>
        <p:spPr>
          <a:xfrm>
            <a:off x="3749040" y="5083920"/>
            <a:ext cx="713196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review evidence • controlled rollout • rollback plan</a:t>
            </a:r>
            <a:endParaRPr b="0" lang="en-US" sz="1600" spc="-1" strike="noStrike">
              <a:solidFill>
                <a:srgbClr val="ffffff"/>
              </a:solidFill>
              <a:latin typeface="Arial"/>
            </a:endParaRPr>
          </a:p>
        </p:txBody>
      </p:sp>
      <p:sp>
        <p:nvSpPr>
          <p:cNvPr id="469" name="Text 27"/>
          <p:cNvSpPr/>
          <p:nvPr/>
        </p:nvSpPr>
        <p:spPr>
          <a:xfrm>
            <a:off x="457200" y="5943600"/>
            <a:ext cx="155412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19c3b1"/>
                </a:solidFill>
                <a:latin typeface="Aptos"/>
              </a:rPr>
              <a:t>Key takeaway</a:t>
            </a:r>
            <a:endParaRPr b="0" lang="en-US" sz="1600" spc="-1" strike="noStrike">
              <a:solidFill>
                <a:srgbClr val="ffffff"/>
              </a:solidFill>
              <a:latin typeface="Arial"/>
            </a:endParaRPr>
          </a:p>
        </p:txBody>
      </p:sp>
      <p:sp>
        <p:nvSpPr>
          <p:cNvPr id="470" name="Text 28"/>
          <p:cNvSpPr/>
          <p:nvPr/>
        </p:nvSpPr>
        <p:spPr>
          <a:xfrm>
            <a:off x="2240280" y="5852160"/>
            <a:ext cx="8823600" cy="5025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f3f8fb"/>
                </a:solidFill>
                <a:latin typeface="Aptos"/>
              </a:rPr>
              <a:t>Project đã xây được observability contract có thể demo và review; giá trị lớn nhất là biến “hệ thống có vấn đề” thành “flow nào, KPI nào, stage nào, owner nào”.</a:t>
            </a:r>
            <a:endParaRPr b="0" lang="en-US" sz="1400" spc="-1" strike="noStrike">
              <a:solidFill>
                <a:srgbClr val="ffffff"/>
              </a:solidFill>
              <a:latin typeface="Arial"/>
            </a:endParaRPr>
          </a:p>
        </p:txBody>
      </p:sp>
      <p:sp>
        <p:nvSpPr>
          <p:cNvPr id="471" name="PlaceHolder 1"/>
          <p:cNvSpPr>
            <a:spLocks noGrp="1"/>
          </p:cNvSpPr>
          <p:nvPr>
            <p:ph type="sldNum" idx="17"/>
          </p:nvPr>
        </p:nvSpPr>
        <p:spPr>
          <a:xfrm>
            <a:off x="11777400" y="6473880"/>
            <a:ext cx="414000" cy="299520"/>
          </a:xfrm>
          <a:prstGeom prst="rect">
            <a:avLst/>
          </a:prstGeom>
          <a:noFill/>
          <a:ln w="0">
            <a:noFill/>
          </a:ln>
        </p:spPr>
        <p:txBody>
          <a:bodyPr lIns="88920" rIns="8892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BEB98F8A-62E1-4BA0-9A79-0801DC802383}" type="slidenum">
              <a:rPr b="0" lang="en-US" sz="800" spc="-1" strike="noStrike">
                <a:solidFill>
                  <a:srgbClr val="678296"/>
                </a:solidFill>
                <a:latin typeface="Aptos"/>
                <a:ea typeface="Aptos"/>
              </a:rPr>
              <a:t>15</a:t>
            </a:fld>
            <a:endParaRPr b="0" lang="en-US" sz="8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LibreOffice/24.2.7.2$Linux_X86_64 LibreOffice_project/420$Build-2</Application>
  <AppVersion>15.0000</AppVersion>
  <Words>0</Words>
  <Paragraphs>0</Paragraphs>
  <Company>OpenAI</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2026-08-20T23:21:23Z</dcterms:created>
  <dc:creator>OpenAI</dc:creator>
  <dc:description/>
  <dc:language>en-US</dc:language>
  <cp:lastModifiedBy/>
  <dcterms:modified xsi:type="dcterms:W3CDTF">2026-08-21T06:50:45Z</dcterms:modified>
  <cp:revision>2</cp:revision>
  <dc:subject>V-ID Grafana Monitoring System</dc:subject>
  <dc:title>V-ID Grafana Monitoring System — Observability Lab</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15</vt:i4>
  </property>
  <property fmtid="{D5CDD505-2E9C-101B-9397-08002B2CF9AE}" pid="3" name="PresentationFormat">
    <vt:lpwstr>On-screen Show (16:9)</vt:lpwstr>
  </property>
  <property fmtid="{D5CDD505-2E9C-101B-9397-08002B2CF9AE}" pid="4" name="Slides">
    <vt:i4>15</vt:i4>
  </property>
</Properties>
</file>